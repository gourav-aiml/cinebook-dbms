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9" r:id="rId1"/>
  </p:sldMasterIdLst>
  <p:notesMasterIdLst>
    <p:notesMasterId r:id="rId15"/>
  </p:notesMasterIdLst>
  <p:sldIdLst>
    <p:sldId id="256" r:id="rId2"/>
    <p:sldId id="268" r:id="rId3"/>
    <p:sldId id="257" r:id="rId4"/>
    <p:sldId id="258" r:id="rId5"/>
    <p:sldId id="259" r:id="rId6"/>
    <p:sldId id="260" r:id="rId7"/>
    <p:sldId id="261" r:id="rId8"/>
    <p:sldId id="262" r:id="rId9"/>
    <p:sldId id="263" r:id="rId10"/>
    <p:sldId id="264" r:id="rId11"/>
    <p:sldId id="265" r:id="rId12"/>
    <p:sldId id="266" r:id="rId13"/>
    <p:sldId id="267" r:id="rId14"/>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9" d="100"/>
          <a:sy n="89" d="100"/>
        </p:scale>
        <p:origin x="437"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ourav Saha" userId="f37f63bbb4ce0d08" providerId="LiveId" clId="{3065B4BA-246C-4E6F-8DDD-0818D31CF784}"/>
    <pc:docChg chg="modSld">
      <pc:chgData name="Gourav Saha" userId="f37f63bbb4ce0d08" providerId="LiveId" clId="{3065B4BA-246C-4E6F-8DDD-0818D31CF784}" dt="2026-10-07T08:50:33.129" v="1" actId="1037"/>
      <pc:docMkLst>
        <pc:docMk/>
      </pc:docMkLst>
      <pc:sldChg chg="modSp mod">
        <pc:chgData name="Gourav Saha" userId="f37f63bbb4ce0d08" providerId="LiveId" clId="{3065B4BA-246C-4E6F-8DDD-0818D31CF784}" dt="2026-10-07T08:50:33.129" v="1" actId="1037"/>
        <pc:sldMkLst>
          <pc:docMk/>
          <pc:sldMk cId="1757717136" sldId="268"/>
        </pc:sldMkLst>
        <pc:spChg chg="mod">
          <ac:chgData name="Gourav Saha" userId="f37f63bbb4ce0d08" providerId="LiveId" clId="{3065B4BA-246C-4E6F-8DDD-0818D31CF784}" dt="2026-10-07T08:50:33.129" v="1" actId="1037"/>
          <ac:spMkLst>
            <pc:docMk/>
            <pc:sldMk cId="1757717136" sldId="268"/>
            <ac:spMk id="2" creationId="{644C8259-9463-C84A-12BF-782DDDA80F7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75475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Our project is CineBook, a movie ticket booking system. It is a DBMS project, so our focus is the database design.
The main problem in any booking system is this: two people can try to book the same seat at almost the same time. If the database is not designed properly, both of them can get the same seat.
Our solution is a MySQL-based system that uses keys, constraints, transactions and seat locking to stop that.
Users can register, log in, browse movies, choose a cinema and show, select seats, book, make a simulated payment and see their booking history.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327A4-A05A-ED48-0207-2C1A97AAB7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5BA003-5BB6-C7C2-7D47-0DFEDA5CDC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6AA193-226B-B614-F2D9-EA30120A4385}"/>
              </a:ext>
            </a:extLst>
          </p:cNvPr>
          <p:cNvSpPr>
            <a:spLocks noGrp="1"/>
          </p:cNvSpPr>
          <p:nvPr>
            <p:ph type="body" idx="1"/>
          </p:nvPr>
        </p:nvSpPr>
        <p:spPr/>
        <p:txBody>
          <a:bodyPr/>
          <a:lstStyle/>
          <a:p>
            <a:r>
              <a:rPr lang="en-US" dirty="0"/>
              <a:t>Good morning everyone. Our project is CineBook, a movie ticket booking system. It is a DBMS project, so our focus is the database design.
The main problem in any booking system is this: two people can try to book the same seat at almost the same time. If the database is not designed properly, both of them can get the same seat.
Our solution is a MySQL-based system that uses keys, constraints, transactions and seat locking to stop that.
Users can register, log in, browse movies, choose a cinema and show, select seats, book, make a simulated payment and see their booking history.</a:t>
            </a:r>
          </a:p>
        </p:txBody>
      </p:sp>
      <p:sp>
        <p:nvSpPr>
          <p:cNvPr id="4" name="Slide Number Placeholder 3">
            <a:extLst>
              <a:ext uri="{FF2B5EF4-FFF2-40B4-BE49-F238E27FC236}">
                <a16:creationId xmlns:a16="http://schemas.microsoft.com/office/drawing/2014/main" id="{65619309-FA7D-5644-DC0F-92D660972FC4}"/>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20193956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architecture. The user works in the browser, which is built with HTML, CSS and vanilla JavaScript. The browser talks to our Flask backend written in Python 3. Flask connects to the MySQL 8 database using mysql-connector-python.
Passwords are stored as hashes using Werkzeug. We tested the project with Pytest.
On the right is our project structure. The app folder has the Flask code, templates and static files like CSS, JS and movie posters. The database folder has schema.sql and seed.sql. Docs has the DBMS documentation, and tests has the automated tests.
Payment is simulated because this is an academic DBMS project.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database has 10 main tables. users stores registered users. movies stores movie details. cinemas stores the cinemas, screens belong to a cinema, and seats belong to a screen.
A show connects a movie to a screen at a particular date and time. A booking belongs to one user and one show. booking_seats stores exactly which seats belong to which booking. seat_locks holds seats temporarily, for about 5 minutes, while a user is deciding. payments stores the simulated payment for a booking.
Our app currently shows 8 movies. We updated the movie details instead of deleting and re-inserting them, so the movie IDs and their links to shows and bookings stayed safe.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ER diagram. One cinema has many screens, and one screen has many seats. One movie has many shows, and one screen also has many shows.
One user can make many bookings, and one show can have many bookings. One booking has many booking_seats rows, and one seat can appear in many booking_seats rows for different shows. One show can have many seat locks. One booking can have many payment records.
The blue tables are the ones involved in booking a seat. Now my teammate will explain how these tables are designed properly.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design follows normalization up to 3NF. 1NF means every cell holds one atomic value and there are no repeating groups. 2NF means every non-key column depends on the complete primary key, which matters for tables that link two things together. 3NF means no column depends on another non-key column. A simple way to remember it: the key, the whole key, and nothing but the key.
The best example from our project is booking_seats. A bad design would store 'A1,A2,A3' in one cell. That breaks 1NF because the value is not atomic. So we store one row for each seat, with booking_id, show_id and seat_id. This keeps values atomic and correctly represents the booking-seat relationship.</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primary key uniquely identifies each row. A foreign key links one table to another, so we cannot create a booking for a user or show that does not exist. This is called referential integrity.
UNIQUE makes sure a value is not repeated. In the users table, email is UNIQUE, so it works as an alternate or candidate key. NOT NULL means a value is required. CHECK, DEFAULT and ENUM are used where applicable to keep data valid.
The most important constraint is UNIQUE on show_id and seat_id in booking_seats. It means the same seat can never be booked twice for the same show, even if two requests arrive together.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the database is normalized, information is spread across many tables. A JOIN brings related information back together.
The first query joins movies and shows to get the movie title with its date and start time. The second query joins three tables: shows, screens and cinemas. It gives us the start time, the screen name and the cinema name.
In short, JOIN combines related information that is stored in separate normalized tables.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Indexes help MySQL find rows without scanning the whole table. In our project we have indexes on users email, on shows by movie_id and show_date, on booking_seats by show_id and seat_id, and on seat_locks by show_id and expires_at.
MySQL uses B-tree indexes, which typically reduce the amount of data MySQL has to scan. We are not saying a lookup is instant, only that it reads far fewer rows than a full table scan.
To check this we use EXPLAIN. It shows the query execution plan: how tables are accessed, which indexes are used, and the estimated number of rows.
Now my teammate will explain transactions and our most important feature.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transaction groups several steps into one unit of work. We start with BEGIN, check availability, lock or check the seat, create the booking, add the booking seats, add the payment, and then COMMIT. If anything fails, we ROLLBACK.
Why do we need this? If the booking is created but the payment insert fails, we do not want an incomplete booking left in the database. The rollback removes it.
Now ACID using CineBook. Atomicity: the booking steps all succeed or all roll back. Consistency: constraints and foreign keys keep the database valid. Isolation: concurrent bookings should not interfere incorrectly. Durability: once a booking is committed, it stays stored.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feature of our project. Suppose User A and User B both select seat A1 at almost the same time. We must not book it twice.
We use four things. One: temporary seat locks for about 5 minutes. Two: MySQL transactions. Three: SELECT ... FOR UPDATE, which locks the rows being checked. Four: the UNIQUE constraint on show_id and seat_id.
The flow is: BEGIN, remove or check expired locks, check seat availability, SELECT FOR UPDATE, create the booking, insert booking_seats, create the payment record, remove the seat locks, and COMMIT. If something fails, ROLLBACK.
Row locking makes conflicting operations run one after another. So if User A commits first, User B's transaction sees A1 is already taken. The UNIQUE constraint is the final protection against duplicate booking records.
Important: we use MySQL transactions and row locking with SELECT FOR UPDATE, which demonstrates two-phase locking concepts. We did not implement a custom lock manager.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time. Start Flask and open http://127.0.0.1:5000. Show the homepage and the 8 movies. Log in with gourav@example.com and password123. Select a movie, then cinema, date and show. Open the seat map and select seats. Point out that the seats are now temporarily locked.
Optional: in MySQL run USE cinebook; then SELECT * FROM seat_locks; to show the lock row. Confirm the booking, show the simulated payment and the confirmation page. Open My Bookings. Optionally run SELECT * FROM booking_seats; SELECT * FROM bookings; SELECT * FROM payments; to show the stored rows.
Keep the demo short, around one minute.
Testing: we have Pytest tests covering database functionality, the booking flow and concurrency-related behaviour. Run python -m pytest tests/ -v only if time allows, and read the result from the terminal. Do not quote a test count unless you can see it on screen.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CineBook shows how DBMS concepts can be applied to a real-world movie booking system. We used a normalized relational design, keys and constraints, joins, indexing, transactions, concurrency control, ACID properties and query optimization.
This is an academic project and we do not claim it is production-ready. In future we can add a real payment gateway, stronger production authentication and session security, a background cleanup service, cloud deployment, notifications, a recommendation system and scalable deployment. Thank you. We are happy to take questions.
--- 30-SECOND EMERGENCY CONCLUSION ---
"CineBook is a movie booking system built to show DBMS concepts. We used a normalized design up to 3NF, keys and constraints, joins and indexes. Most importantly, we prevent double booking using seat locks, MySQL transactions, SELECT FOR UPDATE and a UNIQUE constraint on show_id and seat_id, so ACID properties are followed. Thank you."
--- 15 VIVA QUESTIONS ---
1. What is DBMS? Software that stores, manages and retrieves data, e.g. MySQL.
2. What is a primary key? A column that uniquely identifies each row; cannot be NULL.
3. What is a foreign key? A column that refers to the primary key of another table to keep tables linked.
4. What is referential integrity? Rule that a foreign key value must exist in the parent table.
5. Is email a candidate key in users? Yes, it is UNIQUE, so it can identify a user (alternate key).
6. Why did you create booking_seats? One booking can have many seats. Storing 'A1,A2,A3' in one cell breaks 1NF, so we use one row per seat.
7. Explain 1NF, 2NF, 3NF. 1NF: atomic values. 2NF: depends on whole key. 3NF: no transitive dependency.
8. What does UNIQUE(show_id, seat_id) do? Stops the same seat being booked twice for the same show.
9. What is a transaction? A group of SQL steps treated as one unit: all succeed or none.
10. What do COMMIT and ROLLBACK do? COMMIT saves changes permanently; ROLLBACK undoes them.
11. Explain ACID. Atomicity, Consistency, Isolation, Durability, as shown on the ACID slide.
12. What does SELECT ... FOR UPDATE do? Locks the selected rows so other transactions wait until we commit or roll back.
13. Did you build your own lock manager? No. We use MySQL transactions and row locking, which demonstrates two-phase locking concepts.
14. Why use indexes? They reduce the data MySQL must scan, so lookups and joins are faster. B-tree indexes typically reduce scanning; it is not simply O(1).
15. What does EXPLAIN show? The query execution plan: table access, indexes used, estimated rows.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98423B-D728-D0BB-4391-D2F2212A5E25}"/>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37B9F45E-3417-BCA8-0D91-76EFF62D6D7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78D57EF4-34CA-A6F4-DD07-DA9C5DC6C67C}"/>
              </a:ext>
            </a:extLst>
          </p:cNvPr>
          <p:cNvSpPr>
            <a:spLocks noGrp="1"/>
          </p:cNvSpPr>
          <p:nvPr>
            <p:ph type="dt" sz="half" idx="10"/>
          </p:nvPr>
        </p:nvSpPr>
        <p:spPr/>
        <p:txBody>
          <a:bodyPr/>
          <a:lstStyle/>
          <a:p>
            <a:fld id="{4AAD347D-5ACD-4C99-B74B-A9C85AD731AF}" type="datetimeFigureOut">
              <a:rPr lang="en-US" smtClean="0"/>
              <a:t>10/7/2026</a:t>
            </a:fld>
            <a:endParaRPr lang="en-US" dirty="0"/>
          </a:p>
        </p:txBody>
      </p:sp>
      <p:sp>
        <p:nvSpPr>
          <p:cNvPr id="5" name="Footer Placeholder 4">
            <a:extLst>
              <a:ext uri="{FF2B5EF4-FFF2-40B4-BE49-F238E27FC236}">
                <a16:creationId xmlns:a16="http://schemas.microsoft.com/office/drawing/2014/main" id="{9C0BA152-BA08-A2D0-5773-D25E445D3BA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4D9356A-C36C-3EF3-7EF4-A3F6F55A73B6}"/>
              </a:ext>
            </a:extLst>
          </p:cNvPr>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654428843"/>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6C56F-DE2D-ABC5-3C7E-4F1BB5EC8D85}"/>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DD427B3-98A3-3CB6-73E5-43B0F773B1E8}"/>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6B2C15A-D3A7-5924-5E6D-455C2B0076C7}"/>
              </a:ext>
            </a:extLst>
          </p:cNvPr>
          <p:cNvSpPr>
            <a:spLocks noGrp="1"/>
          </p:cNvSpPr>
          <p:nvPr>
            <p:ph type="dt" sz="half" idx="10"/>
          </p:nvPr>
        </p:nvSpPr>
        <p:spPr/>
        <p:txBody>
          <a:bodyPr/>
          <a:lstStyle/>
          <a:p>
            <a:fld id="{4509A250-FF31-4206-8172-F9D3106AACB1}" type="datetimeFigureOut">
              <a:rPr lang="en-US" smtClean="0"/>
              <a:t>10/7/2026</a:t>
            </a:fld>
            <a:endParaRPr lang="en-US" dirty="0"/>
          </a:p>
        </p:txBody>
      </p:sp>
      <p:sp>
        <p:nvSpPr>
          <p:cNvPr id="5" name="Footer Placeholder 4">
            <a:extLst>
              <a:ext uri="{FF2B5EF4-FFF2-40B4-BE49-F238E27FC236}">
                <a16:creationId xmlns:a16="http://schemas.microsoft.com/office/drawing/2014/main" id="{2C1771A2-2BAF-A2FF-5294-BD140B69523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1A2D00F-7D6F-84FB-914F-C98C041CD684}"/>
              </a:ext>
            </a:extLst>
          </p:cNvPr>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305671759"/>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9E5DB0-BB3A-AAC4-7117-C4D39844293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A97A9762-63C8-F548-0C7E-029E1CB036A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994B6B9A-A179-6DFE-B362-6BACDA09F0B4}"/>
              </a:ext>
            </a:extLst>
          </p:cNvPr>
          <p:cNvSpPr>
            <a:spLocks noGrp="1"/>
          </p:cNvSpPr>
          <p:nvPr>
            <p:ph type="dt" sz="half" idx="10"/>
          </p:nvPr>
        </p:nvSpPr>
        <p:spPr/>
        <p:txBody>
          <a:bodyPr/>
          <a:lstStyle/>
          <a:p>
            <a:fld id="{9796027F-7875-4030-9381-8BD8C4F21935}" type="datetimeFigureOut">
              <a:rPr lang="en-US" smtClean="0"/>
              <a:t>10/7/2026</a:t>
            </a:fld>
            <a:endParaRPr lang="en-US" dirty="0"/>
          </a:p>
        </p:txBody>
      </p:sp>
      <p:sp>
        <p:nvSpPr>
          <p:cNvPr id="5" name="Footer Placeholder 4">
            <a:extLst>
              <a:ext uri="{FF2B5EF4-FFF2-40B4-BE49-F238E27FC236}">
                <a16:creationId xmlns:a16="http://schemas.microsoft.com/office/drawing/2014/main" id="{B58AF72D-EF80-7DD9-179A-DC23A512A31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607DA898-6382-B755-558F-AF148AA5E383}"/>
              </a:ext>
            </a:extLst>
          </p:cNvPr>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121405400"/>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056525-BF0B-5DA4-0713-35B6B694990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CC9058B3-8D2E-90EF-036C-B71BDFBBF298}"/>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857423E0-E686-856D-48D8-5F977878AB4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0DFC0F68-0128-D546-26DD-18D3D3F9EDF5}"/>
              </a:ext>
            </a:extLst>
          </p:cNvPr>
          <p:cNvSpPr>
            <a:spLocks noGrp="1"/>
          </p:cNvSpPr>
          <p:nvPr>
            <p:ph type="dt" sz="half" idx="10"/>
          </p:nvPr>
        </p:nvSpPr>
        <p:spPr/>
        <p:txBody>
          <a:bodyPr/>
          <a:lstStyle/>
          <a:p>
            <a:fld id="{9796027F-7875-4030-9381-8BD8C4F21935}" type="datetimeFigureOut">
              <a:rPr lang="en-US" smtClean="0"/>
              <a:t>10/7/2026</a:t>
            </a:fld>
            <a:endParaRPr lang="en-US" dirty="0"/>
          </a:p>
        </p:txBody>
      </p:sp>
      <p:sp>
        <p:nvSpPr>
          <p:cNvPr id="6" name="Footer Placeholder 5">
            <a:extLst>
              <a:ext uri="{FF2B5EF4-FFF2-40B4-BE49-F238E27FC236}">
                <a16:creationId xmlns:a16="http://schemas.microsoft.com/office/drawing/2014/main" id="{EABD5B52-F24E-062B-3299-969784FE6288}"/>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68D5432-685A-8E3D-012E-0A2BC9BD5F88}"/>
              </a:ext>
            </a:extLst>
          </p:cNvPr>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557774196"/>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DB888-8B32-DAEF-A47B-AF1BCEC4423B}"/>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7E24C54-B0EA-4B7C-91C6-2F56B15506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7094ED9B-0641-7839-8CB4-FDC5C4F5E2EC}"/>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60969923-78F7-A849-0744-CA9B46FE3E1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D6F1746B-E805-DB78-D4B4-E5547C179610}"/>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1A2F2C1-B08B-23A6-E895-9E01E513B913}"/>
              </a:ext>
            </a:extLst>
          </p:cNvPr>
          <p:cNvSpPr>
            <a:spLocks noGrp="1"/>
          </p:cNvSpPr>
          <p:nvPr>
            <p:ph type="dt" sz="half" idx="10"/>
          </p:nvPr>
        </p:nvSpPr>
        <p:spPr/>
        <p:txBody>
          <a:bodyPr/>
          <a:lstStyle/>
          <a:p>
            <a:fld id="{9796027F-7875-4030-9381-8BD8C4F21935}" type="datetimeFigureOut">
              <a:rPr lang="en-US" smtClean="0"/>
              <a:t>10/7/2026</a:t>
            </a:fld>
            <a:endParaRPr lang="en-US" dirty="0"/>
          </a:p>
        </p:txBody>
      </p:sp>
      <p:sp>
        <p:nvSpPr>
          <p:cNvPr id="8" name="Footer Placeholder 7">
            <a:extLst>
              <a:ext uri="{FF2B5EF4-FFF2-40B4-BE49-F238E27FC236}">
                <a16:creationId xmlns:a16="http://schemas.microsoft.com/office/drawing/2014/main" id="{5BFE1FE0-09E8-743A-3584-4B33573E2924}"/>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6C2CED53-01E7-5D94-BC84-10DD6783C001}"/>
              </a:ext>
            </a:extLst>
          </p:cNvPr>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956118951"/>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55EA8-ACCC-56D9-3390-140E0202D4F8}"/>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F0F2A7E4-CA5A-403C-D4B6-A61ED13EB4BF}"/>
              </a:ext>
            </a:extLst>
          </p:cNvPr>
          <p:cNvSpPr>
            <a:spLocks noGrp="1"/>
          </p:cNvSpPr>
          <p:nvPr>
            <p:ph type="dt" sz="half" idx="10"/>
          </p:nvPr>
        </p:nvSpPr>
        <p:spPr/>
        <p:txBody>
          <a:bodyPr/>
          <a:lstStyle/>
          <a:p>
            <a:fld id="{4509A250-FF31-4206-8172-F9D3106AACB1}" type="datetimeFigureOut">
              <a:rPr lang="en-US" smtClean="0"/>
              <a:t>10/7/2026</a:t>
            </a:fld>
            <a:endParaRPr lang="en-US" dirty="0"/>
          </a:p>
        </p:txBody>
      </p:sp>
      <p:sp>
        <p:nvSpPr>
          <p:cNvPr id="4" name="Footer Placeholder 3">
            <a:extLst>
              <a:ext uri="{FF2B5EF4-FFF2-40B4-BE49-F238E27FC236}">
                <a16:creationId xmlns:a16="http://schemas.microsoft.com/office/drawing/2014/main" id="{7BD9C183-50B4-91D4-AF37-E9C3496B9C25}"/>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5CBA8C43-21F0-30BF-0611-A53B2F12C8E4}"/>
              </a:ext>
            </a:extLst>
          </p:cNvPr>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785299515"/>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35B1292-3721-38A5-57AD-164971A6FA2B}"/>
              </a:ext>
            </a:extLst>
          </p:cNvPr>
          <p:cNvSpPr>
            <a:spLocks noGrp="1"/>
          </p:cNvSpPr>
          <p:nvPr>
            <p:ph type="dt" sz="half" idx="10"/>
          </p:nvPr>
        </p:nvSpPr>
        <p:spPr/>
        <p:txBody>
          <a:bodyPr/>
          <a:lstStyle/>
          <a:p>
            <a:fld id="{4509A250-FF31-4206-8172-F9D3106AACB1}" type="datetimeFigureOut">
              <a:rPr lang="en-US" smtClean="0"/>
              <a:t>10/7/2026</a:t>
            </a:fld>
            <a:endParaRPr lang="en-US" dirty="0"/>
          </a:p>
        </p:txBody>
      </p:sp>
      <p:sp>
        <p:nvSpPr>
          <p:cNvPr id="3" name="Footer Placeholder 2">
            <a:extLst>
              <a:ext uri="{FF2B5EF4-FFF2-40B4-BE49-F238E27FC236}">
                <a16:creationId xmlns:a16="http://schemas.microsoft.com/office/drawing/2014/main" id="{74CE7D54-D904-9C0A-1610-EF6F6FF44F01}"/>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B4356C2-7C3C-7590-0A97-257C8C89E89E}"/>
              </a:ext>
            </a:extLst>
          </p:cNvPr>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939335200"/>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0EEA9-DD68-A164-C8DE-60BCEDFFB89E}"/>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4BE94950-CBB1-5B7C-382E-41E07B039EB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438E906E-5416-C298-CB01-AD1F338B526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2B71CF6-FF72-7CC0-542B-CFC710FE9244}"/>
              </a:ext>
            </a:extLst>
          </p:cNvPr>
          <p:cNvSpPr>
            <a:spLocks noGrp="1"/>
          </p:cNvSpPr>
          <p:nvPr>
            <p:ph type="dt" sz="half" idx="10"/>
          </p:nvPr>
        </p:nvSpPr>
        <p:spPr/>
        <p:txBody>
          <a:bodyPr/>
          <a:lstStyle/>
          <a:p>
            <a:fld id="{4509A250-FF31-4206-8172-F9D3106AACB1}" type="datetimeFigureOut">
              <a:rPr lang="en-US" smtClean="0"/>
              <a:t>10/7/2026</a:t>
            </a:fld>
            <a:endParaRPr lang="en-US" dirty="0"/>
          </a:p>
        </p:txBody>
      </p:sp>
      <p:sp>
        <p:nvSpPr>
          <p:cNvPr id="6" name="Footer Placeholder 5">
            <a:extLst>
              <a:ext uri="{FF2B5EF4-FFF2-40B4-BE49-F238E27FC236}">
                <a16:creationId xmlns:a16="http://schemas.microsoft.com/office/drawing/2014/main" id="{40895435-97EF-A8AF-5CC9-065CABB10E58}"/>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B377800-CF65-3C08-B9BB-B2D5D31092F4}"/>
              </a:ext>
            </a:extLst>
          </p:cNvPr>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474403613"/>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C5F17-7263-B6F1-2111-83448724D3B5}"/>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AD3A26E4-B97F-8297-F3E5-FBE08182626D}"/>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7DB2D5D-FEDF-7508-D566-A391D56229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FDF6491-0207-A71A-4E37-7290CCCDAD17}"/>
              </a:ext>
            </a:extLst>
          </p:cNvPr>
          <p:cNvSpPr>
            <a:spLocks noGrp="1"/>
          </p:cNvSpPr>
          <p:nvPr>
            <p:ph type="dt" sz="half" idx="10"/>
          </p:nvPr>
        </p:nvSpPr>
        <p:spPr/>
        <p:txBody>
          <a:bodyPr/>
          <a:lstStyle/>
          <a:p>
            <a:fld id="{4509A250-FF31-4206-8172-F9D3106AACB1}" type="datetimeFigureOut">
              <a:rPr lang="en-US" smtClean="0"/>
              <a:t>10/7/2026</a:t>
            </a:fld>
            <a:endParaRPr lang="en-US" dirty="0"/>
          </a:p>
        </p:txBody>
      </p:sp>
      <p:sp>
        <p:nvSpPr>
          <p:cNvPr id="6" name="Footer Placeholder 5">
            <a:extLst>
              <a:ext uri="{FF2B5EF4-FFF2-40B4-BE49-F238E27FC236}">
                <a16:creationId xmlns:a16="http://schemas.microsoft.com/office/drawing/2014/main" id="{0ADF1976-EB45-18C5-8F4B-D62C4D69841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900FCB4-F3C8-2C4E-6547-C54BFE42A6B3}"/>
              </a:ext>
            </a:extLst>
          </p:cNvPr>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52892324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1E614-E659-DDF5-FCE8-768B3D754B40}"/>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DE49B912-1C7A-27A8-5E09-10C6D0763F0B}"/>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A3FE67C-AA74-82F2-FE68-C0E0AE9D2695}"/>
              </a:ext>
            </a:extLst>
          </p:cNvPr>
          <p:cNvSpPr>
            <a:spLocks noGrp="1"/>
          </p:cNvSpPr>
          <p:nvPr>
            <p:ph type="dt" sz="half" idx="10"/>
          </p:nvPr>
        </p:nvSpPr>
        <p:spPr/>
        <p:txBody>
          <a:bodyPr/>
          <a:lstStyle/>
          <a:p>
            <a:fld id="{4509A250-FF31-4206-8172-F9D3106AACB1}" type="datetimeFigureOut">
              <a:rPr lang="en-US" smtClean="0"/>
              <a:t>10/7/2026</a:t>
            </a:fld>
            <a:endParaRPr lang="en-US" dirty="0"/>
          </a:p>
        </p:txBody>
      </p:sp>
      <p:sp>
        <p:nvSpPr>
          <p:cNvPr id="5" name="Footer Placeholder 4">
            <a:extLst>
              <a:ext uri="{FF2B5EF4-FFF2-40B4-BE49-F238E27FC236}">
                <a16:creationId xmlns:a16="http://schemas.microsoft.com/office/drawing/2014/main" id="{49BCFDD1-1E23-8785-45E5-FA892086503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5978136-C179-3D4E-B400-7367C8D7E37C}"/>
              </a:ext>
            </a:extLst>
          </p:cNvPr>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70413946"/>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A0E0DBE-4A5C-6950-9255-2540BB5129B2}"/>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B4AF266A-F332-6118-0E91-3F04DDD4A265}"/>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E00DEEC-F645-AB1C-0A9E-324B2B37FFFC}"/>
              </a:ext>
            </a:extLst>
          </p:cNvPr>
          <p:cNvSpPr>
            <a:spLocks noGrp="1"/>
          </p:cNvSpPr>
          <p:nvPr>
            <p:ph type="dt" sz="half" idx="10"/>
          </p:nvPr>
        </p:nvSpPr>
        <p:spPr/>
        <p:txBody>
          <a:bodyPr/>
          <a:lstStyle/>
          <a:p>
            <a:fld id="{4509A250-FF31-4206-8172-F9D3106AACB1}" type="datetimeFigureOut">
              <a:rPr lang="en-US" smtClean="0"/>
              <a:t>10/7/2026</a:t>
            </a:fld>
            <a:endParaRPr lang="en-US" dirty="0"/>
          </a:p>
        </p:txBody>
      </p:sp>
      <p:sp>
        <p:nvSpPr>
          <p:cNvPr id="5" name="Footer Placeholder 4">
            <a:extLst>
              <a:ext uri="{FF2B5EF4-FFF2-40B4-BE49-F238E27FC236}">
                <a16:creationId xmlns:a16="http://schemas.microsoft.com/office/drawing/2014/main" id="{6AFFBB81-E22A-E6A0-AFCE-DE965E682B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9F60672-A759-4350-A14C-A6DAC9DC9839}"/>
              </a:ext>
            </a:extLst>
          </p:cNvPr>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66651034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462353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2124B28-2F4F-1FBE-E5F4-FF48959F0A6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509D9E0-4870-D5EF-11E4-267DE39A158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221FACA-73C8-3C6A-5A69-41E6F0E1641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AAD347D-5ACD-4C99-B74B-A9C85AD731AF}" type="datetimeFigureOut">
              <a:rPr lang="en-US" smtClean="0"/>
              <a:t>10/7/2026</a:t>
            </a:fld>
            <a:endParaRPr lang="en-US" dirty="0"/>
          </a:p>
        </p:txBody>
      </p:sp>
      <p:sp>
        <p:nvSpPr>
          <p:cNvPr id="5" name="Footer Placeholder 4">
            <a:extLst>
              <a:ext uri="{FF2B5EF4-FFF2-40B4-BE49-F238E27FC236}">
                <a16:creationId xmlns:a16="http://schemas.microsoft.com/office/drawing/2014/main" id="{AB1B426E-8CB5-2E9E-1CB0-60F3E35C236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CDF21072-043B-6C5C-BA81-32F71C4F27F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57F1E4F-1CFF-5643-939E-02111984F565}" type="slidenum">
              <a:rPr lang="en-US" smtClean="0"/>
              <a:t>‹#›</a:t>
            </a:fld>
            <a:endParaRPr lang="en-US" dirty="0"/>
          </a:p>
        </p:txBody>
      </p:sp>
    </p:spTree>
    <p:extLst>
      <p:ext uri="{BB962C8B-B14F-4D97-AF65-F5344CB8AC3E}">
        <p14:creationId xmlns:p14="http://schemas.microsoft.com/office/powerpoint/2010/main" val="24820162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a:effectLst/>
      </p:bgPr>
    </p:bg>
    <p:spTree>
      <p:nvGrpSpPr>
        <p:cNvPr id="1" name=""/>
        <p:cNvGrpSpPr/>
        <p:nvPr/>
      </p:nvGrpSpPr>
      <p:grpSpPr>
        <a:xfrm>
          <a:off x="0" y="0"/>
          <a:ext cx="0" cy="0"/>
          <a:chOff x="0" y="0"/>
          <a:chExt cx="0" cy="0"/>
        </a:xfrm>
      </p:grpSpPr>
      <p:sp>
        <p:nvSpPr>
          <p:cNvPr id="12" name="Title 12"/>
          <p:cNvSpPr txBox="1"/>
          <p:nvPr/>
        </p:nvSpPr>
        <p:spPr>
          <a:xfrm>
            <a:off x="146649" y="1508760"/>
            <a:ext cx="6985671" cy="1325880"/>
          </a:xfrm>
          <a:prstGeom prst="rect">
            <a:avLst/>
          </a:prstGeom>
          <a:noFill/>
        </p:spPr>
        <p:txBody>
          <a:bodyPr wrap="square" lIns="0" tIns="0" rIns="0" bIns="0" rtlCol="0" anchor="ctr"/>
          <a:lstStyle/>
          <a:p>
            <a:pPr marL="0" indent="0" algn="l">
              <a:buNone/>
            </a:pPr>
            <a:r>
              <a:rPr lang="en-US" sz="8800" b="1" i="0" dirty="0">
                <a:solidFill>
                  <a:srgbClr val="FFFFFF"/>
                </a:solidFill>
              </a:rPr>
              <a:t>CineBook</a:t>
            </a:r>
          </a:p>
        </p:txBody>
      </p:sp>
      <p:sp>
        <p:nvSpPr>
          <p:cNvPr id="13" name="Subtitle 13"/>
          <p:cNvSpPr txBox="1"/>
          <p:nvPr/>
        </p:nvSpPr>
        <p:spPr>
          <a:xfrm>
            <a:off x="146649" y="2926080"/>
            <a:ext cx="7496355" cy="548640"/>
          </a:xfrm>
          <a:prstGeom prst="rect">
            <a:avLst/>
          </a:prstGeom>
          <a:noFill/>
        </p:spPr>
        <p:txBody>
          <a:bodyPr wrap="square" lIns="0" tIns="0" rIns="0" bIns="0" rtlCol="0" anchor="ctr"/>
          <a:lstStyle/>
          <a:p>
            <a:pPr marL="0" indent="0" algn="l">
              <a:buNone/>
            </a:pPr>
            <a:r>
              <a:rPr lang="en-US" sz="3000" dirty="0">
                <a:solidFill>
                  <a:srgbClr val="E6EDF7"/>
                </a:solidFill>
              </a:rPr>
              <a:t>Cinema Screening and Ticket Booking System</a:t>
            </a:r>
            <a:endParaRPr lang="en-US" sz="3000" b="0" i="0" dirty="0">
              <a:solidFill>
                <a:srgbClr val="E6EDF7"/>
              </a:solidFill>
            </a:endParaRPr>
          </a:p>
        </p:txBody>
      </p:sp>
      <p:sp>
        <p:nvSpPr>
          <p:cNvPr id="15" name="Team label 15"/>
          <p:cNvSpPr txBox="1"/>
          <p:nvPr/>
        </p:nvSpPr>
        <p:spPr>
          <a:xfrm>
            <a:off x="201168" y="3902207"/>
            <a:ext cx="2743200" cy="274320"/>
          </a:xfrm>
          <a:prstGeom prst="rect">
            <a:avLst/>
          </a:prstGeom>
          <a:noFill/>
        </p:spPr>
        <p:txBody>
          <a:bodyPr wrap="square" lIns="0" tIns="0" rIns="0" bIns="0" rtlCol="0" anchor="t"/>
          <a:lstStyle/>
          <a:p>
            <a:pPr marL="0" indent="0" algn="l">
              <a:buNone/>
            </a:pPr>
            <a:r>
              <a:rPr lang="en-US" sz="1200" b="1" i="0" spc="200" dirty="0">
                <a:solidFill>
                  <a:srgbClr val="AEBBD1"/>
                </a:solidFill>
              </a:rPr>
              <a:t>TEAM</a:t>
            </a:r>
          </a:p>
        </p:txBody>
      </p:sp>
      <p:sp>
        <p:nvSpPr>
          <p:cNvPr id="16" name="Team card 16"/>
          <p:cNvSpPr/>
          <p:nvPr/>
        </p:nvSpPr>
        <p:spPr>
          <a:xfrm>
            <a:off x="420972" y="4262120"/>
            <a:ext cx="2103120" cy="914400"/>
          </a:xfrm>
          <a:prstGeom prst="roundRect">
            <a:avLst>
              <a:gd name="adj" fmla="val 12000"/>
            </a:avLst>
          </a:prstGeom>
          <a:solidFill>
            <a:srgbClr val="14305A"/>
          </a:solidFill>
          <a:ln>
            <a:noFill/>
          </a:ln>
        </p:spPr>
      </p:sp>
      <p:sp>
        <p:nvSpPr>
          <p:cNvPr id="17" name="Team member 17"/>
          <p:cNvSpPr txBox="1"/>
          <p:nvPr/>
        </p:nvSpPr>
        <p:spPr>
          <a:xfrm>
            <a:off x="585564" y="4262120"/>
            <a:ext cx="1865376" cy="914400"/>
          </a:xfrm>
          <a:prstGeom prst="rect">
            <a:avLst/>
          </a:prstGeom>
          <a:noFill/>
        </p:spPr>
        <p:txBody>
          <a:bodyPr wrap="square" lIns="0" tIns="0" rIns="0" bIns="0" rtlCol="0" anchor="ctr"/>
          <a:lstStyle/>
          <a:p>
            <a:pPr marL="0" indent="0" algn="l">
              <a:buNone/>
            </a:pPr>
            <a:r>
              <a:rPr lang="en-US" sz="1500" b="1" i="0" dirty="0">
                <a:solidFill>
                  <a:srgbClr val="FFFFFF"/>
                </a:solidFill>
              </a:rPr>
              <a:t>Gourav Saha</a:t>
            </a:r>
          </a:p>
          <a:p>
            <a:pPr marL="0" indent="0" algn="l">
              <a:buNone/>
            </a:pPr>
            <a:r>
              <a:rPr lang="en-US" sz="1200" b="0" i="0" dirty="0">
                <a:solidFill>
                  <a:srgbClr val="AEBBD1"/>
                </a:solidFill>
              </a:rPr>
              <a:t>25WU0101042</a:t>
            </a:r>
          </a:p>
        </p:txBody>
      </p:sp>
      <p:sp>
        <p:nvSpPr>
          <p:cNvPr id="18" name="Team card 18"/>
          <p:cNvSpPr/>
          <p:nvPr/>
        </p:nvSpPr>
        <p:spPr>
          <a:xfrm>
            <a:off x="2633820" y="4262120"/>
            <a:ext cx="2103120" cy="914400"/>
          </a:xfrm>
          <a:prstGeom prst="roundRect">
            <a:avLst>
              <a:gd name="adj" fmla="val 12000"/>
            </a:avLst>
          </a:prstGeom>
          <a:solidFill>
            <a:srgbClr val="14305A"/>
          </a:solidFill>
          <a:ln>
            <a:noFill/>
          </a:ln>
        </p:spPr>
      </p:sp>
      <p:sp>
        <p:nvSpPr>
          <p:cNvPr id="19" name="Team member 19"/>
          <p:cNvSpPr txBox="1"/>
          <p:nvPr/>
        </p:nvSpPr>
        <p:spPr>
          <a:xfrm>
            <a:off x="2798412" y="4262120"/>
            <a:ext cx="1865376" cy="914400"/>
          </a:xfrm>
          <a:prstGeom prst="rect">
            <a:avLst/>
          </a:prstGeom>
          <a:noFill/>
        </p:spPr>
        <p:txBody>
          <a:bodyPr wrap="square" lIns="0" tIns="0" rIns="0" bIns="0" rtlCol="0" anchor="ctr"/>
          <a:lstStyle/>
          <a:p>
            <a:pPr marL="0" indent="0" algn="l">
              <a:buNone/>
            </a:pPr>
            <a:r>
              <a:rPr lang="en-US" sz="1500" b="1" i="0" dirty="0">
                <a:solidFill>
                  <a:srgbClr val="FFFFFF"/>
                </a:solidFill>
              </a:rPr>
              <a:t>Pranav Yeddula</a:t>
            </a:r>
          </a:p>
          <a:p>
            <a:pPr marL="0" indent="0" algn="l">
              <a:buNone/>
            </a:pPr>
            <a:r>
              <a:rPr lang="en-US" sz="1200" b="0" i="0" dirty="0">
                <a:solidFill>
                  <a:srgbClr val="AEBBD1"/>
                </a:solidFill>
              </a:rPr>
              <a:t>25WU0102311</a:t>
            </a:r>
          </a:p>
        </p:txBody>
      </p:sp>
      <p:sp>
        <p:nvSpPr>
          <p:cNvPr id="20" name="Team card 20"/>
          <p:cNvSpPr/>
          <p:nvPr/>
        </p:nvSpPr>
        <p:spPr>
          <a:xfrm>
            <a:off x="4846668" y="4262120"/>
            <a:ext cx="2103120" cy="914400"/>
          </a:xfrm>
          <a:prstGeom prst="roundRect">
            <a:avLst>
              <a:gd name="adj" fmla="val 12000"/>
            </a:avLst>
          </a:prstGeom>
          <a:solidFill>
            <a:srgbClr val="14305A"/>
          </a:solidFill>
          <a:ln>
            <a:noFill/>
          </a:ln>
        </p:spPr>
      </p:sp>
      <p:sp>
        <p:nvSpPr>
          <p:cNvPr id="21" name="Team member 21"/>
          <p:cNvSpPr txBox="1"/>
          <p:nvPr/>
        </p:nvSpPr>
        <p:spPr>
          <a:xfrm>
            <a:off x="5011260" y="4262120"/>
            <a:ext cx="1865376" cy="914400"/>
          </a:xfrm>
          <a:prstGeom prst="rect">
            <a:avLst/>
          </a:prstGeom>
          <a:noFill/>
        </p:spPr>
        <p:txBody>
          <a:bodyPr wrap="square" lIns="0" tIns="0" rIns="0" bIns="0" rtlCol="0" anchor="ctr"/>
          <a:lstStyle/>
          <a:p>
            <a:pPr marL="0" indent="0" algn="l">
              <a:buNone/>
            </a:pPr>
            <a:r>
              <a:rPr lang="en-US" sz="1500" b="1" i="0" dirty="0">
                <a:solidFill>
                  <a:srgbClr val="FFFFFF"/>
                </a:solidFill>
              </a:rPr>
              <a:t>Yash Raj</a:t>
            </a:r>
          </a:p>
          <a:p>
            <a:pPr marL="0" indent="0" algn="l">
              <a:buNone/>
            </a:pPr>
            <a:r>
              <a:rPr lang="en-US" sz="1200" b="0" i="0" dirty="0">
                <a:solidFill>
                  <a:srgbClr val="AEBBD1"/>
                </a:solidFill>
              </a:rPr>
              <a:t>25WU0102307</a:t>
            </a:r>
          </a:p>
        </p:txBody>
      </p:sp>
      <p:sp>
        <p:nvSpPr>
          <p:cNvPr id="22" name="Screen label 22"/>
          <p:cNvSpPr txBox="1"/>
          <p:nvPr/>
        </p:nvSpPr>
        <p:spPr>
          <a:xfrm>
            <a:off x="7955280" y="1097280"/>
            <a:ext cx="3383280" cy="274320"/>
          </a:xfrm>
          <a:prstGeom prst="rect">
            <a:avLst/>
          </a:prstGeom>
          <a:noFill/>
        </p:spPr>
        <p:txBody>
          <a:bodyPr wrap="square" lIns="0" tIns="0" rIns="0" bIns="0" rtlCol="0" anchor="t"/>
          <a:lstStyle/>
          <a:p>
            <a:pPr marL="0" indent="0" algn="ctr">
              <a:buNone/>
            </a:pPr>
            <a:r>
              <a:rPr lang="en-US" sz="1000" b="1" i="0" spc="300" dirty="0">
                <a:solidFill>
                  <a:srgbClr val="AEBBD1"/>
                </a:solidFill>
              </a:rPr>
              <a:t>SCREEN</a:t>
            </a:r>
          </a:p>
        </p:txBody>
      </p:sp>
      <p:sp>
        <p:nvSpPr>
          <p:cNvPr id="23" name="Screen 23"/>
          <p:cNvSpPr/>
          <p:nvPr/>
        </p:nvSpPr>
        <p:spPr>
          <a:xfrm>
            <a:off x="7818120" y="1417320"/>
            <a:ext cx="3657600" cy="109728"/>
          </a:xfrm>
          <a:prstGeom prst="roundRect">
            <a:avLst>
              <a:gd name="adj" fmla="val 50000"/>
            </a:avLst>
          </a:prstGeom>
          <a:solidFill>
            <a:srgbClr val="93B4F5">
              <a:alpha val="45000"/>
            </a:srgbClr>
          </a:solidFill>
          <a:ln>
            <a:noFill/>
          </a:ln>
        </p:spPr>
      </p:sp>
      <p:sp>
        <p:nvSpPr>
          <p:cNvPr id="24" name="Row 24"/>
          <p:cNvSpPr txBox="1"/>
          <p:nvPr/>
        </p:nvSpPr>
        <p:spPr>
          <a:xfrm>
            <a:off x="7543800" y="2011680"/>
            <a:ext cx="274320" cy="457200"/>
          </a:xfrm>
          <a:prstGeom prst="rect">
            <a:avLst/>
          </a:prstGeom>
          <a:noFill/>
        </p:spPr>
        <p:txBody>
          <a:bodyPr wrap="square" lIns="0" tIns="0" rIns="0" bIns="0" rtlCol="0" anchor="ctr"/>
          <a:lstStyle/>
          <a:p>
            <a:pPr marL="0" indent="0" algn="r">
              <a:buNone/>
            </a:pPr>
            <a:r>
              <a:rPr lang="en-US" sz="1000" b="1" i="0" dirty="0">
                <a:solidFill>
                  <a:srgbClr val="8A97AE"/>
                </a:solidFill>
              </a:rPr>
              <a:t>A</a:t>
            </a:r>
          </a:p>
        </p:txBody>
      </p:sp>
      <p:sp>
        <p:nvSpPr>
          <p:cNvPr id="25" name="Seat 25"/>
          <p:cNvSpPr/>
          <p:nvPr/>
        </p:nvSpPr>
        <p:spPr>
          <a:xfrm>
            <a:off x="7955280" y="2011680"/>
            <a:ext cx="457200" cy="457200"/>
          </a:xfrm>
          <a:prstGeom prst="round2SameRect">
            <a:avLst>
              <a:gd name="adj1" fmla="val 45000"/>
              <a:gd name="adj2" fmla="val 0"/>
            </a:avLst>
          </a:prstGeom>
          <a:solidFill>
            <a:srgbClr val="1E3A64"/>
          </a:solidFill>
          <a:ln>
            <a:noFill/>
          </a:ln>
        </p:spPr>
      </p:sp>
      <p:sp>
        <p:nvSpPr>
          <p:cNvPr id="26" name="Seat 26"/>
          <p:cNvSpPr/>
          <p:nvPr/>
        </p:nvSpPr>
        <p:spPr>
          <a:xfrm>
            <a:off x="8540496" y="2011680"/>
            <a:ext cx="457200" cy="457200"/>
          </a:xfrm>
          <a:prstGeom prst="round2SameRect">
            <a:avLst>
              <a:gd name="adj1" fmla="val 45000"/>
              <a:gd name="adj2" fmla="val 0"/>
            </a:avLst>
          </a:prstGeom>
          <a:solidFill>
            <a:srgbClr val="55627A"/>
          </a:solidFill>
          <a:ln>
            <a:noFill/>
          </a:ln>
        </p:spPr>
      </p:sp>
      <p:sp>
        <p:nvSpPr>
          <p:cNvPr id="27" name="Seat 27"/>
          <p:cNvSpPr/>
          <p:nvPr/>
        </p:nvSpPr>
        <p:spPr>
          <a:xfrm>
            <a:off x="9125712" y="2011680"/>
            <a:ext cx="457200" cy="457200"/>
          </a:xfrm>
          <a:prstGeom prst="round2SameRect">
            <a:avLst>
              <a:gd name="adj1" fmla="val 45000"/>
              <a:gd name="adj2" fmla="val 0"/>
            </a:avLst>
          </a:prstGeom>
          <a:solidFill>
            <a:srgbClr val="1E3A64"/>
          </a:solidFill>
          <a:ln>
            <a:noFill/>
          </a:ln>
        </p:spPr>
      </p:sp>
      <p:sp>
        <p:nvSpPr>
          <p:cNvPr id="28" name="Seat 28"/>
          <p:cNvSpPr/>
          <p:nvPr/>
        </p:nvSpPr>
        <p:spPr>
          <a:xfrm>
            <a:off x="9710928" y="2011680"/>
            <a:ext cx="457200" cy="457200"/>
          </a:xfrm>
          <a:prstGeom prst="round2SameRect">
            <a:avLst>
              <a:gd name="adj1" fmla="val 45000"/>
              <a:gd name="adj2" fmla="val 0"/>
            </a:avLst>
          </a:prstGeom>
          <a:solidFill>
            <a:srgbClr val="1E3A64"/>
          </a:solidFill>
          <a:ln>
            <a:noFill/>
          </a:ln>
        </p:spPr>
      </p:sp>
      <p:sp>
        <p:nvSpPr>
          <p:cNvPr id="29" name="Seat 29"/>
          <p:cNvSpPr/>
          <p:nvPr/>
        </p:nvSpPr>
        <p:spPr>
          <a:xfrm>
            <a:off x="10296144" y="2011680"/>
            <a:ext cx="457200" cy="457200"/>
          </a:xfrm>
          <a:prstGeom prst="round2SameRect">
            <a:avLst>
              <a:gd name="adj1" fmla="val 45000"/>
              <a:gd name="adj2" fmla="val 0"/>
            </a:avLst>
          </a:prstGeom>
          <a:solidFill>
            <a:srgbClr val="55627A"/>
          </a:solidFill>
          <a:ln>
            <a:noFill/>
          </a:ln>
        </p:spPr>
      </p:sp>
      <p:sp>
        <p:nvSpPr>
          <p:cNvPr id="30" name="Seat 30"/>
          <p:cNvSpPr/>
          <p:nvPr/>
        </p:nvSpPr>
        <p:spPr>
          <a:xfrm>
            <a:off x="10881360" y="2011680"/>
            <a:ext cx="457200" cy="457200"/>
          </a:xfrm>
          <a:prstGeom prst="round2SameRect">
            <a:avLst>
              <a:gd name="adj1" fmla="val 45000"/>
              <a:gd name="adj2" fmla="val 0"/>
            </a:avLst>
          </a:prstGeom>
          <a:solidFill>
            <a:srgbClr val="1E3A64"/>
          </a:solidFill>
          <a:ln>
            <a:noFill/>
          </a:ln>
        </p:spPr>
      </p:sp>
      <p:sp>
        <p:nvSpPr>
          <p:cNvPr id="31" name="Row 31"/>
          <p:cNvSpPr txBox="1"/>
          <p:nvPr/>
        </p:nvSpPr>
        <p:spPr>
          <a:xfrm>
            <a:off x="7543800" y="2596896"/>
            <a:ext cx="274320" cy="457200"/>
          </a:xfrm>
          <a:prstGeom prst="rect">
            <a:avLst/>
          </a:prstGeom>
          <a:noFill/>
        </p:spPr>
        <p:txBody>
          <a:bodyPr wrap="square" lIns="0" tIns="0" rIns="0" bIns="0" rtlCol="0" anchor="ctr"/>
          <a:lstStyle/>
          <a:p>
            <a:pPr marL="0" indent="0" algn="r">
              <a:buNone/>
            </a:pPr>
            <a:r>
              <a:rPr lang="en-US" sz="1000" b="1" i="0" dirty="0">
                <a:solidFill>
                  <a:srgbClr val="8A97AE"/>
                </a:solidFill>
              </a:rPr>
              <a:t>B</a:t>
            </a:r>
          </a:p>
        </p:txBody>
      </p:sp>
      <p:sp>
        <p:nvSpPr>
          <p:cNvPr id="32" name="Seat 32"/>
          <p:cNvSpPr/>
          <p:nvPr/>
        </p:nvSpPr>
        <p:spPr>
          <a:xfrm>
            <a:off x="7955280" y="2596896"/>
            <a:ext cx="457200" cy="457200"/>
          </a:xfrm>
          <a:prstGeom prst="round2SameRect">
            <a:avLst>
              <a:gd name="adj1" fmla="val 45000"/>
              <a:gd name="adj2" fmla="val 0"/>
            </a:avLst>
          </a:prstGeom>
          <a:solidFill>
            <a:srgbClr val="55627A"/>
          </a:solidFill>
          <a:ln>
            <a:noFill/>
          </a:ln>
        </p:spPr>
      </p:sp>
      <p:sp>
        <p:nvSpPr>
          <p:cNvPr id="33" name="Seat 33"/>
          <p:cNvSpPr/>
          <p:nvPr/>
        </p:nvSpPr>
        <p:spPr>
          <a:xfrm>
            <a:off x="8540496" y="2596896"/>
            <a:ext cx="457200" cy="457200"/>
          </a:xfrm>
          <a:prstGeom prst="round2SameRect">
            <a:avLst>
              <a:gd name="adj1" fmla="val 45000"/>
              <a:gd name="adj2" fmla="val 0"/>
            </a:avLst>
          </a:prstGeom>
          <a:solidFill>
            <a:srgbClr val="1E3A64"/>
          </a:solidFill>
          <a:ln>
            <a:noFill/>
          </a:ln>
        </p:spPr>
      </p:sp>
      <p:sp>
        <p:nvSpPr>
          <p:cNvPr id="34" name="Seat 34"/>
          <p:cNvSpPr/>
          <p:nvPr/>
        </p:nvSpPr>
        <p:spPr>
          <a:xfrm>
            <a:off x="9125712" y="2596896"/>
            <a:ext cx="457200" cy="457200"/>
          </a:xfrm>
          <a:prstGeom prst="round2SameRect">
            <a:avLst>
              <a:gd name="adj1" fmla="val 45000"/>
              <a:gd name="adj2" fmla="val 0"/>
            </a:avLst>
          </a:prstGeom>
          <a:solidFill>
            <a:srgbClr val="1E3A64"/>
          </a:solidFill>
          <a:ln>
            <a:noFill/>
          </a:ln>
        </p:spPr>
      </p:sp>
      <p:sp>
        <p:nvSpPr>
          <p:cNvPr id="35" name="Seat 35"/>
          <p:cNvSpPr/>
          <p:nvPr/>
        </p:nvSpPr>
        <p:spPr>
          <a:xfrm>
            <a:off x="9710928" y="2596896"/>
            <a:ext cx="457200" cy="457200"/>
          </a:xfrm>
          <a:prstGeom prst="round2SameRect">
            <a:avLst>
              <a:gd name="adj1" fmla="val 45000"/>
              <a:gd name="adj2" fmla="val 0"/>
            </a:avLst>
          </a:prstGeom>
          <a:solidFill>
            <a:srgbClr val="55627A"/>
          </a:solidFill>
          <a:ln>
            <a:noFill/>
          </a:ln>
        </p:spPr>
      </p:sp>
      <p:sp>
        <p:nvSpPr>
          <p:cNvPr id="36" name="Seat 36"/>
          <p:cNvSpPr/>
          <p:nvPr/>
        </p:nvSpPr>
        <p:spPr>
          <a:xfrm>
            <a:off x="10296144" y="2596896"/>
            <a:ext cx="457200" cy="457200"/>
          </a:xfrm>
          <a:prstGeom prst="round2SameRect">
            <a:avLst>
              <a:gd name="adj1" fmla="val 45000"/>
              <a:gd name="adj2" fmla="val 0"/>
            </a:avLst>
          </a:prstGeom>
          <a:solidFill>
            <a:srgbClr val="55627A"/>
          </a:solidFill>
          <a:ln>
            <a:noFill/>
          </a:ln>
        </p:spPr>
      </p:sp>
      <p:sp>
        <p:nvSpPr>
          <p:cNvPr id="37" name="Seat 37"/>
          <p:cNvSpPr/>
          <p:nvPr/>
        </p:nvSpPr>
        <p:spPr>
          <a:xfrm>
            <a:off x="10881360" y="2596896"/>
            <a:ext cx="457200" cy="457200"/>
          </a:xfrm>
          <a:prstGeom prst="round2SameRect">
            <a:avLst>
              <a:gd name="adj1" fmla="val 45000"/>
              <a:gd name="adj2" fmla="val 0"/>
            </a:avLst>
          </a:prstGeom>
          <a:solidFill>
            <a:srgbClr val="1E3A64"/>
          </a:solidFill>
          <a:ln>
            <a:noFill/>
          </a:ln>
        </p:spPr>
      </p:sp>
      <p:sp>
        <p:nvSpPr>
          <p:cNvPr id="38" name="Row 38"/>
          <p:cNvSpPr txBox="1"/>
          <p:nvPr/>
        </p:nvSpPr>
        <p:spPr>
          <a:xfrm>
            <a:off x="7543800" y="3182112"/>
            <a:ext cx="274320" cy="457200"/>
          </a:xfrm>
          <a:prstGeom prst="rect">
            <a:avLst/>
          </a:prstGeom>
          <a:noFill/>
        </p:spPr>
        <p:txBody>
          <a:bodyPr wrap="square" lIns="0" tIns="0" rIns="0" bIns="0" rtlCol="0" anchor="ctr"/>
          <a:lstStyle/>
          <a:p>
            <a:pPr marL="0" indent="0" algn="r">
              <a:buNone/>
            </a:pPr>
            <a:r>
              <a:rPr lang="en-US" sz="1000" b="1" i="0" dirty="0">
                <a:solidFill>
                  <a:srgbClr val="8A97AE"/>
                </a:solidFill>
              </a:rPr>
              <a:t>C</a:t>
            </a:r>
          </a:p>
        </p:txBody>
      </p:sp>
      <p:sp>
        <p:nvSpPr>
          <p:cNvPr id="39" name="Seat 39"/>
          <p:cNvSpPr/>
          <p:nvPr/>
        </p:nvSpPr>
        <p:spPr>
          <a:xfrm>
            <a:off x="7955280" y="3182112"/>
            <a:ext cx="457200" cy="457200"/>
          </a:xfrm>
          <a:prstGeom prst="round2SameRect">
            <a:avLst>
              <a:gd name="adj1" fmla="val 45000"/>
              <a:gd name="adj2" fmla="val 0"/>
            </a:avLst>
          </a:prstGeom>
          <a:solidFill>
            <a:srgbClr val="1E3A64"/>
          </a:solidFill>
          <a:ln>
            <a:noFill/>
          </a:ln>
        </p:spPr>
      </p:sp>
      <p:sp>
        <p:nvSpPr>
          <p:cNvPr id="40" name="Seat 40"/>
          <p:cNvSpPr/>
          <p:nvPr/>
        </p:nvSpPr>
        <p:spPr>
          <a:xfrm>
            <a:off x="8540496" y="3182112"/>
            <a:ext cx="457200" cy="457200"/>
          </a:xfrm>
          <a:prstGeom prst="round2SameRect">
            <a:avLst>
              <a:gd name="adj1" fmla="val 45000"/>
              <a:gd name="adj2" fmla="val 0"/>
            </a:avLst>
          </a:prstGeom>
          <a:solidFill>
            <a:srgbClr val="1E3A64"/>
          </a:solidFill>
          <a:ln>
            <a:noFill/>
          </a:ln>
        </p:spPr>
      </p:sp>
      <p:sp>
        <p:nvSpPr>
          <p:cNvPr id="41" name="Seat 41"/>
          <p:cNvSpPr/>
          <p:nvPr/>
        </p:nvSpPr>
        <p:spPr>
          <a:xfrm>
            <a:off x="9125712" y="3182112"/>
            <a:ext cx="457200" cy="457200"/>
          </a:xfrm>
          <a:prstGeom prst="round2SameRect">
            <a:avLst>
              <a:gd name="adj1" fmla="val 45000"/>
              <a:gd name="adj2" fmla="val 0"/>
            </a:avLst>
          </a:prstGeom>
          <a:solidFill>
            <a:srgbClr val="55627A"/>
          </a:solidFill>
          <a:ln>
            <a:noFill/>
          </a:ln>
        </p:spPr>
      </p:sp>
      <p:sp>
        <p:nvSpPr>
          <p:cNvPr id="42" name="Seat 42"/>
          <p:cNvSpPr/>
          <p:nvPr/>
        </p:nvSpPr>
        <p:spPr>
          <a:xfrm>
            <a:off x="9710928" y="3182112"/>
            <a:ext cx="457200" cy="457200"/>
          </a:xfrm>
          <a:prstGeom prst="round2SameRect">
            <a:avLst>
              <a:gd name="adj1" fmla="val 45000"/>
              <a:gd name="adj2" fmla="val 0"/>
            </a:avLst>
          </a:prstGeom>
          <a:solidFill>
            <a:srgbClr val="3B82F6"/>
          </a:solidFill>
          <a:ln>
            <a:noFill/>
          </a:ln>
        </p:spPr>
      </p:sp>
      <p:sp>
        <p:nvSpPr>
          <p:cNvPr id="43" name="Seat 43"/>
          <p:cNvSpPr/>
          <p:nvPr/>
        </p:nvSpPr>
        <p:spPr>
          <a:xfrm>
            <a:off x="10296144" y="3182112"/>
            <a:ext cx="457200" cy="457200"/>
          </a:xfrm>
          <a:prstGeom prst="round2SameRect">
            <a:avLst>
              <a:gd name="adj1" fmla="val 45000"/>
              <a:gd name="adj2" fmla="val 0"/>
            </a:avLst>
          </a:prstGeom>
          <a:solidFill>
            <a:srgbClr val="3B82F6"/>
          </a:solidFill>
          <a:ln>
            <a:noFill/>
          </a:ln>
        </p:spPr>
      </p:sp>
      <p:sp>
        <p:nvSpPr>
          <p:cNvPr id="44" name="Seat 44"/>
          <p:cNvSpPr/>
          <p:nvPr/>
        </p:nvSpPr>
        <p:spPr>
          <a:xfrm>
            <a:off x="10881360" y="3182112"/>
            <a:ext cx="457200" cy="457200"/>
          </a:xfrm>
          <a:prstGeom prst="round2SameRect">
            <a:avLst>
              <a:gd name="adj1" fmla="val 45000"/>
              <a:gd name="adj2" fmla="val 0"/>
            </a:avLst>
          </a:prstGeom>
          <a:solidFill>
            <a:srgbClr val="1E3A64"/>
          </a:solidFill>
          <a:ln>
            <a:noFill/>
          </a:ln>
        </p:spPr>
      </p:sp>
      <p:sp>
        <p:nvSpPr>
          <p:cNvPr id="45" name="Row 45"/>
          <p:cNvSpPr txBox="1"/>
          <p:nvPr/>
        </p:nvSpPr>
        <p:spPr>
          <a:xfrm>
            <a:off x="7543800" y="3767328"/>
            <a:ext cx="274320" cy="457200"/>
          </a:xfrm>
          <a:prstGeom prst="rect">
            <a:avLst/>
          </a:prstGeom>
          <a:noFill/>
        </p:spPr>
        <p:txBody>
          <a:bodyPr wrap="square" lIns="0" tIns="0" rIns="0" bIns="0" rtlCol="0" anchor="ctr"/>
          <a:lstStyle/>
          <a:p>
            <a:pPr marL="0" indent="0" algn="r">
              <a:buNone/>
            </a:pPr>
            <a:r>
              <a:rPr lang="en-US" sz="1000" b="1" i="0" dirty="0">
                <a:solidFill>
                  <a:srgbClr val="8A97AE"/>
                </a:solidFill>
              </a:rPr>
              <a:t>D</a:t>
            </a:r>
          </a:p>
        </p:txBody>
      </p:sp>
      <p:sp>
        <p:nvSpPr>
          <p:cNvPr id="46" name="Seat 46"/>
          <p:cNvSpPr/>
          <p:nvPr/>
        </p:nvSpPr>
        <p:spPr>
          <a:xfrm>
            <a:off x="7955280" y="3767328"/>
            <a:ext cx="457200" cy="457200"/>
          </a:xfrm>
          <a:prstGeom prst="round2SameRect">
            <a:avLst>
              <a:gd name="adj1" fmla="val 45000"/>
              <a:gd name="adj2" fmla="val 0"/>
            </a:avLst>
          </a:prstGeom>
          <a:solidFill>
            <a:srgbClr val="55627A"/>
          </a:solidFill>
          <a:ln>
            <a:noFill/>
          </a:ln>
        </p:spPr>
      </p:sp>
      <p:sp>
        <p:nvSpPr>
          <p:cNvPr id="47" name="Seat 47"/>
          <p:cNvSpPr/>
          <p:nvPr/>
        </p:nvSpPr>
        <p:spPr>
          <a:xfrm>
            <a:off x="8540496" y="3767328"/>
            <a:ext cx="457200" cy="457200"/>
          </a:xfrm>
          <a:prstGeom prst="round2SameRect">
            <a:avLst>
              <a:gd name="adj1" fmla="val 45000"/>
              <a:gd name="adj2" fmla="val 0"/>
            </a:avLst>
          </a:prstGeom>
          <a:solidFill>
            <a:srgbClr val="1E3A64"/>
          </a:solidFill>
          <a:ln>
            <a:noFill/>
          </a:ln>
        </p:spPr>
      </p:sp>
      <p:sp>
        <p:nvSpPr>
          <p:cNvPr id="48" name="Seat 48"/>
          <p:cNvSpPr/>
          <p:nvPr/>
        </p:nvSpPr>
        <p:spPr>
          <a:xfrm>
            <a:off x="9125712" y="3767328"/>
            <a:ext cx="457200" cy="457200"/>
          </a:xfrm>
          <a:prstGeom prst="round2SameRect">
            <a:avLst>
              <a:gd name="adj1" fmla="val 45000"/>
              <a:gd name="adj2" fmla="val 0"/>
            </a:avLst>
          </a:prstGeom>
          <a:solidFill>
            <a:srgbClr val="1E3A64"/>
          </a:solidFill>
          <a:ln>
            <a:noFill/>
          </a:ln>
        </p:spPr>
      </p:sp>
      <p:sp>
        <p:nvSpPr>
          <p:cNvPr id="49" name="Seat 49"/>
          <p:cNvSpPr/>
          <p:nvPr/>
        </p:nvSpPr>
        <p:spPr>
          <a:xfrm>
            <a:off x="9710928" y="3767328"/>
            <a:ext cx="457200" cy="457200"/>
          </a:xfrm>
          <a:prstGeom prst="round2SameRect">
            <a:avLst>
              <a:gd name="adj1" fmla="val 45000"/>
              <a:gd name="adj2" fmla="val 0"/>
            </a:avLst>
          </a:prstGeom>
          <a:solidFill>
            <a:srgbClr val="1E3A64"/>
          </a:solidFill>
          <a:ln>
            <a:noFill/>
          </a:ln>
        </p:spPr>
      </p:sp>
      <p:sp>
        <p:nvSpPr>
          <p:cNvPr id="50" name="Seat 50"/>
          <p:cNvSpPr/>
          <p:nvPr/>
        </p:nvSpPr>
        <p:spPr>
          <a:xfrm>
            <a:off x="10296144" y="3767328"/>
            <a:ext cx="457200" cy="457200"/>
          </a:xfrm>
          <a:prstGeom prst="round2SameRect">
            <a:avLst>
              <a:gd name="adj1" fmla="val 45000"/>
              <a:gd name="adj2" fmla="val 0"/>
            </a:avLst>
          </a:prstGeom>
          <a:solidFill>
            <a:srgbClr val="1E3A64"/>
          </a:solidFill>
          <a:ln>
            <a:noFill/>
          </a:ln>
        </p:spPr>
      </p:sp>
      <p:sp>
        <p:nvSpPr>
          <p:cNvPr id="51" name="Seat 51"/>
          <p:cNvSpPr/>
          <p:nvPr/>
        </p:nvSpPr>
        <p:spPr>
          <a:xfrm>
            <a:off x="10881360" y="3767328"/>
            <a:ext cx="457200" cy="457200"/>
          </a:xfrm>
          <a:prstGeom prst="round2SameRect">
            <a:avLst>
              <a:gd name="adj1" fmla="val 45000"/>
              <a:gd name="adj2" fmla="val 0"/>
            </a:avLst>
          </a:prstGeom>
          <a:solidFill>
            <a:srgbClr val="55627A"/>
          </a:solidFill>
          <a:ln>
            <a:noFill/>
          </a:ln>
        </p:spPr>
      </p:sp>
      <p:sp>
        <p:nvSpPr>
          <p:cNvPr id="52" name="Row 52"/>
          <p:cNvSpPr txBox="1"/>
          <p:nvPr/>
        </p:nvSpPr>
        <p:spPr>
          <a:xfrm>
            <a:off x="7543800" y="4352544"/>
            <a:ext cx="274320" cy="457200"/>
          </a:xfrm>
          <a:prstGeom prst="rect">
            <a:avLst/>
          </a:prstGeom>
          <a:noFill/>
        </p:spPr>
        <p:txBody>
          <a:bodyPr wrap="square" lIns="0" tIns="0" rIns="0" bIns="0" rtlCol="0" anchor="ctr"/>
          <a:lstStyle/>
          <a:p>
            <a:pPr marL="0" indent="0" algn="r">
              <a:buNone/>
            </a:pPr>
            <a:r>
              <a:rPr lang="en-US" sz="1000" b="1" i="0" dirty="0">
                <a:solidFill>
                  <a:srgbClr val="8A97AE"/>
                </a:solidFill>
              </a:rPr>
              <a:t>E</a:t>
            </a:r>
          </a:p>
        </p:txBody>
      </p:sp>
      <p:sp>
        <p:nvSpPr>
          <p:cNvPr id="53" name="Seat 53"/>
          <p:cNvSpPr/>
          <p:nvPr/>
        </p:nvSpPr>
        <p:spPr>
          <a:xfrm>
            <a:off x="7955280" y="4352544"/>
            <a:ext cx="457200" cy="457200"/>
          </a:xfrm>
          <a:prstGeom prst="round2SameRect">
            <a:avLst>
              <a:gd name="adj1" fmla="val 45000"/>
              <a:gd name="adj2" fmla="val 0"/>
            </a:avLst>
          </a:prstGeom>
          <a:solidFill>
            <a:srgbClr val="1E3A64"/>
          </a:solidFill>
          <a:ln>
            <a:noFill/>
          </a:ln>
        </p:spPr>
      </p:sp>
      <p:sp>
        <p:nvSpPr>
          <p:cNvPr id="54" name="Seat 54"/>
          <p:cNvSpPr/>
          <p:nvPr/>
        </p:nvSpPr>
        <p:spPr>
          <a:xfrm>
            <a:off x="8540496" y="4352544"/>
            <a:ext cx="457200" cy="457200"/>
          </a:xfrm>
          <a:prstGeom prst="round2SameRect">
            <a:avLst>
              <a:gd name="adj1" fmla="val 45000"/>
              <a:gd name="adj2" fmla="val 0"/>
            </a:avLst>
          </a:prstGeom>
          <a:solidFill>
            <a:srgbClr val="55627A"/>
          </a:solidFill>
          <a:ln>
            <a:noFill/>
          </a:ln>
        </p:spPr>
      </p:sp>
      <p:sp>
        <p:nvSpPr>
          <p:cNvPr id="55" name="Seat 55"/>
          <p:cNvSpPr/>
          <p:nvPr/>
        </p:nvSpPr>
        <p:spPr>
          <a:xfrm>
            <a:off x="9125712" y="4352544"/>
            <a:ext cx="457200" cy="457200"/>
          </a:xfrm>
          <a:prstGeom prst="round2SameRect">
            <a:avLst>
              <a:gd name="adj1" fmla="val 45000"/>
              <a:gd name="adj2" fmla="val 0"/>
            </a:avLst>
          </a:prstGeom>
          <a:solidFill>
            <a:srgbClr val="55627A"/>
          </a:solidFill>
          <a:ln>
            <a:noFill/>
          </a:ln>
        </p:spPr>
      </p:sp>
      <p:sp>
        <p:nvSpPr>
          <p:cNvPr id="56" name="Seat 56"/>
          <p:cNvSpPr/>
          <p:nvPr/>
        </p:nvSpPr>
        <p:spPr>
          <a:xfrm>
            <a:off x="9710928" y="4352544"/>
            <a:ext cx="457200" cy="457200"/>
          </a:xfrm>
          <a:prstGeom prst="round2SameRect">
            <a:avLst>
              <a:gd name="adj1" fmla="val 45000"/>
              <a:gd name="adj2" fmla="val 0"/>
            </a:avLst>
          </a:prstGeom>
          <a:solidFill>
            <a:srgbClr val="1E3A64"/>
          </a:solidFill>
          <a:ln>
            <a:noFill/>
          </a:ln>
        </p:spPr>
      </p:sp>
      <p:sp>
        <p:nvSpPr>
          <p:cNvPr id="57" name="Seat 57"/>
          <p:cNvSpPr/>
          <p:nvPr/>
        </p:nvSpPr>
        <p:spPr>
          <a:xfrm>
            <a:off x="10296144" y="4352544"/>
            <a:ext cx="457200" cy="457200"/>
          </a:xfrm>
          <a:prstGeom prst="round2SameRect">
            <a:avLst>
              <a:gd name="adj1" fmla="val 45000"/>
              <a:gd name="adj2" fmla="val 0"/>
            </a:avLst>
          </a:prstGeom>
          <a:solidFill>
            <a:srgbClr val="55627A"/>
          </a:solidFill>
          <a:ln>
            <a:noFill/>
          </a:ln>
        </p:spPr>
      </p:sp>
      <p:sp>
        <p:nvSpPr>
          <p:cNvPr id="58" name="Seat 58"/>
          <p:cNvSpPr/>
          <p:nvPr/>
        </p:nvSpPr>
        <p:spPr>
          <a:xfrm>
            <a:off x="10881360" y="4352544"/>
            <a:ext cx="457200" cy="457200"/>
          </a:xfrm>
          <a:prstGeom prst="round2SameRect">
            <a:avLst>
              <a:gd name="adj1" fmla="val 45000"/>
              <a:gd name="adj2" fmla="val 0"/>
            </a:avLst>
          </a:prstGeom>
          <a:solidFill>
            <a:srgbClr val="1E3A64"/>
          </a:solidFill>
          <a:ln>
            <a:noFill/>
          </a:ln>
        </p:spPr>
      </p:sp>
      <p:sp>
        <p:nvSpPr>
          <p:cNvPr id="59" name="Row 59"/>
          <p:cNvSpPr txBox="1"/>
          <p:nvPr/>
        </p:nvSpPr>
        <p:spPr>
          <a:xfrm>
            <a:off x="7543800" y="4937760"/>
            <a:ext cx="274320" cy="457200"/>
          </a:xfrm>
          <a:prstGeom prst="rect">
            <a:avLst/>
          </a:prstGeom>
          <a:noFill/>
        </p:spPr>
        <p:txBody>
          <a:bodyPr wrap="square" lIns="0" tIns="0" rIns="0" bIns="0" rtlCol="0" anchor="ctr"/>
          <a:lstStyle/>
          <a:p>
            <a:pPr marL="0" indent="0" algn="r">
              <a:buNone/>
            </a:pPr>
            <a:r>
              <a:rPr lang="en-US" sz="1000" b="1" i="0" dirty="0">
                <a:solidFill>
                  <a:srgbClr val="8A97AE"/>
                </a:solidFill>
              </a:rPr>
              <a:t>F</a:t>
            </a:r>
          </a:p>
        </p:txBody>
      </p:sp>
      <p:sp>
        <p:nvSpPr>
          <p:cNvPr id="60" name="Seat 60"/>
          <p:cNvSpPr/>
          <p:nvPr/>
        </p:nvSpPr>
        <p:spPr>
          <a:xfrm>
            <a:off x="7955280" y="4937760"/>
            <a:ext cx="457200" cy="457200"/>
          </a:xfrm>
          <a:prstGeom prst="round2SameRect">
            <a:avLst>
              <a:gd name="adj1" fmla="val 45000"/>
              <a:gd name="adj2" fmla="val 0"/>
            </a:avLst>
          </a:prstGeom>
          <a:solidFill>
            <a:srgbClr val="1E3A64"/>
          </a:solidFill>
          <a:ln>
            <a:noFill/>
          </a:ln>
        </p:spPr>
      </p:sp>
      <p:sp>
        <p:nvSpPr>
          <p:cNvPr id="61" name="Seat 61"/>
          <p:cNvSpPr/>
          <p:nvPr/>
        </p:nvSpPr>
        <p:spPr>
          <a:xfrm>
            <a:off x="8540496" y="4937760"/>
            <a:ext cx="457200" cy="457200"/>
          </a:xfrm>
          <a:prstGeom prst="round2SameRect">
            <a:avLst>
              <a:gd name="adj1" fmla="val 45000"/>
              <a:gd name="adj2" fmla="val 0"/>
            </a:avLst>
          </a:prstGeom>
          <a:solidFill>
            <a:srgbClr val="1E3A64"/>
          </a:solidFill>
          <a:ln>
            <a:noFill/>
          </a:ln>
        </p:spPr>
      </p:sp>
      <p:sp>
        <p:nvSpPr>
          <p:cNvPr id="62" name="Seat 62"/>
          <p:cNvSpPr/>
          <p:nvPr/>
        </p:nvSpPr>
        <p:spPr>
          <a:xfrm>
            <a:off x="9125712" y="4937760"/>
            <a:ext cx="457200" cy="457200"/>
          </a:xfrm>
          <a:prstGeom prst="round2SameRect">
            <a:avLst>
              <a:gd name="adj1" fmla="val 45000"/>
              <a:gd name="adj2" fmla="val 0"/>
            </a:avLst>
          </a:prstGeom>
          <a:solidFill>
            <a:srgbClr val="1E3A64"/>
          </a:solidFill>
          <a:ln>
            <a:noFill/>
          </a:ln>
        </p:spPr>
      </p:sp>
      <p:sp>
        <p:nvSpPr>
          <p:cNvPr id="63" name="Seat 63"/>
          <p:cNvSpPr/>
          <p:nvPr/>
        </p:nvSpPr>
        <p:spPr>
          <a:xfrm>
            <a:off x="9710928" y="4937760"/>
            <a:ext cx="457200" cy="457200"/>
          </a:xfrm>
          <a:prstGeom prst="round2SameRect">
            <a:avLst>
              <a:gd name="adj1" fmla="val 45000"/>
              <a:gd name="adj2" fmla="val 0"/>
            </a:avLst>
          </a:prstGeom>
          <a:solidFill>
            <a:srgbClr val="55627A"/>
          </a:solidFill>
          <a:ln>
            <a:noFill/>
          </a:ln>
        </p:spPr>
      </p:sp>
      <p:sp>
        <p:nvSpPr>
          <p:cNvPr id="64" name="Seat 64"/>
          <p:cNvSpPr/>
          <p:nvPr/>
        </p:nvSpPr>
        <p:spPr>
          <a:xfrm>
            <a:off x="10296144" y="4937760"/>
            <a:ext cx="457200" cy="457200"/>
          </a:xfrm>
          <a:prstGeom prst="round2SameRect">
            <a:avLst>
              <a:gd name="adj1" fmla="val 45000"/>
              <a:gd name="adj2" fmla="val 0"/>
            </a:avLst>
          </a:prstGeom>
          <a:solidFill>
            <a:srgbClr val="1E3A64"/>
          </a:solidFill>
          <a:ln>
            <a:noFill/>
          </a:ln>
        </p:spPr>
      </p:sp>
      <p:sp>
        <p:nvSpPr>
          <p:cNvPr id="65" name="Seat 65"/>
          <p:cNvSpPr/>
          <p:nvPr/>
        </p:nvSpPr>
        <p:spPr>
          <a:xfrm>
            <a:off x="10881360" y="4937760"/>
            <a:ext cx="457200" cy="457200"/>
          </a:xfrm>
          <a:prstGeom prst="round2SameRect">
            <a:avLst>
              <a:gd name="adj1" fmla="val 45000"/>
              <a:gd name="adj2" fmla="val 0"/>
            </a:avLst>
          </a:prstGeom>
          <a:solidFill>
            <a:srgbClr val="1E3A64"/>
          </a:solidFill>
          <a:ln>
            <a:noFill/>
          </a:ln>
        </p:spPr>
      </p:sp>
      <p:sp>
        <p:nvSpPr>
          <p:cNvPr id="66" name="Legend 66"/>
          <p:cNvSpPr/>
          <p:nvPr/>
        </p:nvSpPr>
        <p:spPr>
          <a:xfrm>
            <a:off x="7863840" y="5696712"/>
            <a:ext cx="182880" cy="182880"/>
          </a:xfrm>
          <a:prstGeom prst="round2SameRect">
            <a:avLst>
              <a:gd name="adj1" fmla="val 45000"/>
              <a:gd name="adj2" fmla="val 0"/>
            </a:avLst>
          </a:prstGeom>
          <a:solidFill>
            <a:srgbClr val="1E3A64"/>
          </a:solidFill>
          <a:ln>
            <a:noFill/>
          </a:ln>
        </p:spPr>
      </p:sp>
      <p:sp>
        <p:nvSpPr>
          <p:cNvPr id="67" name="Legend label 67"/>
          <p:cNvSpPr txBox="1"/>
          <p:nvPr/>
        </p:nvSpPr>
        <p:spPr>
          <a:xfrm>
            <a:off x="8138160" y="5660136"/>
            <a:ext cx="1005840" cy="256032"/>
          </a:xfrm>
          <a:prstGeom prst="rect">
            <a:avLst/>
          </a:prstGeom>
          <a:noFill/>
        </p:spPr>
        <p:txBody>
          <a:bodyPr wrap="square" lIns="0" tIns="0" rIns="0" bIns="0" rtlCol="0" anchor="ctr"/>
          <a:lstStyle/>
          <a:p>
            <a:pPr marL="0" indent="0" algn="l">
              <a:buNone/>
            </a:pPr>
            <a:r>
              <a:rPr lang="en-US" sz="1100" b="0" i="0" dirty="0">
                <a:solidFill>
                  <a:srgbClr val="AEBBD1"/>
                </a:solidFill>
              </a:rPr>
              <a:t>Available</a:t>
            </a:r>
          </a:p>
        </p:txBody>
      </p:sp>
      <p:sp>
        <p:nvSpPr>
          <p:cNvPr id="68" name="Legend 68"/>
          <p:cNvSpPr/>
          <p:nvPr/>
        </p:nvSpPr>
        <p:spPr>
          <a:xfrm>
            <a:off x="9144000" y="5696712"/>
            <a:ext cx="182880" cy="182880"/>
          </a:xfrm>
          <a:prstGeom prst="round2SameRect">
            <a:avLst>
              <a:gd name="adj1" fmla="val 45000"/>
              <a:gd name="adj2" fmla="val 0"/>
            </a:avLst>
          </a:prstGeom>
          <a:solidFill>
            <a:srgbClr val="55627A"/>
          </a:solidFill>
          <a:ln>
            <a:noFill/>
          </a:ln>
        </p:spPr>
      </p:sp>
      <p:sp>
        <p:nvSpPr>
          <p:cNvPr id="69" name="Legend label 69"/>
          <p:cNvSpPr txBox="1"/>
          <p:nvPr/>
        </p:nvSpPr>
        <p:spPr>
          <a:xfrm>
            <a:off x="9418320" y="5660136"/>
            <a:ext cx="1005840" cy="256032"/>
          </a:xfrm>
          <a:prstGeom prst="rect">
            <a:avLst/>
          </a:prstGeom>
          <a:noFill/>
        </p:spPr>
        <p:txBody>
          <a:bodyPr wrap="square" lIns="0" tIns="0" rIns="0" bIns="0" rtlCol="0" anchor="ctr"/>
          <a:lstStyle/>
          <a:p>
            <a:pPr marL="0" indent="0" algn="l">
              <a:buNone/>
            </a:pPr>
            <a:r>
              <a:rPr lang="en-US" sz="1100" b="0" i="0" dirty="0">
                <a:solidFill>
                  <a:srgbClr val="AEBBD1"/>
                </a:solidFill>
              </a:rPr>
              <a:t>Taken</a:t>
            </a:r>
          </a:p>
        </p:txBody>
      </p:sp>
      <p:sp>
        <p:nvSpPr>
          <p:cNvPr id="70" name="Legend 70"/>
          <p:cNvSpPr/>
          <p:nvPr/>
        </p:nvSpPr>
        <p:spPr>
          <a:xfrm>
            <a:off x="10424160" y="5696712"/>
            <a:ext cx="182880" cy="182880"/>
          </a:xfrm>
          <a:prstGeom prst="round2SameRect">
            <a:avLst>
              <a:gd name="adj1" fmla="val 45000"/>
              <a:gd name="adj2" fmla="val 0"/>
            </a:avLst>
          </a:prstGeom>
          <a:solidFill>
            <a:srgbClr val="3B82F6"/>
          </a:solidFill>
          <a:ln>
            <a:noFill/>
          </a:ln>
        </p:spPr>
      </p:sp>
      <p:sp>
        <p:nvSpPr>
          <p:cNvPr id="71" name="Legend label 71"/>
          <p:cNvSpPr txBox="1"/>
          <p:nvPr/>
        </p:nvSpPr>
        <p:spPr>
          <a:xfrm>
            <a:off x="10698480" y="5660136"/>
            <a:ext cx="1005840" cy="256032"/>
          </a:xfrm>
          <a:prstGeom prst="rect">
            <a:avLst/>
          </a:prstGeom>
          <a:noFill/>
        </p:spPr>
        <p:txBody>
          <a:bodyPr wrap="square" lIns="0" tIns="0" rIns="0" bIns="0" rtlCol="0" anchor="ctr"/>
          <a:lstStyle/>
          <a:p>
            <a:pPr marL="0" indent="0" algn="l">
              <a:buNone/>
            </a:pPr>
            <a:r>
              <a:rPr lang="en-US" sz="1100" b="0" i="0" dirty="0">
                <a:solidFill>
                  <a:srgbClr val="AEBBD1"/>
                </a:solidFill>
              </a:rPr>
              <a:t>Selected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D9B38-CC4C-4CE3-C37C-CC569E75C45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44C8259-9463-C84A-12BF-782DDDA80F7A}"/>
              </a:ext>
            </a:extLst>
          </p:cNvPr>
          <p:cNvSpPr/>
          <p:nvPr/>
        </p:nvSpPr>
        <p:spPr>
          <a:xfrm>
            <a:off x="-17252" y="0"/>
            <a:ext cx="201168" cy="6858000"/>
          </a:xfrm>
          <a:prstGeom prst="rect">
            <a:avLst/>
          </a:prstGeom>
          <a:solidFill>
            <a:srgbClr val="0B1F3A"/>
          </a:solidFill>
          <a:ln w="12700">
            <a:solidFill>
              <a:srgbClr val="0B1F3A"/>
            </a:solidFill>
            <a:prstDash val="solid"/>
          </a:ln>
        </p:spPr>
      </p:sp>
      <p:sp>
        <p:nvSpPr>
          <p:cNvPr id="3" name="Shape 1">
            <a:extLst>
              <a:ext uri="{FF2B5EF4-FFF2-40B4-BE49-F238E27FC236}">
                <a16:creationId xmlns:a16="http://schemas.microsoft.com/office/drawing/2014/main" id="{7E972B12-5DB2-7AF7-EE3E-190917A5B2DC}"/>
              </a:ext>
            </a:extLst>
          </p:cNvPr>
          <p:cNvSpPr/>
          <p:nvPr/>
        </p:nvSpPr>
        <p:spPr>
          <a:xfrm>
            <a:off x="548640" y="1097280"/>
            <a:ext cx="2011680" cy="64008"/>
          </a:xfrm>
          <a:prstGeom prst="rect">
            <a:avLst/>
          </a:prstGeom>
          <a:solidFill>
            <a:srgbClr val="1D4ED8"/>
          </a:solidFill>
          <a:ln w="12700">
            <a:solidFill>
              <a:srgbClr val="1D4ED8"/>
            </a:solidFill>
            <a:prstDash val="solid"/>
          </a:ln>
        </p:spPr>
      </p:sp>
      <p:sp>
        <p:nvSpPr>
          <p:cNvPr id="4" name="Text 2">
            <a:extLst>
              <a:ext uri="{FF2B5EF4-FFF2-40B4-BE49-F238E27FC236}">
                <a16:creationId xmlns:a16="http://schemas.microsoft.com/office/drawing/2014/main" id="{68896BB6-C174-D5E5-3465-86F9A3B401B9}"/>
              </a:ext>
            </a:extLst>
          </p:cNvPr>
          <p:cNvSpPr txBox="1"/>
          <p:nvPr/>
        </p:nvSpPr>
        <p:spPr>
          <a:xfrm>
            <a:off x="548640" y="274320"/>
            <a:ext cx="9509760" cy="822960"/>
          </a:xfrm>
          <a:prstGeom prst="rect">
            <a:avLst/>
          </a:prstGeom>
          <a:noFill/>
          <a:ln/>
        </p:spPr>
        <p:txBody>
          <a:bodyPr wrap="square" lIns="0" tIns="0" rIns="0" bIns="0" rtlCol="0" anchor="ctr"/>
          <a:lstStyle/>
          <a:p>
            <a:pPr marL="0" indent="0">
              <a:buNone/>
            </a:pPr>
            <a:r>
              <a:rPr lang="en-US" sz="3600" b="1" dirty="0">
                <a:solidFill>
                  <a:srgbClr val="0B1F3A"/>
                </a:solidFill>
              </a:rPr>
              <a:t>Major Problem</a:t>
            </a:r>
            <a:endParaRPr lang="en-US" sz="3600" dirty="0"/>
          </a:p>
        </p:txBody>
      </p:sp>
      <p:sp>
        <p:nvSpPr>
          <p:cNvPr id="7" name="Shape 4">
            <a:extLst>
              <a:ext uri="{FF2B5EF4-FFF2-40B4-BE49-F238E27FC236}">
                <a16:creationId xmlns:a16="http://schemas.microsoft.com/office/drawing/2014/main" id="{6C15846A-2052-2D78-9EA4-03CB27811FE9}"/>
              </a:ext>
            </a:extLst>
          </p:cNvPr>
          <p:cNvSpPr/>
          <p:nvPr/>
        </p:nvSpPr>
        <p:spPr>
          <a:xfrm>
            <a:off x="548640" y="1463040"/>
            <a:ext cx="5303520" cy="548640"/>
          </a:xfrm>
          <a:prstGeom prst="roundRect">
            <a:avLst>
              <a:gd name="adj" fmla="val 13333"/>
            </a:avLst>
          </a:prstGeom>
          <a:solidFill>
            <a:srgbClr val="B42318"/>
          </a:solidFill>
          <a:ln w="19050">
            <a:solidFill>
              <a:srgbClr val="B42318"/>
            </a:solidFill>
            <a:prstDash val="solid"/>
          </a:ln>
        </p:spPr>
      </p:sp>
      <p:sp>
        <p:nvSpPr>
          <p:cNvPr id="8" name="Text 5">
            <a:extLst>
              <a:ext uri="{FF2B5EF4-FFF2-40B4-BE49-F238E27FC236}">
                <a16:creationId xmlns:a16="http://schemas.microsoft.com/office/drawing/2014/main" id="{3BA46ACF-85BF-35B1-5CCE-07EB5A7E6C96}"/>
              </a:ext>
            </a:extLst>
          </p:cNvPr>
          <p:cNvSpPr txBox="1"/>
          <p:nvPr/>
        </p:nvSpPr>
        <p:spPr>
          <a:xfrm>
            <a:off x="548640" y="1463040"/>
            <a:ext cx="5303520" cy="548640"/>
          </a:xfrm>
          <a:prstGeom prst="rect">
            <a:avLst/>
          </a:prstGeom>
          <a:noFill/>
          <a:ln/>
        </p:spPr>
        <p:txBody>
          <a:bodyPr wrap="square" lIns="635" tIns="635" rIns="635" bIns="635" rtlCol="0" anchor="ctr"/>
          <a:lstStyle/>
          <a:p>
            <a:pPr marL="0" indent="0" algn="ctr">
              <a:buNone/>
            </a:pPr>
            <a:r>
              <a:rPr lang="en-US" sz="2400" b="1" dirty="0">
                <a:solidFill>
                  <a:srgbClr val="F4F6FA"/>
                </a:solidFill>
              </a:rPr>
              <a:t>Problem</a:t>
            </a:r>
            <a:endParaRPr lang="en-US" sz="2400" dirty="0"/>
          </a:p>
        </p:txBody>
      </p:sp>
      <p:sp>
        <p:nvSpPr>
          <p:cNvPr id="9" name="Shape 6">
            <a:extLst>
              <a:ext uri="{FF2B5EF4-FFF2-40B4-BE49-F238E27FC236}">
                <a16:creationId xmlns:a16="http://schemas.microsoft.com/office/drawing/2014/main" id="{101388E6-E1C6-15FF-7027-888B362C3370}"/>
              </a:ext>
            </a:extLst>
          </p:cNvPr>
          <p:cNvSpPr/>
          <p:nvPr/>
        </p:nvSpPr>
        <p:spPr>
          <a:xfrm>
            <a:off x="548640" y="2011680"/>
            <a:ext cx="5303520" cy="1554480"/>
          </a:xfrm>
          <a:prstGeom prst="roundRect">
            <a:avLst>
              <a:gd name="adj" fmla="val 5882"/>
            </a:avLst>
          </a:prstGeom>
          <a:solidFill>
            <a:srgbClr val="FFFFFF"/>
          </a:solidFill>
          <a:ln w="12700">
            <a:solidFill>
              <a:srgbClr val="D5DBE6"/>
            </a:solidFill>
            <a:prstDash val="solid"/>
          </a:ln>
        </p:spPr>
      </p:sp>
      <p:sp>
        <p:nvSpPr>
          <p:cNvPr id="10" name="Text 7">
            <a:extLst>
              <a:ext uri="{FF2B5EF4-FFF2-40B4-BE49-F238E27FC236}">
                <a16:creationId xmlns:a16="http://schemas.microsoft.com/office/drawing/2014/main" id="{F8887FD0-3F44-832C-65BC-3E6FC955BBA5}"/>
              </a:ext>
            </a:extLst>
          </p:cNvPr>
          <p:cNvSpPr txBox="1"/>
          <p:nvPr/>
        </p:nvSpPr>
        <p:spPr>
          <a:xfrm>
            <a:off x="731520" y="2011680"/>
            <a:ext cx="4937760" cy="1554480"/>
          </a:xfrm>
          <a:prstGeom prst="rect">
            <a:avLst/>
          </a:prstGeom>
          <a:noFill/>
          <a:ln/>
        </p:spPr>
        <p:txBody>
          <a:bodyPr wrap="square" lIns="0" tIns="0" rIns="0" bIns="0" rtlCol="0" anchor="ctr"/>
          <a:lstStyle/>
          <a:p>
            <a:pPr marL="0" indent="0">
              <a:buNone/>
            </a:pPr>
            <a:r>
              <a:rPr lang="en-US" sz="2400" dirty="0">
                <a:solidFill>
                  <a:srgbClr val="1F2937"/>
                </a:solidFill>
              </a:rPr>
              <a:t>Two users may try to book the same seat at almost the same time</a:t>
            </a:r>
            <a:endParaRPr lang="en-US" sz="2400" dirty="0"/>
          </a:p>
        </p:txBody>
      </p:sp>
      <p:sp>
        <p:nvSpPr>
          <p:cNvPr id="11" name="Shape 8">
            <a:extLst>
              <a:ext uri="{FF2B5EF4-FFF2-40B4-BE49-F238E27FC236}">
                <a16:creationId xmlns:a16="http://schemas.microsoft.com/office/drawing/2014/main" id="{7E00B766-7824-C17D-9110-87C275DE08AF}"/>
              </a:ext>
            </a:extLst>
          </p:cNvPr>
          <p:cNvSpPr/>
          <p:nvPr/>
        </p:nvSpPr>
        <p:spPr>
          <a:xfrm>
            <a:off x="6309360" y="1463040"/>
            <a:ext cx="5303520" cy="548640"/>
          </a:xfrm>
          <a:prstGeom prst="roundRect">
            <a:avLst>
              <a:gd name="adj" fmla="val 13333"/>
            </a:avLst>
          </a:prstGeom>
          <a:solidFill>
            <a:srgbClr val="15803D"/>
          </a:solidFill>
          <a:ln w="19050">
            <a:solidFill>
              <a:srgbClr val="15803D"/>
            </a:solidFill>
            <a:prstDash val="solid"/>
          </a:ln>
        </p:spPr>
      </p:sp>
      <p:sp>
        <p:nvSpPr>
          <p:cNvPr id="12" name="Text 9">
            <a:extLst>
              <a:ext uri="{FF2B5EF4-FFF2-40B4-BE49-F238E27FC236}">
                <a16:creationId xmlns:a16="http://schemas.microsoft.com/office/drawing/2014/main" id="{6A55AC9B-5F96-E716-9D88-1C2548D6510A}"/>
              </a:ext>
            </a:extLst>
          </p:cNvPr>
          <p:cNvSpPr txBox="1"/>
          <p:nvPr/>
        </p:nvSpPr>
        <p:spPr>
          <a:xfrm>
            <a:off x="6309360" y="1463040"/>
            <a:ext cx="5303520" cy="548640"/>
          </a:xfrm>
          <a:prstGeom prst="rect">
            <a:avLst/>
          </a:prstGeom>
          <a:noFill/>
          <a:ln/>
        </p:spPr>
        <p:txBody>
          <a:bodyPr wrap="square" lIns="635" tIns="635" rIns="635" bIns="635" rtlCol="0" anchor="ctr"/>
          <a:lstStyle/>
          <a:p>
            <a:pPr marL="0" indent="0" algn="ctr">
              <a:buNone/>
            </a:pPr>
            <a:r>
              <a:rPr lang="en-US" sz="2400" b="1" dirty="0">
                <a:solidFill>
                  <a:srgbClr val="F4F6FA"/>
                </a:solidFill>
              </a:rPr>
              <a:t>Solution</a:t>
            </a:r>
            <a:endParaRPr lang="en-US" sz="2400" dirty="0"/>
          </a:p>
        </p:txBody>
      </p:sp>
      <p:sp>
        <p:nvSpPr>
          <p:cNvPr id="13" name="Shape 10">
            <a:extLst>
              <a:ext uri="{FF2B5EF4-FFF2-40B4-BE49-F238E27FC236}">
                <a16:creationId xmlns:a16="http://schemas.microsoft.com/office/drawing/2014/main" id="{1652F37A-487B-A80E-A349-5AF53F104A66}"/>
              </a:ext>
            </a:extLst>
          </p:cNvPr>
          <p:cNvSpPr/>
          <p:nvPr/>
        </p:nvSpPr>
        <p:spPr>
          <a:xfrm>
            <a:off x="6309360" y="2011680"/>
            <a:ext cx="5303520" cy="1554480"/>
          </a:xfrm>
          <a:prstGeom prst="roundRect">
            <a:avLst>
              <a:gd name="adj" fmla="val 5882"/>
            </a:avLst>
          </a:prstGeom>
          <a:solidFill>
            <a:srgbClr val="FFFFFF"/>
          </a:solidFill>
          <a:ln w="12700">
            <a:solidFill>
              <a:srgbClr val="D5DBE6"/>
            </a:solidFill>
            <a:prstDash val="solid"/>
          </a:ln>
        </p:spPr>
      </p:sp>
      <p:sp>
        <p:nvSpPr>
          <p:cNvPr id="14" name="Text 11">
            <a:extLst>
              <a:ext uri="{FF2B5EF4-FFF2-40B4-BE49-F238E27FC236}">
                <a16:creationId xmlns:a16="http://schemas.microsoft.com/office/drawing/2014/main" id="{91C86715-3924-8783-93CD-EB403CB6B303}"/>
              </a:ext>
            </a:extLst>
          </p:cNvPr>
          <p:cNvSpPr txBox="1"/>
          <p:nvPr/>
        </p:nvSpPr>
        <p:spPr>
          <a:xfrm>
            <a:off x="6492240" y="2011680"/>
            <a:ext cx="4937760" cy="1554480"/>
          </a:xfrm>
          <a:prstGeom prst="rect">
            <a:avLst/>
          </a:prstGeom>
          <a:noFill/>
          <a:ln/>
        </p:spPr>
        <p:txBody>
          <a:bodyPr wrap="square" lIns="0" tIns="0" rIns="0" bIns="0" rtlCol="0" anchor="ctr"/>
          <a:lstStyle/>
          <a:p>
            <a:pPr marL="0" indent="0">
              <a:buNone/>
            </a:pPr>
            <a:r>
              <a:rPr lang="en-US" sz="2400" dirty="0">
                <a:solidFill>
                  <a:srgbClr val="1F2937"/>
                </a:solidFill>
              </a:rPr>
              <a:t>A MySQL-backed system using seat locks and transactions</a:t>
            </a:r>
            <a:endParaRPr lang="en-US" sz="2400" dirty="0"/>
          </a:p>
        </p:txBody>
      </p:sp>
      <p:sp>
        <p:nvSpPr>
          <p:cNvPr id="15" name="Text 12">
            <a:extLst>
              <a:ext uri="{FF2B5EF4-FFF2-40B4-BE49-F238E27FC236}">
                <a16:creationId xmlns:a16="http://schemas.microsoft.com/office/drawing/2014/main" id="{3F9B1476-62E1-E3B5-2F56-256CF1766350}"/>
              </a:ext>
            </a:extLst>
          </p:cNvPr>
          <p:cNvSpPr txBox="1"/>
          <p:nvPr/>
        </p:nvSpPr>
        <p:spPr>
          <a:xfrm>
            <a:off x="548640" y="3931920"/>
            <a:ext cx="11064240" cy="731520"/>
          </a:xfrm>
          <a:prstGeom prst="rect">
            <a:avLst/>
          </a:prstGeom>
          <a:noFill/>
          <a:ln/>
        </p:spPr>
        <p:txBody>
          <a:bodyPr wrap="square" lIns="0" tIns="0" rIns="0" bIns="0" rtlCol="0" anchor="ctr"/>
          <a:lstStyle/>
          <a:p>
            <a:pPr marL="0" indent="0" algn="ctr">
              <a:buNone/>
            </a:pPr>
            <a:r>
              <a:rPr lang="en-US" sz="2200" dirty="0">
                <a:solidFill>
                  <a:srgbClr val="5B6575"/>
                </a:solidFill>
              </a:rPr>
              <a:t>Register · Login · Browse movies · Select seats · Book · Pay (simulated) · My Bookings</a:t>
            </a:r>
            <a:endParaRPr lang="en-US" sz="2200" dirty="0"/>
          </a:p>
        </p:txBody>
      </p:sp>
    </p:spTree>
    <p:extLst>
      <p:ext uri="{BB962C8B-B14F-4D97-AF65-F5344CB8AC3E}">
        <p14:creationId xmlns:p14="http://schemas.microsoft.com/office/powerpoint/2010/main" val="17577171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0B1F3A"/>
          </a:solidFill>
          <a:ln w="12700">
            <a:solidFill>
              <a:srgbClr val="0B1F3A"/>
            </a:solidFill>
            <a:prstDash val="solid"/>
          </a:ln>
        </p:spPr>
      </p:sp>
      <p:sp>
        <p:nvSpPr>
          <p:cNvPr id="3" name="Shape 1"/>
          <p:cNvSpPr/>
          <p:nvPr/>
        </p:nvSpPr>
        <p:spPr>
          <a:xfrm>
            <a:off x="548640" y="1097280"/>
            <a:ext cx="2011680" cy="64008"/>
          </a:xfrm>
          <a:prstGeom prst="rect">
            <a:avLst/>
          </a:prstGeom>
          <a:solidFill>
            <a:srgbClr val="1D4ED8"/>
          </a:solidFill>
          <a:ln w="12700">
            <a:solidFill>
              <a:srgbClr val="1D4ED8"/>
            </a:solidFill>
            <a:prstDash val="solid"/>
          </a:ln>
        </p:spPr>
      </p:sp>
      <p:sp>
        <p:nvSpPr>
          <p:cNvPr id="4" name="Text 2"/>
          <p:cNvSpPr txBox="1"/>
          <p:nvPr/>
        </p:nvSpPr>
        <p:spPr>
          <a:xfrm>
            <a:off x="548640" y="274320"/>
            <a:ext cx="9509760" cy="822960"/>
          </a:xfrm>
          <a:prstGeom prst="rect">
            <a:avLst/>
          </a:prstGeom>
          <a:noFill/>
          <a:ln/>
        </p:spPr>
        <p:txBody>
          <a:bodyPr wrap="square" lIns="0" tIns="0" rIns="0" bIns="0" rtlCol="0" anchor="ctr"/>
          <a:lstStyle/>
          <a:p>
            <a:pPr marL="0" indent="0">
              <a:buNone/>
            </a:pPr>
            <a:r>
              <a:rPr lang="en-US" sz="3600" b="1" dirty="0">
                <a:solidFill>
                  <a:srgbClr val="0B1F3A"/>
                </a:solidFill>
              </a:rPr>
              <a:t>Technology Stack &amp; Architecture</a:t>
            </a:r>
            <a:endParaRPr lang="en-US" sz="3600" dirty="0"/>
          </a:p>
        </p:txBody>
      </p:sp>
      <p:sp>
        <p:nvSpPr>
          <p:cNvPr id="7" name="Shape 4"/>
          <p:cNvSpPr/>
          <p:nvPr/>
        </p:nvSpPr>
        <p:spPr>
          <a:xfrm>
            <a:off x="548640" y="1371600"/>
            <a:ext cx="2377440" cy="822960"/>
          </a:xfrm>
          <a:prstGeom prst="roundRect">
            <a:avLst>
              <a:gd name="adj" fmla="val 8889"/>
            </a:avLst>
          </a:prstGeom>
          <a:solidFill>
            <a:srgbClr val="FFFFFF"/>
          </a:solidFill>
          <a:ln w="19050">
            <a:solidFill>
              <a:srgbClr val="5B6575"/>
            </a:solidFill>
            <a:prstDash val="solid"/>
          </a:ln>
        </p:spPr>
      </p:sp>
      <p:sp>
        <p:nvSpPr>
          <p:cNvPr id="8" name="Text 5"/>
          <p:cNvSpPr txBox="1"/>
          <p:nvPr/>
        </p:nvSpPr>
        <p:spPr>
          <a:xfrm>
            <a:off x="548640" y="1371600"/>
            <a:ext cx="2377440" cy="822960"/>
          </a:xfrm>
          <a:prstGeom prst="rect">
            <a:avLst/>
          </a:prstGeom>
          <a:noFill/>
          <a:ln/>
        </p:spPr>
        <p:txBody>
          <a:bodyPr wrap="square" lIns="635" tIns="635" rIns="635" bIns="635" rtlCol="0" anchor="ctr"/>
          <a:lstStyle/>
          <a:p>
            <a:pPr marL="0" indent="0" algn="ctr">
              <a:buNone/>
            </a:pPr>
            <a:r>
              <a:rPr lang="en-US" sz="2200" b="1" dirty="0">
                <a:solidFill>
                  <a:srgbClr val="1F2937"/>
                </a:solidFill>
              </a:rPr>
              <a:t>User</a:t>
            </a:r>
            <a:endParaRPr lang="en-US" sz="2200" dirty="0"/>
          </a:p>
        </p:txBody>
      </p:sp>
      <p:sp>
        <p:nvSpPr>
          <p:cNvPr id="9" name="Text 6"/>
          <p:cNvSpPr txBox="1"/>
          <p:nvPr/>
        </p:nvSpPr>
        <p:spPr>
          <a:xfrm>
            <a:off x="2926080" y="1371600"/>
            <a:ext cx="548640" cy="822960"/>
          </a:xfrm>
          <a:prstGeom prst="rect">
            <a:avLst/>
          </a:prstGeom>
          <a:noFill/>
          <a:ln/>
        </p:spPr>
        <p:txBody>
          <a:bodyPr wrap="square" lIns="0" tIns="0" rIns="0" bIns="0" rtlCol="0" anchor="ctr"/>
          <a:lstStyle/>
          <a:p>
            <a:pPr marL="0" indent="0" algn="ctr">
              <a:buNone/>
            </a:pPr>
            <a:r>
              <a:rPr lang="en-US" sz="3200" dirty="0">
                <a:solidFill>
                  <a:srgbClr val="1D4ED8"/>
                </a:solidFill>
              </a:rPr>
              <a:t>→</a:t>
            </a:r>
            <a:endParaRPr lang="en-US" sz="3200" dirty="0"/>
          </a:p>
        </p:txBody>
      </p:sp>
      <p:sp>
        <p:nvSpPr>
          <p:cNvPr id="10" name="Shape 7"/>
          <p:cNvSpPr/>
          <p:nvPr/>
        </p:nvSpPr>
        <p:spPr>
          <a:xfrm>
            <a:off x="3474720" y="1371600"/>
            <a:ext cx="2377440" cy="822960"/>
          </a:xfrm>
          <a:prstGeom prst="roundRect">
            <a:avLst>
              <a:gd name="adj" fmla="val 8889"/>
            </a:avLst>
          </a:prstGeom>
          <a:solidFill>
            <a:srgbClr val="FFFFFF"/>
          </a:solidFill>
          <a:ln w="19050">
            <a:solidFill>
              <a:srgbClr val="5B6575"/>
            </a:solidFill>
            <a:prstDash val="solid"/>
          </a:ln>
        </p:spPr>
      </p:sp>
      <p:sp>
        <p:nvSpPr>
          <p:cNvPr id="11" name="Text 8"/>
          <p:cNvSpPr txBox="1"/>
          <p:nvPr/>
        </p:nvSpPr>
        <p:spPr>
          <a:xfrm>
            <a:off x="3474720" y="1371600"/>
            <a:ext cx="2377440" cy="822960"/>
          </a:xfrm>
          <a:prstGeom prst="rect">
            <a:avLst/>
          </a:prstGeom>
          <a:noFill/>
          <a:ln/>
        </p:spPr>
        <p:txBody>
          <a:bodyPr wrap="square" lIns="635" tIns="635" rIns="635" bIns="635" rtlCol="0" anchor="ctr"/>
          <a:lstStyle/>
          <a:p>
            <a:pPr marL="0" indent="0" algn="ctr">
              <a:buNone/>
            </a:pPr>
            <a:r>
              <a:rPr lang="en-US" sz="2200" b="1" dirty="0">
                <a:solidFill>
                  <a:srgbClr val="1F2937"/>
                </a:solidFill>
              </a:rPr>
              <a:t>HTML / CSS / JS</a:t>
            </a:r>
            <a:endParaRPr lang="en-US" sz="2200" dirty="0"/>
          </a:p>
        </p:txBody>
      </p:sp>
      <p:sp>
        <p:nvSpPr>
          <p:cNvPr id="12" name="Text 9"/>
          <p:cNvSpPr txBox="1"/>
          <p:nvPr/>
        </p:nvSpPr>
        <p:spPr>
          <a:xfrm>
            <a:off x="5852160" y="1371600"/>
            <a:ext cx="548640" cy="822960"/>
          </a:xfrm>
          <a:prstGeom prst="rect">
            <a:avLst/>
          </a:prstGeom>
          <a:noFill/>
          <a:ln/>
        </p:spPr>
        <p:txBody>
          <a:bodyPr wrap="square" lIns="0" tIns="0" rIns="0" bIns="0" rtlCol="0" anchor="ctr"/>
          <a:lstStyle/>
          <a:p>
            <a:pPr marL="0" indent="0" algn="ctr">
              <a:buNone/>
            </a:pPr>
            <a:r>
              <a:rPr lang="en-US" sz="3200" dirty="0">
                <a:solidFill>
                  <a:srgbClr val="1D4ED8"/>
                </a:solidFill>
              </a:rPr>
              <a:t>→</a:t>
            </a:r>
            <a:endParaRPr lang="en-US" sz="3200" dirty="0"/>
          </a:p>
        </p:txBody>
      </p:sp>
      <p:sp>
        <p:nvSpPr>
          <p:cNvPr id="13" name="Shape 10"/>
          <p:cNvSpPr/>
          <p:nvPr/>
        </p:nvSpPr>
        <p:spPr>
          <a:xfrm>
            <a:off x="6400800" y="1371600"/>
            <a:ext cx="2377440" cy="822960"/>
          </a:xfrm>
          <a:prstGeom prst="roundRect">
            <a:avLst>
              <a:gd name="adj" fmla="val 8889"/>
            </a:avLst>
          </a:prstGeom>
          <a:solidFill>
            <a:srgbClr val="FFFFFF"/>
          </a:solidFill>
          <a:ln w="19050">
            <a:solidFill>
              <a:srgbClr val="5B6575"/>
            </a:solidFill>
            <a:prstDash val="solid"/>
          </a:ln>
        </p:spPr>
      </p:sp>
      <p:sp>
        <p:nvSpPr>
          <p:cNvPr id="14" name="Text 11"/>
          <p:cNvSpPr txBox="1"/>
          <p:nvPr/>
        </p:nvSpPr>
        <p:spPr>
          <a:xfrm>
            <a:off x="6400800" y="1371600"/>
            <a:ext cx="2377440" cy="822960"/>
          </a:xfrm>
          <a:prstGeom prst="rect">
            <a:avLst/>
          </a:prstGeom>
          <a:noFill/>
          <a:ln/>
        </p:spPr>
        <p:txBody>
          <a:bodyPr wrap="square" lIns="635" tIns="635" rIns="635" bIns="635" rtlCol="0" anchor="ctr"/>
          <a:lstStyle/>
          <a:p>
            <a:pPr marL="0" indent="0" algn="ctr">
              <a:buNone/>
            </a:pPr>
            <a:r>
              <a:rPr lang="en-US" sz="2200" b="1" dirty="0">
                <a:solidFill>
                  <a:srgbClr val="1F2937"/>
                </a:solidFill>
              </a:rPr>
              <a:t>Flask Backend</a:t>
            </a:r>
            <a:endParaRPr lang="en-US" sz="2200" dirty="0"/>
          </a:p>
        </p:txBody>
      </p:sp>
      <p:sp>
        <p:nvSpPr>
          <p:cNvPr id="15" name="Text 12"/>
          <p:cNvSpPr txBox="1"/>
          <p:nvPr/>
        </p:nvSpPr>
        <p:spPr>
          <a:xfrm>
            <a:off x="8778240" y="1371600"/>
            <a:ext cx="548640" cy="822960"/>
          </a:xfrm>
          <a:prstGeom prst="rect">
            <a:avLst/>
          </a:prstGeom>
          <a:noFill/>
          <a:ln/>
        </p:spPr>
        <p:txBody>
          <a:bodyPr wrap="square" lIns="0" tIns="0" rIns="0" bIns="0" rtlCol="0" anchor="ctr"/>
          <a:lstStyle/>
          <a:p>
            <a:pPr marL="0" indent="0" algn="ctr">
              <a:buNone/>
            </a:pPr>
            <a:r>
              <a:rPr lang="en-US" sz="3200" dirty="0">
                <a:solidFill>
                  <a:srgbClr val="1D4ED8"/>
                </a:solidFill>
              </a:rPr>
              <a:t>→</a:t>
            </a:r>
            <a:endParaRPr lang="en-US" sz="3200" dirty="0"/>
          </a:p>
        </p:txBody>
      </p:sp>
      <p:sp>
        <p:nvSpPr>
          <p:cNvPr id="16" name="Shape 13"/>
          <p:cNvSpPr/>
          <p:nvPr/>
        </p:nvSpPr>
        <p:spPr>
          <a:xfrm>
            <a:off x="9326880" y="1371600"/>
            <a:ext cx="2377440" cy="822960"/>
          </a:xfrm>
          <a:prstGeom prst="roundRect">
            <a:avLst>
              <a:gd name="adj" fmla="val 8889"/>
            </a:avLst>
          </a:prstGeom>
          <a:solidFill>
            <a:srgbClr val="1D4ED8"/>
          </a:solidFill>
          <a:ln w="19050">
            <a:solidFill>
              <a:srgbClr val="1D4ED8"/>
            </a:solidFill>
            <a:prstDash val="solid"/>
          </a:ln>
        </p:spPr>
      </p:sp>
      <p:sp>
        <p:nvSpPr>
          <p:cNvPr id="17" name="Text 14"/>
          <p:cNvSpPr txBox="1"/>
          <p:nvPr/>
        </p:nvSpPr>
        <p:spPr>
          <a:xfrm>
            <a:off x="9326880" y="1371600"/>
            <a:ext cx="2377440" cy="822960"/>
          </a:xfrm>
          <a:prstGeom prst="rect">
            <a:avLst/>
          </a:prstGeom>
          <a:noFill/>
          <a:ln/>
        </p:spPr>
        <p:txBody>
          <a:bodyPr wrap="square" lIns="635" tIns="635" rIns="635" bIns="635" rtlCol="0" anchor="ctr"/>
          <a:lstStyle/>
          <a:p>
            <a:pPr marL="0" indent="0" algn="ctr">
              <a:buNone/>
            </a:pPr>
            <a:r>
              <a:rPr lang="en-US" sz="2200" b="1" dirty="0">
                <a:solidFill>
                  <a:srgbClr val="F4F6FA"/>
                </a:solidFill>
              </a:rPr>
              <a:t>MySQL Database</a:t>
            </a:r>
            <a:endParaRPr lang="en-US" sz="2200" dirty="0"/>
          </a:p>
        </p:txBody>
      </p:sp>
      <p:sp>
        <p:nvSpPr>
          <p:cNvPr id="18" name="Shape 15"/>
          <p:cNvSpPr/>
          <p:nvPr/>
        </p:nvSpPr>
        <p:spPr>
          <a:xfrm>
            <a:off x="548640" y="2560320"/>
            <a:ext cx="5486400" cy="3749040"/>
          </a:xfrm>
          <a:prstGeom prst="roundRect">
            <a:avLst>
              <a:gd name="adj" fmla="val 2439"/>
            </a:avLst>
          </a:prstGeom>
          <a:solidFill>
            <a:srgbClr val="FFFFFF"/>
          </a:solidFill>
          <a:ln w="12700">
            <a:solidFill>
              <a:srgbClr val="D5DBE6"/>
            </a:solidFill>
            <a:prstDash val="solid"/>
          </a:ln>
        </p:spPr>
      </p:sp>
      <p:sp>
        <p:nvSpPr>
          <p:cNvPr id="19" name="Text 16"/>
          <p:cNvSpPr txBox="1"/>
          <p:nvPr/>
        </p:nvSpPr>
        <p:spPr>
          <a:xfrm>
            <a:off x="777240" y="2743200"/>
            <a:ext cx="5120640" cy="4114800"/>
          </a:xfrm>
          <a:prstGeom prst="rect">
            <a:avLst/>
          </a:prstGeom>
          <a:noFill/>
          <a:ln/>
        </p:spPr>
        <p:txBody>
          <a:bodyPr wrap="square" lIns="0" tIns="0" rIns="0" bIns="0" rtlCol="0" anchor="t"/>
          <a:lstStyle/>
          <a:p>
            <a:pPr marL="342900" indent="-342900">
              <a:spcAft>
                <a:spcPts val="600"/>
              </a:spcAft>
              <a:buSzPct val="100000"/>
              <a:buChar char="•"/>
            </a:pPr>
            <a:r>
              <a:rPr lang="en-US" sz="2000" dirty="0">
                <a:solidFill>
                  <a:srgbClr val="1F2937"/>
                </a:solidFill>
              </a:rPr>
              <a:t>Frontend: HTML5, CSS3, Vanilla JS</a:t>
            </a:r>
            <a:endParaRPr lang="en-US" sz="2000" dirty="0"/>
          </a:p>
          <a:p>
            <a:pPr marL="342900" indent="-342900">
              <a:spcAft>
                <a:spcPts val="600"/>
              </a:spcAft>
              <a:buSzPct val="100000"/>
              <a:buChar char="•"/>
            </a:pPr>
            <a:r>
              <a:rPr lang="en-US" sz="2000" dirty="0">
                <a:solidFill>
                  <a:srgbClr val="1F2937"/>
                </a:solidFill>
              </a:rPr>
              <a:t>Backend: Python 3, Flask</a:t>
            </a:r>
            <a:endParaRPr lang="en-US" sz="2000" dirty="0"/>
          </a:p>
          <a:p>
            <a:pPr marL="342900" indent="-342900">
              <a:spcAft>
                <a:spcPts val="600"/>
              </a:spcAft>
              <a:buSzPct val="100000"/>
              <a:buChar char="•"/>
            </a:pPr>
            <a:r>
              <a:rPr lang="en-US" sz="2000" dirty="0">
                <a:solidFill>
                  <a:srgbClr val="1F2937"/>
                </a:solidFill>
              </a:rPr>
              <a:t>Database: MySQL 8+</a:t>
            </a:r>
            <a:endParaRPr lang="en-US" sz="2000" dirty="0"/>
          </a:p>
          <a:p>
            <a:pPr marL="342900" indent="-342900">
              <a:spcAft>
                <a:spcPts val="600"/>
              </a:spcAft>
              <a:buSzPct val="100000"/>
              <a:buChar char="•"/>
            </a:pPr>
            <a:r>
              <a:rPr lang="en-US" sz="2000" dirty="0">
                <a:solidFill>
                  <a:srgbClr val="1F2937"/>
                </a:solidFill>
              </a:rPr>
              <a:t>Connector: mysql-connector-python</a:t>
            </a:r>
            <a:endParaRPr lang="en-US" sz="2000" dirty="0"/>
          </a:p>
          <a:p>
            <a:pPr marL="342900" indent="-342900">
              <a:spcAft>
                <a:spcPts val="600"/>
              </a:spcAft>
              <a:buSzPct val="100000"/>
              <a:buChar char="•"/>
            </a:pPr>
            <a:r>
              <a:rPr lang="en-US" sz="2000" dirty="0">
                <a:solidFill>
                  <a:srgbClr val="1F2937"/>
                </a:solidFill>
              </a:rPr>
              <a:t>Passwords: Werkzeug hashing</a:t>
            </a:r>
            <a:endParaRPr lang="en-US" sz="2000" dirty="0"/>
          </a:p>
          <a:p>
            <a:pPr marL="342900" indent="-342900">
              <a:spcAft>
                <a:spcPts val="600"/>
              </a:spcAft>
              <a:buSzPct val="100000"/>
              <a:buChar char="•"/>
            </a:pPr>
            <a:r>
              <a:rPr lang="en-US" sz="2000" dirty="0">
                <a:solidFill>
                  <a:srgbClr val="1F2937"/>
                </a:solidFill>
              </a:rPr>
              <a:t>Testing: Pytest</a:t>
            </a:r>
            <a:endParaRPr lang="en-US" sz="2000" dirty="0"/>
          </a:p>
          <a:p>
            <a:pPr marL="342900" indent="-342900">
              <a:spcAft>
                <a:spcPts val="600"/>
              </a:spcAft>
              <a:buSzPct val="100000"/>
              <a:buChar char="•"/>
            </a:pPr>
            <a:r>
              <a:rPr lang="en-US" sz="2000" dirty="0">
                <a:solidFill>
                  <a:srgbClr val="1F2937"/>
                </a:solidFill>
              </a:rPr>
              <a:t>Payment is simulated</a:t>
            </a:r>
            <a:endParaRPr lang="en-US" sz="2000" dirty="0"/>
          </a:p>
        </p:txBody>
      </p:sp>
      <p:sp>
        <p:nvSpPr>
          <p:cNvPr id="20" name="Shape 17"/>
          <p:cNvSpPr/>
          <p:nvPr/>
        </p:nvSpPr>
        <p:spPr>
          <a:xfrm>
            <a:off x="6309360" y="2560320"/>
            <a:ext cx="5303520" cy="3749040"/>
          </a:xfrm>
          <a:prstGeom prst="roundRect">
            <a:avLst>
              <a:gd name="adj" fmla="val 1951"/>
            </a:avLst>
          </a:prstGeom>
          <a:solidFill>
            <a:srgbClr val="0B1F3A"/>
          </a:solidFill>
          <a:ln w="12700">
            <a:solidFill>
              <a:srgbClr val="0B1F3A"/>
            </a:solidFill>
            <a:prstDash val="solid"/>
          </a:ln>
        </p:spPr>
      </p:sp>
      <p:sp>
        <p:nvSpPr>
          <p:cNvPr id="21" name="Text 18"/>
          <p:cNvSpPr txBox="1"/>
          <p:nvPr/>
        </p:nvSpPr>
        <p:spPr>
          <a:xfrm>
            <a:off x="6492240" y="2560320"/>
            <a:ext cx="4937760" cy="3749040"/>
          </a:xfrm>
          <a:prstGeom prst="rect">
            <a:avLst/>
          </a:prstGeom>
          <a:noFill/>
          <a:ln/>
        </p:spPr>
        <p:txBody>
          <a:bodyPr wrap="square" lIns="0" tIns="0" rIns="0" bIns="0" rtlCol="0" anchor="ctr"/>
          <a:lstStyle/>
          <a:p>
            <a:pPr marL="0" indent="0">
              <a:buNone/>
            </a:pPr>
            <a:r>
              <a:rPr lang="en-US" sz="1600" dirty="0">
                <a:solidFill>
                  <a:srgbClr val="E6EDF7"/>
                </a:solidFill>
                <a:latin typeface="Consolas" pitchFamily="34" charset="0"/>
                <a:ea typeface="Consolas" pitchFamily="34" charset="-122"/>
                <a:cs typeface="Consolas" pitchFamily="34" charset="-120"/>
              </a:rPr>
              <a:t>CineBook/</a:t>
            </a:r>
            <a:endParaRPr lang="en-US" sz="1600" dirty="0"/>
          </a:p>
          <a:p>
            <a:pPr marL="0" indent="0">
              <a:buNone/>
            </a:pPr>
            <a:r>
              <a:rPr lang="en-US" sz="1600" dirty="0">
                <a:solidFill>
                  <a:srgbClr val="E6EDF7"/>
                </a:solidFill>
                <a:latin typeface="Consolas" pitchFamily="34" charset="0"/>
                <a:ea typeface="Consolas" pitchFamily="34" charset="-122"/>
                <a:cs typeface="Consolas" pitchFamily="34" charset="-120"/>
              </a:rPr>
              <a:t>├── app/  (routes.py, db.py,</a:t>
            </a:r>
            <a:endParaRPr lang="en-US" sz="1600" dirty="0"/>
          </a:p>
          <a:p>
            <a:pPr marL="0" indent="0">
              <a:buNone/>
            </a:pPr>
            <a:r>
              <a:rPr lang="en-US" sz="1600" dirty="0">
                <a:solidFill>
                  <a:srgbClr val="E6EDF7"/>
                </a:solidFill>
                <a:latin typeface="Consolas" pitchFamily="34" charset="0"/>
                <a:ea typeface="Consolas" pitchFamily="34" charset="-122"/>
                <a:cs typeface="Consolas" pitchFamily="34" charset="-120"/>
              </a:rPr>
              <a:t>│        templates/, static/)</a:t>
            </a:r>
            <a:endParaRPr lang="en-US" sz="1600" dirty="0"/>
          </a:p>
          <a:p>
            <a:pPr marL="0" indent="0">
              <a:buNone/>
            </a:pPr>
            <a:r>
              <a:rPr lang="en-US" sz="1600" dirty="0">
                <a:solidFill>
                  <a:srgbClr val="E6EDF7"/>
                </a:solidFill>
                <a:latin typeface="Consolas" pitchFamily="34" charset="0"/>
                <a:ea typeface="Consolas" pitchFamily="34" charset="-122"/>
                <a:cs typeface="Consolas" pitchFamily="34" charset="-120"/>
              </a:rPr>
              <a:t>├── database/ (schema.sql, seed.sql)</a:t>
            </a:r>
            <a:endParaRPr lang="en-US" sz="1600" dirty="0"/>
          </a:p>
          <a:p>
            <a:pPr marL="0" indent="0">
              <a:buNone/>
            </a:pPr>
            <a:r>
              <a:rPr lang="en-US" sz="1600" dirty="0">
                <a:solidFill>
                  <a:srgbClr val="E6EDF7"/>
                </a:solidFill>
                <a:latin typeface="Consolas" pitchFamily="34" charset="0"/>
                <a:ea typeface="Consolas" pitchFamily="34" charset="-122"/>
                <a:cs typeface="Consolas" pitchFamily="34" charset="-120"/>
              </a:rPr>
              <a:t>├── docs/</a:t>
            </a:r>
            <a:endParaRPr lang="en-US" sz="1600" dirty="0"/>
          </a:p>
          <a:p>
            <a:pPr marL="0" indent="0">
              <a:buNone/>
            </a:pPr>
            <a:r>
              <a:rPr lang="en-US" sz="1600" dirty="0">
                <a:solidFill>
                  <a:srgbClr val="E6EDF7"/>
                </a:solidFill>
                <a:latin typeface="Consolas" pitchFamily="34" charset="0"/>
                <a:ea typeface="Consolas" pitchFamily="34" charset="-122"/>
                <a:cs typeface="Consolas" pitchFamily="34" charset="-120"/>
              </a:rPr>
              <a:t>├── tests/</a:t>
            </a:r>
            <a:endParaRPr lang="en-US" sz="1600" dirty="0"/>
          </a:p>
          <a:p>
            <a:pPr marL="0" indent="0">
              <a:buNone/>
            </a:pPr>
            <a:r>
              <a:rPr lang="en-US" sz="1600" dirty="0">
                <a:solidFill>
                  <a:srgbClr val="E6EDF7"/>
                </a:solidFill>
                <a:latin typeface="Consolas" pitchFamily="34" charset="0"/>
                <a:ea typeface="Consolas" pitchFamily="34" charset="-122"/>
                <a:cs typeface="Consolas" pitchFamily="34" charset="-120"/>
              </a:rPr>
              <a:t>├── screenshots/</a:t>
            </a:r>
            <a:endParaRPr lang="en-US" sz="1600" dirty="0"/>
          </a:p>
          <a:p>
            <a:pPr marL="0" indent="0">
              <a:buNone/>
            </a:pPr>
            <a:r>
              <a:rPr lang="en-US" sz="1600" dirty="0">
                <a:solidFill>
                  <a:srgbClr val="E6EDF7"/>
                </a:solidFill>
                <a:latin typeface="Consolas" pitchFamily="34" charset="0"/>
                <a:ea typeface="Consolas" pitchFamily="34" charset="-122"/>
                <a:cs typeface="Consolas" pitchFamily="34" charset="-120"/>
              </a:rPr>
              <a:t>├── .env.example</a:t>
            </a:r>
            <a:endParaRPr lang="en-US" sz="1600" dirty="0"/>
          </a:p>
          <a:p>
            <a:pPr marL="0" indent="0">
              <a:buNone/>
            </a:pPr>
            <a:r>
              <a:rPr lang="en-US" sz="1600" dirty="0">
                <a:solidFill>
                  <a:srgbClr val="E6EDF7"/>
                </a:solidFill>
                <a:latin typeface="Consolas" pitchFamily="34" charset="0"/>
                <a:ea typeface="Consolas" pitchFamily="34" charset="-122"/>
                <a:cs typeface="Consolas" pitchFamily="34" charset="-120"/>
              </a:rPr>
              <a:t>├── requirements.txt</a:t>
            </a:r>
            <a:endParaRPr lang="en-US" sz="1600" dirty="0"/>
          </a:p>
          <a:p>
            <a:pPr marL="0" indent="0">
              <a:buNone/>
            </a:pPr>
            <a:r>
              <a:rPr lang="en-US" sz="1600" dirty="0">
                <a:solidFill>
                  <a:srgbClr val="E6EDF7"/>
                </a:solidFill>
                <a:latin typeface="Consolas" pitchFamily="34" charset="0"/>
                <a:ea typeface="Consolas" pitchFamily="34" charset="-122"/>
                <a:cs typeface="Consolas" pitchFamily="34" charset="-120"/>
              </a:rPr>
              <a:t>├── README.md</a:t>
            </a:r>
            <a:endParaRPr lang="en-US" sz="1600" dirty="0"/>
          </a:p>
          <a:p>
            <a:pPr marL="0" indent="0">
              <a:buNone/>
            </a:pPr>
            <a:r>
              <a:rPr lang="en-US" sz="1600" dirty="0">
                <a:solidFill>
                  <a:srgbClr val="E6EDF7"/>
                </a:solidFill>
                <a:latin typeface="Consolas" pitchFamily="34" charset="0"/>
                <a:ea typeface="Consolas" pitchFamily="34" charset="-122"/>
                <a:cs typeface="Consolas" pitchFamily="34" charset="-120"/>
              </a:rPr>
              <a:t>└── run.py</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0B1F3A"/>
          </a:solidFill>
          <a:ln w="12700">
            <a:solidFill>
              <a:srgbClr val="0B1F3A"/>
            </a:solidFill>
            <a:prstDash val="solid"/>
          </a:ln>
        </p:spPr>
      </p:sp>
      <p:sp>
        <p:nvSpPr>
          <p:cNvPr id="3" name="Shape 1"/>
          <p:cNvSpPr/>
          <p:nvPr/>
        </p:nvSpPr>
        <p:spPr>
          <a:xfrm>
            <a:off x="548640" y="1097280"/>
            <a:ext cx="2011680" cy="64008"/>
          </a:xfrm>
          <a:prstGeom prst="rect">
            <a:avLst/>
          </a:prstGeom>
          <a:solidFill>
            <a:srgbClr val="1D4ED8"/>
          </a:solidFill>
          <a:ln w="12700">
            <a:solidFill>
              <a:srgbClr val="1D4ED8"/>
            </a:solidFill>
            <a:prstDash val="solid"/>
          </a:ln>
        </p:spPr>
      </p:sp>
      <p:sp>
        <p:nvSpPr>
          <p:cNvPr id="4" name="Text 2"/>
          <p:cNvSpPr txBox="1"/>
          <p:nvPr/>
        </p:nvSpPr>
        <p:spPr>
          <a:xfrm>
            <a:off x="548640" y="274320"/>
            <a:ext cx="9509760" cy="822960"/>
          </a:xfrm>
          <a:prstGeom prst="rect">
            <a:avLst/>
          </a:prstGeom>
          <a:noFill/>
          <a:ln/>
        </p:spPr>
        <p:txBody>
          <a:bodyPr wrap="square" lIns="0" tIns="0" rIns="0" bIns="0" rtlCol="0" anchor="ctr"/>
          <a:lstStyle/>
          <a:p>
            <a:pPr marL="0" indent="0">
              <a:buNone/>
            </a:pPr>
            <a:r>
              <a:rPr lang="en-US" sz="3600" b="1" dirty="0">
                <a:solidFill>
                  <a:srgbClr val="0B1F3A"/>
                </a:solidFill>
              </a:rPr>
              <a:t>Database Tables (10)</a:t>
            </a:r>
            <a:endParaRPr lang="en-US" sz="3600" dirty="0"/>
          </a:p>
        </p:txBody>
      </p:sp>
      <p:sp>
        <p:nvSpPr>
          <p:cNvPr id="7" name="Shape 4"/>
          <p:cNvSpPr/>
          <p:nvPr/>
        </p:nvSpPr>
        <p:spPr>
          <a:xfrm>
            <a:off x="548640" y="1371600"/>
            <a:ext cx="5394960" cy="868680"/>
          </a:xfrm>
          <a:prstGeom prst="roundRect">
            <a:avLst>
              <a:gd name="adj" fmla="val 10526"/>
            </a:avLst>
          </a:prstGeom>
          <a:solidFill>
            <a:srgbClr val="FFFFFF"/>
          </a:solidFill>
          <a:ln w="12700">
            <a:solidFill>
              <a:srgbClr val="D5DBE6"/>
            </a:solidFill>
            <a:prstDash val="solid"/>
          </a:ln>
        </p:spPr>
      </p:sp>
      <p:sp>
        <p:nvSpPr>
          <p:cNvPr id="8" name="Text 5"/>
          <p:cNvSpPr txBox="1"/>
          <p:nvPr/>
        </p:nvSpPr>
        <p:spPr>
          <a:xfrm>
            <a:off x="731520" y="1371600"/>
            <a:ext cx="5029200" cy="868680"/>
          </a:xfrm>
          <a:prstGeom prst="rect">
            <a:avLst/>
          </a:prstGeom>
          <a:noFill/>
          <a:ln/>
        </p:spPr>
        <p:txBody>
          <a:bodyPr wrap="square" lIns="0" tIns="0" rIns="0" bIns="0" rtlCol="0" anchor="ctr"/>
          <a:lstStyle/>
          <a:p>
            <a:pPr marL="0" indent="0">
              <a:buNone/>
            </a:pPr>
            <a:r>
              <a:rPr lang="en-US" sz="2200" b="1" dirty="0">
                <a:solidFill>
                  <a:srgbClr val="1D4ED8"/>
                </a:solidFill>
                <a:latin typeface="Consolas" pitchFamily="34" charset="0"/>
                <a:ea typeface="Consolas" pitchFamily="34" charset="-122"/>
                <a:cs typeface="Consolas" pitchFamily="34" charset="-120"/>
              </a:rPr>
              <a:t>users</a:t>
            </a:r>
            <a:endParaRPr lang="en-US" sz="2200" dirty="0"/>
          </a:p>
          <a:p>
            <a:pPr marL="0" indent="0">
              <a:buNone/>
            </a:pPr>
            <a:r>
              <a:rPr lang="en-US" sz="1800" dirty="0">
                <a:solidFill>
                  <a:srgbClr val="1F2937"/>
                </a:solidFill>
              </a:rPr>
              <a:t>Registered users</a:t>
            </a:r>
            <a:endParaRPr lang="en-US" sz="2200" dirty="0"/>
          </a:p>
        </p:txBody>
      </p:sp>
      <p:sp>
        <p:nvSpPr>
          <p:cNvPr id="9" name="Shape 6"/>
          <p:cNvSpPr/>
          <p:nvPr/>
        </p:nvSpPr>
        <p:spPr>
          <a:xfrm>
            <a:off x="6172200" y="1371600"/>
            <a:ext cx="5394960" cy="868680"/>
          </a:xfrm>
          <a:prstGeom prst="roundRect">
            <a:avLst>
              <a:gd name="adj" fmla="val 10526"/>
            </a:avLst>
          </a:prstGeom>
          <a:solidFill>
            <a:srgbClr val="FFFFFF"/>
          </a:solidFill>
          <a:ln w="12700">
            <a:solidFill>
              <a:srgbClr val="D5DBE6"/>
            </a:solidFill>
            <a:prstDash val="solid"/>
          </a:ln>
        </p:spPr>
      </p:sp>
      <p:sp>
        <p:nvSpPr>
          <p:cNvPr id="10" name="Text 7"/>
          <p:cNvSpPr txBox="1"/>
          <p:nvPr/>
        </p:nvSpPr>
        <p:spPr>
          <a:xfrm>
            <a:off x="6355080" y="1371600"/>
            <a:ext cx="5029200" cy="868680"/>
          </a:xfrm>
          <a:prstGeom prst="rect">
            <a:avLst/>
          </a:prstGeom>
          <a:noFill/>
          <a:ln/>
        </p:spPr>
        <p:txBody>
          <a:bodyPr wrap="square" lIns="0" tIns="0" rIns="0" bIns="0" rtlCol="0" anchor="ctr"/>
          <a:lstStyle/>
          <a:p>
            <a:pPr marL="0" indent="0">
              <a:buNone/>
            </a:pPr>
            <a:r>
              <a:rPr lang="en-US" sz="2200" b="1" dirty="0">
                <a:solidFill>
                  <a:srgbClr val="1D4ED8"/>
                </a:solidFill>
                <a:latin typeface="Consolas" pitchFamily="34" charset="0"/>
                <a:ea typeface="Consolas" pitchFamily="34" charset="-122"/>
                <a:cs typeface="Consolas" pitchFamily="34" charset="-120"/>
              </a:rPr>
              <a:t>movies</a:t>
            </a:r>
            <a:endParaRPr lang="en-US" sz="2200" dirty="0"/>
          </a:p>
          <a:p>
            <a:pPr marL="0" indent="0">
              <a:buNone/>
            </a:pPr>
            <a:r>
              <a:rPr lang="en-US" sz="1800" dirty="0">
                <a:solidFill>
                  <a:srgbClr val="1F2937"/>
                </a:solidFill>
              </a:rPr>
              <a:t>Movie details</a:t>
            </a:r>
            <a:endParaRPr lang="en-US" sz="2200" dirty="0"/>
          </a:p>
        </p:txBody>
      </p:sp>
      <p:sp>
        <p:nvSpPr>
          <p:cNvPr id="11" name="Shape 8"/>
          <p:cNvSpPr/>
          <p:nvPr/>
        </p:nvSpPr>
        <p:spPr>
          <a:xfrm>
            <a:off x="548640" y="2377440"/>
            <a:ext cx="5394960" cy="868680"/>
          </a:xfrm>
          <a:prstGeom prst="roundRect">
            <a:avLst>
              <a:gd name="adj" fmla="val 10526"/>
            </a:avLst>
          </a:prstGeom>
          <a:solidFill>
            <a:srgbClr val="FFFFFF"/>
          </a:solidFill>
          <a:ln w="12700">
            <a:solidFill>
              <a:srgbClr val="D5DBE6"/>
            </a:solidFill>
            <a:prstDash val="solid"/>
          </a:ln>
        </p:spPr>
      </p:sp>
      <p:sp>
        <p:nvSpPr>
          <p:cNvPr id="12" name="Text 9"/>
          <p:cNvSpPr txBox="1"/>
          <p:nvPr/>
        </p:nvSpPr>
        <p:spPr>
          <a:xfrm>
            <a:off x="731520" y="2377440"/>
            <a:ext cx="5029200" cy="868680"/>
          </a:xfrm>
          <a:prstGeom prst="rect">
            <a:avLst/>
          </a:prstGeom>
          <a:noFill/>
          <a:ln/>
        </p:spPr>
        <p:txBody>
          <a:bodyPr wrap="square" lIns="0" tIns="0" rIns="0" bIns="0" rtlCol="0" anchor="ctr"/>
          <a:lstStyle/>
          <a:p>
            <a:pPr marL="0" indent="0">
              <a:buNone/>
            </a:pPr>
            <a:r>
              <a:rPr lang="en-US" sz="2200" b="1" dirty="0">
                <a:solidFill>
                  <a:srgbClr val="1D4ED8"/>
                </a:solidFill>
                <a:latin typeface="Consolas" pitchFamily="34" charset="0"/>
                <a:ea typeface="Consolas" pitchFamily="34" charset="-122"/>
                <a:cs typeface="Consolas" pitchFamily="34" charset="-120"/>
              </a:rPr>
              <a:t>cinemas</a:t>
            </a:r>
            <a:endParaRPr lang="en-US" sz="2200" dirty="0"/>
          </a:p>
          <a:p>
            <a:pPr marL="0" indent="0">
              <a:buNone/>
            </a:pPr>
            <a:r>
              <a:rPr lang="en-US" sz="1800" dirty="0">
                <a:solidFill>
                  <a:srgbClr val="1F2937"/>
                </a:solidFill>
              </a:rPr>
              <a:t>Cinema locations</a:t>
            </a:r>
            <a:endParaRPr lang="en-US" sz="2200" dirty="0"/>
          </a:p>
        </p:txBody>
      </p:sp>
      <p:sp>
        <p:nvSpPr>
          <p:cNvPr id="13" name="Shape 10"/>
          <p:cNvSpPr/>
          <p:nvPr/>
        </p:nvSpPr>
        <p:spPr>
          <a:xfrm>
            <a:off x="6172200" y="2377440"/>
            <a:ext cx="5394960" cy="868680"/>
          </a:xfrm>
          <a:prstGeom prst="roundRect">
            <a:avLst>
              <a:gd name="adj" fmla="val 10526"/>
            </a:avLst>
          </a:prstGeom>
          <a:solidFill>
            <a:srgbClr val="FFFFFF"/>
          </a:solidFill>
          <a:ln w="12700">
            <a:solidFill>
              <a:srgbClr val="D5DBE6"/>
            </a:solidFill>
            <a:prstDash val="solid"/>
          </a:ln>
        </p:spPr>
      </p:sp>
      <p:sp>
        <p:nvSpPr>
          <p:cNvPr id="14" name="Text 11"/>
          <p:cNvSpPr txBox="1"/>
          <p:nvPr/>
        </p:nvSpPr>
        <p:spPr>
          <a:xfrm>
            <a:off x="6355080" y="2377440"/>
            <a:ext cx="5029200" cy="868680"/>
          </a:xfrm>
          <a:prstGeom prst="rect">
            <a:avLst/>
          </a:prstGeom>
          <a:noFill/>
          <a:ln/>
        </p:spPr>
        <p:txBody>
          <a:bodyPr wrap="square" lIns="0" tIns="0" rIns="0" bIns="0" rtlCol="0" anchor="ctr"/>
          <a:lstStyle/>
          <a:p>
            <a:pPr marL="0" indent="0">
              <a:buNone/>
            </a:pPr>
            <a:r>
              <a:rPr lang="en-US" sz="2200" b="1" dirty="0">
                <a:solidFill>
                  <a:srgbClr val="1D4ED8"/>
                </a:solidFill>
                <a:latin typeface="Consolas" pitchFamily="34" charset="0"/>
                <a:ea typeface="Consolas" pitchFamily="34" charset="-122"/>
                <a:cs typeface="Consolas" pitchFamily="34" charset="-120"/>
              </a:rPr>
              <a:t>screens</a:t>
            </a:r>
            <a:endParaRPr lang="en-US" sz="2200" dirty="0"/>
          </a:p>
          <a:p>
            <a:pPr marL="0" indent="0">
              <a:buNone/>
            </a:pPr>
            <a:r>
              <a:rPr lang="en-US" sz="1800" dirty="0">
                <a:solidFill>
                  <a:srgbClr val="1F2937"/>
                </a:solidFill>
              </a:rPr>
              <a:t>Screens in a cinema</a:t>
            </a:r>
            <a:endParaRPr lang="en-US" sz="2200" dirty="0"/>
          </a:p>
        </p:txBody>
      </p:sp>
      <p:sp>
        <p:nvSpPr>
          <p:cNvPr id="15" name="Shape 12"/>
          <p:cNvSpPr/>
          <p:nvPr/>
        </p:nvSpPr>
        <p:spPr>
          <a:xfrm>
            <a:off x="548640" y="3383280"/>
            <a:ext cx="5394960" cy="868680"/>
          </a:xfrm>
          <a:prstGeom prst="roundRect">
            <a:avLst>
              <a:gd name="adj" fmla="val 10526"/>
            </a:avLst>
          </a:prstGeom>
          <a:solidFill>
            <a:srgbClr val="FFFFFF"/>
          </a:solidFill>
          <a:ln w="12700">
            <a:solidFill>
              <a:srgbClr val="D5DBE6"/>
            </a:solidFill>
            <a:prstDash val="solid"/>
          </a:ln>
        </p:spPr>
      </p:sp>
      <p:sp>
        <p:nvSpPr>
          <p:cNvPr id="16" name="Text 13"/>
          <p:cNvSpPr txBox="1"/>
          <p:nvPr/>
        </p:nvSpPr>
        <p:spPr>
          <a:xfrm>
            <a:off x="731520" y="3383280"/>
            <a:ext cx="5029200" cy="868680"/>
          </a:xfrm>
          <a:prstGeom prst="rect">
            <a:avLst/>
          </a:prstGeom>
          <a:noFill/>
          <a:ln/>
        </p:spPr>
        <p:txBody>
          <a:bodyPr wrap="square" lIns="0" tIns="0" rIns="0" bIns="0" rtlCol="0" anchor="ctr"/>
          <a:lstStyle/>
          <a:p>
            <a:pPr marL="0" indent="0">
              <a:buNone/>
            </a:pPr>
            <a:r>
              <a:rPr lang="en-US" sz="2200" b="1" dirty="0">
                <a:solidFill>
                  <a:srgbClr val="1D4ED8"/>
                </a:solidFill>
                <a:latin typeface="Consolas" pitchFamily="34" charset="0"/>
                <a:ea typeface="Consolas" pitchFamily="34" charset="-122"/>
                <a:cs typeface="Consolas" pitchFamily="34" charset="-120"/>
              </a:rPr>
              <a:t>seats</a:t>
            </a:r>
            <a:endParaRPr lang="en-US" sz="2200" dirty="0"/>
          </a:p>
          <a:p>
            <a:pPr marL="0" indent="0">
              <a:buNone/>
            </a:pPr>
            <a:r>
              <a:rPr lang="en-US" sz="1800" dirty="0">
                <a:solidFill>
                  <a:srgbClr val="1F2937"/>
                </a:solidFill>
              </a:rPr>
              <a:t>Seats in a screen</a:t>
            </a:r>
            <a:endParaRPr lang="en-US" sz="2200" dirty="0"/>
          </a:p>
        </p:txBody>
      </p:sp>
      <p:sp>
        <p:nvSpPr>
          <p:cNvPr id="17" name="Shape 14"/>
          <p:cNvSpPr/>
          <p:nvPr/>
        </p:nvSpPr>
        <p:spPr>
          <a:xfrm>
            <a:off x="6172200" y="3383280"/>
            <a:ext cx="5394960" cy="868680"/>
          </a:xfrm>
          <a:prstGeom prst="roundRect">
            <a:avLst>
              <a:gd name="adj" fmla="val 10526"/>
            </a:avLst>
          </a:prstGeom>
          <a:solidFill>
            <a:srgbClr val="FFFFFF"/>
          </a:solidFill>
          <a:ln w="12700">
            <a:solidFill>
              <a:srgbClr val="D5DBE6"/>
            </a:solidFill>
            <a:prstDash val="solid"/>
          </a:ln>
        </p:spPr>
      </p:sp>
      <p:sp>
        <p:nvSpPr>
          <p:cNvPr id="18" name="Text 15"/>
          <p:cNvSpPr txBox="1"/>
          <p:nvPr/>
        </p:nvSpPr>
        <p:spPr>
          <a:xfrm>
            <a:off x="6355080" y="3383280"/>
            <a:ext cx="5029200" cy="868680"/>
          </a:xfrm>
          <a:prstGeom prst="rect">
            <a:avLst/>
          </a:prstGeom>
          <a:noFill/>
          <a:ln/>
        </p:spPr>
        <p:txBody>
          <a:bodyPr wrap="square" lIns="0" tIns="0" rIns="0" bIns="0" rtlCol="0" anchor="ctr"/>
          <a:lstStyle/>
          <a:p>
            <a:pPr marL="0" indent="0">
              <a:buNone/>
            </a:pPr>
            <a:r>
              <a:rPr lang="en-US" sz="2200" b="1" dirty="0">
                <a:solidFill>
                  <a:srgbClr val="1D4ED8"/>
                </a:solidFill>
                <a:latin typeface="Consolas" pitchFamily="34" charset="0"/>
                <a:ea typeface="Consolas" pitchFamily="34" charset="-122"/>
                <a:cs typeface="Consolas" pitchFamily="34" charset="-120"/>
              </a:rPr>
              <a:t>shows</a:t>
            </a:r>
            <a:endParaRPr lang="en-US" sz="2200" dirty="0"/>
          </a:p>
          <a:p>
            <a:pPr marL="0" indent="0">
              <a:buNone/>
            </a:pPr>
            <a:r>
              <a:rPr lang="en-US" sz="1800" dirty="0">
                <a:solidFill>
                  <a:srgbClr val="1F2937"/>
                </a:solidFill>
              </a:rPr>
              <a:t>Movie + screen + date/time</a:t>
            </a:r>
            <a:endParaRPr lang="en-US" sz="2200" dirty="0"/>
          </a:p>
        </p:txBody>
      </p:sp>
      <p:sp>
        <p:nvSpPr>
          <p:cNvPr id="19" name="Shape 16"/>
          <p:cNvSpPr/>
          <p:nvPr/>
        </p:nvSpPr>
        <p:spPr>
          <a:xfrm>
            <a:off x="548640" y="4389120"/>
            <a:ext cx="5394960" cy="868680"/>
          </a:xfrm>
          <a:prstGeom prst="roundRect">
            <a:avLst>
              <a:gd name="adj" fmla="val 10526"/>
            </a:avLst>
          </a:prstGeom>
          <a:solidFill>
            <a:srgbClr val="FFFFFF"/>
          </a:solidFill>
          <a:ln w="25400">
            <a:solidFill>
              <a:srgbClr val="1D4ED8"/>
            </a:solidFill>
            <a:prstDash val="solid"/>
          </a:ln>
        </p:spPr>
      </p:sp>
      <p:sp>
        <p:nvSpPr>
          <p:cNvPr id="20" name="Text 17"/>
          <p:cNvSpPr txBox="1"/>
          <p:nvPr/>
        </p:nvSpPr>
        <p:spPr>
          <a:xfrm>
            <a:off x="731520" y="4389120"/>
            <a:ext cx="5029200" cy="868680"/>
          </a:xfrm>
          <a:prstGeom prst="rect">
            <a:avLst/>
          </a:prstGeom>
          <a:noFill/>
          <a:ln/>
        </p:spPr>
        <p:txBody>
          <a:bodyPr wrap="square" lIns="0" tIns="0" rIns="0" bIns="0" rtlCol="0" anchor="ctr"/>
          <a:lstStyle/>
          <a:p>
            <a:pPr marL="0" indent="0">
              <a:buNone/>
            </a:pPr>
            <a:r>
              <a:rPr lang="en-US" sz="2200" b="1" dirty="0">
                <a:solidFill>
                  <a:srgbClr val="1D4ED8"/>
                </a:solidFill>
                <a:latin typeface="Consolas" pitchFamily="34" charset="0"/>
                <a:ea typeface="Consolas" pitchFamily="34" charset="-122"/>
                <a:cs typeface="Consolas" pitchFamily="34" charset="-120"/>
              </a:rPr>
              <a:t>bookings</a:t>
            </a:r>
            <a:endParaRPr lang="en-US" sz="2200" dirty="0"/>
          </a:p>
          <a:p>
            <a:pPr marL="0" indent="0">
              <a:buNone/>
            </a:pPr>
            <a:r>
              <a:rPr lang="en-US" sz="1800" dirty="0">
                <a:solidFill>
                  <a:srgbClr val="1F2937"/>
                </a:solidFill>
              </a:rPr>
              <a:t>A user's booking for a show</a:t>
            </a:r>
            <a:endParaRPr lang="en-US" sz="2200" dirty="0"/>
          </a:p>
        </p:txBody>
      </p:sp>
      <p:sp>
        <p:nvSpPr>
          <p:cNvPr id="21" name="Shape 18"/>
          <p:cNvSpPr/>
          <p:nvPr/>
        </p:nvSpPr>
        <p:spPr>
          <a:xfrm>
            <a:off x="6172200" y="4389120"/>
            <a:ext cx="5394960" cy="868680"/>
          </a:xfrm>
          <a:prstGeom prst="roundRect">
            <a:avLst>
              <a:gd name="adj" fmla="val 10526"/>
            </a:avLst>
          </a:prstGeom>
          <a:solidFill>
            <a:srgbClr val="FFFFFF"/>
          </a:solidFill>
          <a:ln w="25400">
            <a:solidFill>
              <a:srgbClr val="1D4ED8"/>
            </a:solidFill>
            <a:prstDash val="solid"/>
          </a:ln>
        </p:spPr>
      </p:sp>
      <p:sp>
        <p:nvSpPr>
          <p:cNvPr id="22" name="Text 19"/>
          <p:cNvSpPr txBox="1"/>
          <p:nvPr/>
        </p:nvSpPr>
        <p:spPr>
          <a:xfrm>
            <a:off x="6355080" y="4389120"/>
            <a:ext cx="5029200" cy="868680"/>
          </a:xfrm>
          <a:prstGeom prst="rect">
            <a:avLst/>
          </a:prstGeom>
          <a:noFill/>
          <a:ln/>
        </p:spPr>
        <p:txBody>
          <a:bodyPr wrap="square" lIns="0" tIns="0" rIns="0" bIns="0" rtlCol="0" anchor="ctr"/>
          <a:lstStyle/>
          <a:p>
            <a:pPr marL="0" indent="0">
              <a:buNone/>
            </a:pPr>
            <a:r>
              <a:rPr lang="en-US" sz="2200" b="1" dirty="0">
                <a:solidFill>
                  <a:srgbClr val="1D4ED8"/>
                </a:solidFill>
                <a:latin typeface="Consolas" pitchFamily="34" charset="0"/>
                <a:ea typeface="Consolas" pitchFamily="34" charset="-122"/>
                <a:cs typeface="Consolas" pitchFamily="34" charset="-120"/>
              </a:rPr>
              <a:t>booking_seats</a:t>
            </a:r>
            <a:endParaRPr lang="en-US" sz="2200" dirty="0"/>
          </a:p>
          <a:p>
            <a:pPr marL="0" indent="0">
              <a:buNone/>
            </a:pPr>
            <a:r>
              <a:rPr lang="en-US" sz="1800" dirty="0">
                <a:solidFill>
                  <a:srgbClr val="1F2937"/>
                </a:solidFill>
              </a:rPr>
              <a:t>Seats of each booking</a:t>
            </a:r>
            <a:endParaRPr lang="en-US" sz="2200" dirty="0"/>
          </a:p>
        </p:txBody>
      </p:sp>
      <p:sp>
        <p:nvSpPr>
          <p:cNvPr id="23" name="Shape 20"/>
          <p:cNvSpPr/>
          <p:nvPr/>
        </p:nvSpPr>
        <p:spPr>
          <a:xfrm>
            <a:off x="548640" y="5394960"/>
            <a:ext cx="5394960" cy="868680"/>
          </a:xfrm>
          <a:prstGeom prst="roundRect">
            <a:avLst>
              <a:gd name="adj" fmla="val 10526"/>
            </a:avLst>
          </a:prstGeom>
          <a:solidFill>
            <a:srgbClr val="FFFFFF"/>
          </a:solidFill>
          <a:ln w="25400">
            <a:solidFill>
              <a:srgbClr val="1D4ED8"/>
            </a:solidFill>
            <a:prstDash val="solid"/>
          </a:ln>
        </p:spPr>
      </p:sp>
      <p:sp>
        <p:nvSpPr>
          <p:cNvPr id="24" name="Text 21"/>
          <p:cNvSpPr txBox="1"/>
          <p:nvPr/>
        </p:nvSpPr>
        <p:spPr>
          <a:xfrm>
            <a:off x="731520" y="5394960"/>
            <a:ext cx="5029200" cy="868680"/>
          </a:xfrm>
          <a:prstGeom prst="rect">
            <a:avLst/>
          </a:prstGeom>
          <a:noFill/>
          <a:ln/>
        </p:spPr>
        <p:txBody>
          <a:bodyPr wrap="square" lIns="0" tIns="0" rIns="0" bIns="0" rtlCol="0" anchor="ctr"/>
          <a:lstStyle/>
          <a:p>
            <a:pPr marL="0" indent="0">
              <a:buNone/>
            </a:pPr>
            <a:r>
              <a:rPr lang="en-US" sz="2200" b="1" dirty="0">
                <a:solidFill>
                  <a:srgbClr val="1D4ED8"/>
                </a:solidFill>
                <a:latin typeface="Consolas" pitchFamily="34" charset="0"/>
                <a:ea typeface="Consolas" pitchFamily="34" charset="-122"/>
                <a:cs typeface="Consolas" pitchFamily="34" charset="-120"/>
              </a:rPr>
              <a:t>seat_locks</a:t>
            </a:r>
            <a:endParaRPr lang="en-US" sz="2200" dirty="0"/>
          </a:p>
          <a:p>
            <a:pPr marL="0" indent="0">
              <a:buNone/>
            </a:pPr>
            <a:r>
              <a:rPr lang="en-US" sz="1800" dirty="0">
                <a:solidFill>
                  <a:srgbClr val="1F2937"/>
                </a:solidFill>
              </a:rPr>
              <a:t>Temporary hold (~5 min)</a:t>
            </a:r>
            <a:endParaRPr lang="en-US" sz="2200" dirty="0"/>
          </a:p>
        </p:txBody>
      </p:sp>
      <p:sp>
        <p:nvSpPr>
          <p:cNvPr id="25" name="Shape 22"/>
          <p:cNvSpPr/>
          <p:nvPr/>
        </p:nvSpPr>
        <p:spPr>
          <a:xfrm>
            <a:off x="6172200" y="5394960"/>
            <a:ext cx="5394960" cy="868680"/>
          </a:xfrm>
          <a:prstGeom prst="roundRect">
            <a:avLst>
              <a:gd name="adj" fmla="val 10526"/>
            </a:avLst>
          </a:prstGeom>
          <a:solidFill>
            <a:srgbClr val="FFFFFF"/>
          </a:solidFill>
          <a:ln w="25400">
            <a:solidFill>
              <a:srgbClr val="1D4ED8"/>
            </a:solidFill>
            <a:prstDash val="solid"/>
          </a:ln>
        </p:spPr>
      </p:sp>
      <p:sp>
        <p:nvSpPr>
          <p:cNvPr id="26" name="Text 23"/>
          <p:cNvSpPr txBox="1"/>
          <p:nvPr/>
        </p:nvSpPr>
        <p:spPr>
          <a:xfrm>
            <a:off x="6355080" y="5394960"/>
            <a:ext cx="5029200" cy="868680"/>
          </a:xfrm>
          <a:prstGeom prst="rect">
            <a:avLst/>
          </a:prstGeom>
          <a:noFill/>
          <a:ln/>
        </p:spPr>
        <p:txBody>
          <a:bodyPr wrap="square" lIns="0" tIns="0" rIns="0" bIns="0" rtlCol="0" anchor="ctr"/>
          <a:lstStyle/>
          <a:p>
            <a:pPr marL="0" indent="0">
              <a:buNone/>
            </a:pPr>
            <a:r>
              <a:rPr lang="en-US" sz="2200" b="1" dirty="0">
                <a:solidFill>
                  <a:srgbClr val="1D4ED8"/>
                </a:solidFill>
                <a:latin typeface="Consolas" pitchFamily="34" charset="0"/>
                <a:ea typeface="Consolas" pitchFamily="34" charset="-122"/>
                <a:cs typeface="Consolas" pitchFamily="34" charset="-120"/>
              </a:rPr>
              <a:t>payments</a:t>
            </a:r>
            <a:endParaRPr lang="en-US" sz="2200" dirty="0"/>
          </a:p>
          <a:p>
            <a:pPr marL="0" indent="0">
              <a:buNone/>
            </a:pPr>
            <a:r>
              <a:rPr lang="en-US" sz="1800" dirty="0">
                <a:solidFill>
                  <a:srgbClr val="1F2937"/>
                </a:solidFill>
              </a:rPr>
              <a:t>Simulated payment</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0B1F3A"/>
          </a:solidFill>
          <a:ln w="12700">
            <a:solidFill>
              <a:srgbClr val="0B1F3A"/>
            </a:solidFill>
            <a:prstDash val="solid"/>
          </a:ln>
        </p:spPr>
      </p:sp>
      <p:sp>
        <p:nvSpPr>
          <p:cNvPr id="3" name="Shape 1"/>
          <p:cNvSpPr/>
          <p:nvPr/>
        </p:nvSpPr>
        <p:spPr>
          <a:xfrm>
            <a:off x="548640" y="1097280"/>
            <a:ext cx="2011680" cy="64008"/>
          </a:xfrm>
          <a:prstGeom prst="rect">
            <a:avLst/>
          </a:prstGeom>
          <a:solidFill>
            <a:srgbClr val="1D4ED8"/>
          </a:solidFill>
          <a:ln w="12700">
            <a:solidFill>
              <a:srgbClr val="1D4ED8"/>
            </a:solidFill>
            <a:prstDash val="solid"/>
          </a:ln>
        </p:spPr>
      </p:sp>
      <p:sp>
        <p:nvSpPr>
          <p:cNvPr id="4" name="Text 2"/>
          <p:cNvSpPr txBox="1"/>
          <p:nvPr/>
        </p:nvSpPr>
        <p:spPr>
          <a:xfrm>
            <a:off x="548640" y="274320"/>
            <a:ext cx="9509760" cy="822960"/>
          </a:xfrm>
          <a:prstGeom prst="rect">
            <a:avLst/>
          </a:prstGeom>
          <a:noFill/>
          <a:ln/>
        </p:spPr>
        <p:txBody>
          <a:bodyPr wrap="square" lIns="0" tIns="0" rIns="0" bIns="0" rtlCol="0" anchor="ctr"/>
          <a:lstStyle/>
          <a:p>
            <a:pPr marL="0" indent="0">
              <a:buNone/>
            </a:pPr>
            <a:r>
              <a:rPr lang="en-US" sz="3600" b="1" dirty="0">
                <a:solidFill>
                  <a:srgbClr val="0B1F3A"/>
                </a:solidFill>
              </a:rPr>
              <a:t>ER Diagram</a:t>
            </a:r>
            <a:endParaRPr lang="en-US" sz="3600" dirty="0"/>
          </a:p>
        </p:txBody>
      </p:sp>
      <p:sp>
        <p:nvSpPr>
          <p:cNvPr id="7" name="Shape 4"/>
          <p:cNvSpPr/>
          <p:nvPr/>
        </p:nvSpPr>
        <p:spPr>
          <a:xfrm>
            <a:off x="2468880" y="1600200"/>
            <a:ext cx="731520" cy="0"/>
          </a:xfrm>
          <a:prstGeom prst="line">
            <a:avLst/>
          </a:prstGeom>
          <a:noFill/>
          <a:ln w="25400">
            <a:solidFill>
              <a:srgbClr val="5B6575"/>
            </a:solidFill>
            <a:prstDash val="solid"/>
          </a:ln>
        </p:spPr>
      </p:sp>
      <p:sp>
        <p:nvSpPr>
          <p:cNvPr id="8" name="Text 5"/>
          <p:cNvSpPr txBox="1"/>
          <p:nvPr/>
        </p:nvSpPr>
        <p:spPr>
          <a:xfrm>
            <a:off x="2487168" y="1252728"/>
            <a:ext cx="274320" cy="320040"/>
          </a:xfrm>
          <a:prstGeom prst="rect">
            <a:avLst/>
          </a:prstGeom>
          <a:noFill/>
          <a:ln/>
        </p:spPr>
        <p:txBody>
          <a:bodyPr wrap="square" lIns="0" tIns="0" rIns="0" bIns="0" rtlCol="0" anchor="ctr"/>
          <a:lstStyle/>
          <a:p>
            <a:pPr marL="0" indent="0">
              <a:buNone/>
            </a:pPr>
            <a:r>
              <a:rPr lang="en-US" sz="1600" b="1" dirty="0">
                <a:solidFill>
                  <a:srgbClr val="1D4ED8"/>
                </a:solidFill>
              </a:rPr>
              <a:t>1</a:t>
            </a:r>
            <a:endParaRPr lang="en-US" sz="1600" dirty="0"/>
          </a:p>
        </p:txBody>
      </p:sp>
      <p:sp>
        <p:nvSpPr>
          <p:cNvPr id="9" name="Text 6"/>
          <p:cNvSpPr txBox="1"/>
          <p:nvPr/>
        </p:nvSpPr>
        <p:spPr>
          <a:xfrm>
            <a:off x="2926080" y="1252728"/>
            <a:ext cx="274320" cy="320040"/>
          </a:xfrm>
          <a:prstGeom prst="rect">
            <a:avLst/>
          </a:prstGeom>
          <a:noFill/>
          <a:ln/>
        </p:spPr>
        <p:txBody>
          <a:bodyPr wrap="square" lIns="0" tIns="0" rIns="0" bIns="0" rtlCol="0" anchor="ctr"/>
          <a:lstStyle/>
          <a:p>
            <a:pPr marL="0" indent="0" algn="r">
              <a:buNone/>
            </a:pPr>
            <a:r>
              <a:rPr lang="en-US" sz="1600" b="1" dirty="0">
                <a:solidFill>
                  <a:srgbClr val="1D4ED8"/>
                </a:solidFill>
              </a:rPr>
              <a:t>N</a:t>
            </a:r>
            <a:endParaRPr lang="en-US" sz="1600" dirty="0"/>
          </a:p>
        </p:txBody>
      </p:sp>
      <p:sp>
        <p:nvSpPr>
          <p:cNvPr id="10" name="Shape 7"/>
          <p:cNvSpPr/>
          <p:nvPr/>
        </p:nvSpPr>
        <p:spPr>
          <a:xfrm>
            <a:off x="5212080" y="1600200"/>
            <a:ext cx="3474720" cy="0"/>
          </a:xfrm>
          <a:prstGeom prst="line">
            <a:avLst/>
          </a:prstGeom>
          <a:noFill/>
          <a:ln w="25400">
            <a:solidFill>
              <a:srgbClr val="5B6575"/>
            </a:solidFill>
            <a:prstDash val="solid"/>
          </a:ln>
        </p:spPr>
      </p:sp>
      <p:sp>
        <p:nvSpPr>
          <p:cNvPr id="11" name="Text 8"/>
          <p:cNvSpPr txBox="1"/>
          <p:nvPr/>
        </p:nvSpPr>
        <p:spPr>
          <a:xfrm>
            <a:off x="5230368" y="1252728"/>
            <a:ext cx="274320" cy="320040"/>
          </a:xfrm>
          <a:prstGeom prst="rect">
            <a:avLst/>
          </a:prstGeom>
          <a:noFill/>
          <a:ln/>
        </p:spPr>
        <p:txBody>
          <a:bodyPr wrap="square" lIns="0" tIns="0" rIns="0" bIns="0" rtlCol="0" anchor="ctr"/>
          <a:lstStyle/>
          <a:p>
            <a:pPr marL="0" indent="0">
              <a:buNone/>
            </a:pPr>
            <a:r>
              <a:rPr lang="en-US" sz="1600" b="1" dirty="0">
                <a:solidFill>
                  <a:srgbClr val="1D4ED8"/>
                </a:solidFill>
              </a:rPr>
              <a:t>1</a:t>
            </a:r>
            <a:endParaRPr lang="en-US" sz="1600" dirty="0"/>
          </a:p>
        </p:txBody>
      </p:sp>
      <p:sp>
        <p:nvSpPr>
          <p:cNvPr id="12" name="Text 9"/>
          <p:cNvSpPr txBox="1"/>
          <p:nvPr/>
        </p:nvSpPr>
        <p:spPr>
          <a:xfrm>
            <a:off x="8412480" y="1252728"/>
            <a:ext cx="274320" cy="320040"/>
          </a:xfrm>
          <a:prstGeom prst="rect">
            <a:avLst/>
          </a:prstGeom>
          <a:noFill/>
          <a:ln/>
        </p:spPr>
        <p:txBody>
          <a:bodyPr wrap="square" lIns="0" tIns="0" rIns="0" bIns="0" rtlCol="0" anchor="ctr"/>
          <a:lstStyle/>
          <a:p>
            <a:pPr marL="0" indent="0" algn="r">
              <a:buNone/>
            </a:pPr>
            <a:r>
              <a:rPr lang="en-US" sz="1600" b="1" dirty="0">
                <a:solidFill>
                  <a:srgbClr val="1D4ED8"/>
                </a:solidFill>
              </a:rPr>
              <a:t>N</a:t>
            </a:r>
            <a:endParaRPr lang="en-US" sz="1600" dirty="0"/>
          </a:p>
        </p:txBody>
      </p:sp>
      <p:sp>
        <p:nvSpPr>
          <p:cNvPr id="13" name="Shape 10"/>
          <p:cNvSpPr/>
          <p:nvPr/>
        </p:nvSpPr>
        <p:spPr>
          <a:xfrm>
            <a:off x="2468880" y="3154680"/>
            <a:ext cx="731520" cy="0"/>
          </a:xfrm>
          <a:prstGeom prst="line">
            <a:avLst/>
          </a:prstGeom>
          <a:noFill/>
          <a:ln w="25400">
            <a:solidFill>
              <a:srgbClr val="5B6575"/>
            </a:solidFill>
            <a:prstDash val="solid"/>
          </a:ln>
        </p:spPr>
      </p:sp>
      <p:sp>
        <p:nvSpPr>
          <p:cNvPr id="14" name="Text 11"/>
          <p:cNvSpPr txBox="1"/>
          <p:nvPr/>
        </p:nvSpPr>
        <p:spPr>
          <a:xfrm>
            <a:off x="2487168" y="2807208"/>
            <a:ext cx="274320" cy="320040"/>
          </a:xfrm>
          <a:prstGeom prst="rect">
            <a:avLst/>
          </a:prstGeom>
          <a:noFill/>
          <a:ln/>
        </p:spPr>
        <p:txBody>
          <a:bodyPr wrap="square" lIns="0" tIns="0" rIns="0" bIns="0" rtlCol="0" anchor="ctr"/>
          <a:lstStyle/>
          <a:p>
            <a:pPr marL="0" indent="0">
              <a:buNone/>
            </a:pPr>
            <a:r>
              <a:rPr lang="en-US" sz="1600" b="1" dirty="0">
                <a:solidFill>
                  <a:srgbClr val="1D4ED8"/>
                </a:solidFill>
              </a:rPr>
              <a:t>1</a:t>
            </a:r>
            <a:endParaRPr lang="en-US" sz="1600" dirty="0"/>
          </a:p>
        </p:txBody>
      </p:sp>
      <p:sp>
        <p:nvSpPr>
          <p:cNvPr id="15" name="Text 12"/>
          <p:cNvSpPr txBox="1"/>
          <p:nvPr/>
        </p:nvSpPr>
        <p:spPr>
          <a:xfrm>
            <a:off x="2926080" y="2807208"/>
            <a:ext cx="274320" cy="320040"/>
          </a:xfrm>
          <a:prstGeom prst="rect">
            <a:avLst/>
          </a:prstGeom>
          <a:noFill/>
          <a:ln/>
        </p:spPr>
        <p:txBody>
          <a:bodyPr wrap="square" lIns="0" tIns="0" rIns="0" bIns="0" rtlCol="0" anchor="ctr"/>
          <a:lstStyle/>
          <a:p>
            <a:pPr marL="0" indent="0" algn="r">
              <a:buNone/>
            </a:pPr>
            <a:r>
              <a:rPr lang="en-US" sz="1600" b="1" dirty="0">
                <a:solidFill>
                  <a:srgbClr val="1D4ED8"/>
                </a:solidFill>
              </a:rPr>
              <a:t>N</a:t>
            </a:r>
            <a:endParaRPr lang="en-US" sz="1600" dirty="0"/>
          </a:p>
        </p:txBody>
      </p:sp>
      <p:sp>
        <p:nvSpPr>
          <p:cNvPr id="16" name="Shape 13"/>
          <p:cNvSpPr/>
          <p:nvPr/>
        </p:nvSpPr>
        <p:spPr>
          <a:xfrm>
            <a:off x="5212080" y="3154680"/>
            <a:ext cx="731520" cy="0"/>
          </a:xfrm>
          <a:prstGeom prst="line">
            <a:avLst/>
          </a:prstGeom>
          <a:noFill/>
          <a:ln w="25400">
            <a:solidFill>
              <a:srgbClr val="5B6575"/>
            </a:solidFill>
            <a:prstDash val="solid"/>
          </a:ln>
        </p:spPr>
      </p:sp>
      <p:sp>
        <p:nvSpPr>
          <p:cNvPr id="17" name="Text 14"/>
          <p:cNvSpPr txBox="1"/>
          <p:nvPr/>
        </p:nvSpPr>
        <p:spPr>
          <a:xfrm>
            <a:off x="5230368" y="2807208"/>
            <a:ext cx="274320" cy="320040"/>
          </a:xfrm>
          <a:prstGeom prst="rect">
            <a:avLst/>
          </a:prstGeom>
          <a:noFill/>
          <a:ln/>
        </p:spPr>
        <p:txBody>
          <a:bodyPr wrap="square" lIns="0" tIns="0" rIns="0" bIns="0" rtlCol="0" anchor="ctr"/>
          <a:lstStyle/>
          <a:p>
            <a:pPr marL="0" indent="0">
              <a:buNone/>
            </a:pPr>
            <a:r>
              <a:rPr lang="en-US" sz="1600" b="1" dirty="0">
                <a:solidFill>
                  <a:srgbClr val="1D4ED8"/>
                </a:solidFill>
              </a:rPr>
              <a:t>1</a:t>
            </a:r>
            <a:endParaRPr lang="en-US" sz="1600" dirty="0"/>
          </a:p>
        </p:txBody>
      </p:sp>
      <p:sp>
        <p:nvSpPr>
          <p:cNvPr id="18" name="Text 15"/>
          <p:cNvSpPr txBox="1"/>
          <p:nvPr/>
        </p:nvSpPr>
        <p:spPr>
          <a:xfrm>
            <a:off x="5669280" y="2807208"/>
            <a:ext cx="274320" cy="320040"/>
          </a:xfrm>
          <a:prstGeom prst="rect">
            <a:avLst/>
          </a:prstGeom>
          <a:noFill/>
          <a:ln/>
        </p:spPr>
        <p:txBody>
          <a:bodyPr wrap="square" lIns="0" tIns="0" rIns="0" bIns="0" rtlCol="0" anchor="ctr"/>
          <a:lstStyle/>
          <a:p>
            <a:pPr marL="0" indent="0" algn="r">
              <a:buNone/>
            </a:pPr>
            <a:r>
              <a:rPr lang="en-US" sz="1600" b="1" dirty="0">
                <a:solidFill>
                  <a:srgbClr val="1D4ED8"/>
                </a:solidFill>
              </a:rPr>
              <a:t>N</a:t>
            </a:r>
            <a:endParaRPr lang="en-US" sz="1600" dirty="0"/>
          </a:p>
        </p:txBody>
      </p:sp>
      <p:sp>
        <p:nvSpPr>
          <p:cNvPr id="19" name="Shape 16"/>
          <p:cNvSpPr/>
          <p:nvPr/>
        </p:nvSpPr>
        <p:spPr>
          <a:xfrm>
            <a:off x="2468880" y="4709160"/>
            <a:ext cx="731520" cy="0"/>
          </a:xfrm>
          <a:prstGeom prst="line">
            <a:avLst/>
          </a:prstGeom>
          <a:noFill/>
          <a:ln w="25400">
            <a:solidFill>
              <a:srgbClr val="5B6575"/>
            </a:solidFill>
            <a:prstDash val="solid"/>
          </a:ln>
        </p:spPr>
      </p:sp>
      <p:sp>
        <p:nvSpPr>
          <p:cNvPr id="20" name="Text 17"/>
          <p:cNvSpPr txBox="1"/>
          <p:nvPr/>
        </p:nvSpPr>
        <p:spPr>
          <a:xfrm>
            <a:off x="2487168" y="4361688"/>
            <a:ext cx="274320" cy="320040"/>
          </a:xfrm>
          <a:prstGeom prst="rect">
            <a:avLst/>
          </a:prstGeom>
          <a:noFill/>
          <a:ln/>
        </p:spPr>
        <p:txBody>
          <a:bodyPr wrap="square" lIns="0" tIns="0" rIns="0" bIns="0" rtlCol="0" anchor="ctr"/>
          <a:lstStyle/>
          <a:p>
            <a:pPr marL="0" indent="0">
              <a:buNone/>
            </a:pPr>
            <a:r>
              <a:rPr lang="en-US" sz="1600" b="1" dirty="0">
                <a:solidFill>
                  <a:srgbClr val="1D4ED8"/>
                </a:solidFill>
              </a:rPr>
              <a:t>1</a:t>
            </a:r>
            <a:endParaRPr lang="en-US" sz="1600" dirty="0"/>
          </a:p>
        </p:txBody>
      </p:sp>
      <p:sp>
        <p:nvSpPr>
          <p:cNvPr id="21" name="Text 18"/>
          <p:cNvSpPr txBox="1"/>
          <p:nvPr/>
        </p:nvSpPr>
        <p:spPr>
          <a:xfrm>
            <a:off x="2926080" y="4361688"/>
            <a:ext cx="274320" cy="320040"/>
          </a:xfrm>
          <a:prstGeom prst="rect">
            <a:avLst/>
          </a:prstGeom>
          <a:noFill/>
          <a:ln/>
        </p:spPr>
        <p:txBody>
          <a:bodyPr wrap="square" lIns="0" tIns="0" rIns="0" bIns="0" rtlCol="0" anchor="ctr"/>
          <a:lstStyle/>
          <a:p>
            <a:pPr marL="0" indent="0" algn="r">
              <a:buNone/>
            </a:pPr>
            <a:r>
              <a:rPr lang="en-US" sz="1600" b="1" dirty="0">
                <a:solidFill>
                  <a:srgbClr val="1D4ED8"/>
                </a:solidFill>
              </a:rPr>
              <a:t>N</a:t>
            </a:r>
            <a:endParaRPr lang="en-US" sz="1600" dirty="0"/>
          </a:p>
        </p:txBody>
      </p:sp>
      <p:sp>
        <p:nvSpPr>
          <p:cNvPr id="22" name="Shape 19"/>
          <p:cNvSpPr/>
          <p:nvPr/>
        </p:nvSpPr>
        <p:spPr>
          <a:xfrm>
            <a:off x="5212080" y="4709160"/>
            <a:ext cx="3474720" cy="0"/>
          </a:xfrm>
          <a:prstGeom prst="line">
            <a:avLst/>
          </a:prstGeom>
          <a:noFill/>
          <a:ln w="25400">
            <a:solidFill>
              <a:srgbClr val="5B6575"/>
            </a:solidFill>
            <a:prstDash val="solid"/>
          </a:ln>
        </p:spPr>
      </p:sp>
      <p:sp>
        <p:nvSpPr>
          <p:cNvPr id="23" name="Text 20"/>
          <p:cNvSpPr txBox="1"/>
          <p:nvPr/>
        </p:nvSpPr>
        <p:spPr>
          <a:xfrm>
            <a:off x="5230368" y="4361688"/>
            <a:ext cx="274320" cy="320040"/>
          </a:xfrm>
          <a:prstGeom prst="rect">
            <a:avLst/>
          </a:prstGeom>
          <a:noFill/>
          <a:ln/>
        </p:spPr>
        <p:txBody>
          <a:bodyPr wrap="square" lIns="0" tIns="0" rIns="0" bIns="0" rtlCol="0" anchor="ctr"/>
          <a:lstStyle/>
          <a:p>
            <a:pPr marL="0" indent="0">
              <a:buNone/>
            </a:pPr>
            <a:r>
              <a:rPr lang="en-US" sz="1600" b="1" dirty="0">
                <a:solidFill>
                  <a:srgbClr val="1D4ED8"/>
                </a:solidFill>
              </a:rPr>
              <a:t>1</a:t>
            </a:r>
            <a:endParaRPr lang="en-US" sz="1600" dirty="0"/>
          </a:p>
        </p:txBody>
      </p:sp>
      <p:sp>
        <p:nvSpPr>
          <p:cNvPr id="24" name="Text 21"/>
          <p:cNvSpPr txBox="1"/>
          <p:nvPr/>
        </p:nvSpPr>
        <p:spPr>
          <a:xfrm>
            <a:off x="8412480" y="4361688"/>
            <a:ext cx="274320" cy="320040"/>
          </a:xfrm>
          <a:prstGeom prst="rect">
            <a:avLst/>
          </a:prstGeom>
          <a:noFill/>
          <a:ln/>
        </p:spPr>
        <p:txBody>
          <a:bodyPr wrap="square" lIns="0" tIns="0" rIns="0" bIns="0" rtlCol="0" anchor="ctr"/>
          <a:lstStyle/>
          <a:p>
            <a:pPr marL="0" indent="0" algn="r">
              <a:buNone/>
            </a:pPr>
            <a:r>
              <a:rPr lang="en-US" sz="1600" b="1" dirty="0">
                <a:solidFill>
                  <a:srgbClr val="1D4ED8"/>
                </a:solidFill>
              </a:rPr>
              <a:t>N</a:t>
            </a:r>
            <a:endParaRPr lang="en-US" sz="1600" dirty="0"/>
          </a:p>
        </p:txBody>
      </p:sp>
      <p:sp>
        <p:nvSpPr>
          <p:cNvPr id="25" name="Shape 22"/>
          <p:cNvSpPr/>
          <p:nvPr/>
        </p:nvSpPr>
        <p:spPr>
          <a:xfrm>
            <a:off x="4206240" y="1920240"/>
            <a:ext cx="0" cy="914400"/>
          </a:xfrm>
          <a:prstGeom prst="line">
            <a:avLst/>
          </a:prstGeom>
          <a:noFill/>
          <a:ln w="25400">
            <a:solidFill>
              <a:srgbClr val="5B6575"/>
            </a:solidFill>
            <a:prstDash val="solid"/>
          </a:ln>
        </p:spPr>
      </p:sp>
      <p:sp>
        <p:nvSpPr>
          <p:cNvPr id="26" name="Text 23"/>
          <p:cNvSpPr txBox="1"/>
          <p:nvPr/>
        </p:nvSpPr>
        <p:spPr>
          <a:xfrm>
            <a:off x="4279392" y="1920240"/>
            <a:ext cx="274320" cy="320040"/>
          </a:xfrm>
          <a:prstGeom prst="rect">
            <a:avLst/>
          </a:prstGeom>
          <a:noFill/>
          <a:ln/>
        </p:spPr>
        <p:txBody>
          <a:bodyPr wrap="square" lIns="0" tIns="0" rIns="0" bIns="0" rtlCol="0" anchor="ctr"/>
          <a:lstStyle/>
          <a:p>
            <a:pPr marL="0" indent="0">
              <a:buNone/>
            </a:pPr>
            <a:r>
              <a:rPr lang="en-US" sz="1600" b="1" dirty="0">
                <a:solidFill>
                  <a:srgbClr val="1D4ED8"/>
                </a:solidFill>
              </a:rPr>
              <a:t>1</a:t>
            </a:r>
            <a:endParaRPr lang="en-US" sz="1600" dirty="0"/>
          </a:p>
        </p:txBody>
      </p:sp>
      <p:sp>
        <p:nvSpPr>
          <p:cNvPr id="27" name="Text 24"/>
          <p:cNvSpPr txBox="1"/>
          <p:nvPr/>
        </p:nvSpPr>
        <p:spPr>
          <a:xfrm>
            <a:off x="4279392" y="2514600"/>
            <a:ext cx="274320" cy="320040"/>
          </a:xfrm>
          <a:prstGeom prst="rect">
            <a:avLst/>
          </a:prstGeom>
          <a:noFill/>
          <a:ln/>
        </p:spPr>
        <p:txBody>
          <a:bodyPr wrap="square" lIns="0" tIns="0" rIns="0" bIns="0" rtlCol="0" anchor="ctr"/>
          <a:lstStyle/>
          <a:p>
            <a:pPr marL="0" indent="0">
              <a:buNone/>
            </a:pPr>
            <a:r>
              <a:rPr lang="en-US" sz="1600" b="1" dirty="0">
                <a:solidFill>
                  <a:srgbClr val="1D4ED8"/>
                </a:solidFill>
              </a:rPr>
              <a:t>N</a:t>
            </a:r>
            <a:endParaRPr lang="en-US" sz="1600" dirty="0"/>
          </a:p>
        </p:txBody>
      </p:sp>
      <p:sp>
        <p:nvSpPr>
          <p:cNvPr id="28" name="Shape 25"/>
          <p:cNvSpPr/>
          <p:nvPr/>
        </p:nvSpPr>
        <p:spPr>
          <a:xfrm>
            <a:off x="4206240" y="3474720"/>
            <a:ext cx="0" cy="914400"/>
          </a:xfrm>
          <a:prstGeom prst="line">
            <a:avLst/>
          </a:prstGeom>
          <a:noFill/>
          <a:ln w="25400">
            <a:solidFill>
              <a:srgbClr val="5B6575"/>
            </a:solidFill>
            <a:prstDash val="solid"/>
          </a:ln>
        </p:spPr>
      </p:sp>
      <p:sp>
        <p:nvSpPr>
          <p:cNvPr id="29" name="Text 26"/>
          <p:cNvSpPr txBox="1"/>
          <p:nvPr/>
        </p:nvSpPr>
        <p:spPr>
          <a:xfrm>
            <a:off x="4279392" y="3474720"/>
            <a:ext cx="274320" cy="320040"/>
          </a:xfrm>
          <a:prstGeom prst="rect">
            <a:avLst/>
          </a:prstGeom>
          <a:noFill/>
          <a:ln/>
        </p:spPr>
        <p:txBody>
          <a:bodyPr wrap="square" lIns="0" tIns="0" rIns="0" bIns="0" rtlCol="0" anchor="ctr"/>
          <a:lstStyle/>
          <a:p>
            <a:pPr marL="0" indent="0">
              <a:buNone/>
            </a:pPr>
            <a:r>
              <a:rPr lang="en-US" sz="1600" b="1" dirty="0">
                <a:solidFill>
                  <a:srgbClr val="1D4ED8"/>
                </a:solidFill>
              </a:rPr>
              <a:t>1</a:t>
            </a:r>
            <a:endParaRPr lang="en-US" sz="1600" dirty="0"/>
          </a:p>
        </p:txBody>
      </p:sp>
      <p:sp>
        <p:nvSpPr>
          <p:cNvPr id="30" name="Text 27"/>
          <p:cNvSpPr txBox="1"/>
          <p:nvPr/>
        </p:nvSpPr>
        <p:spPr>
          <a:xfrm>
            <a:off x="4279392" y="4069080"/>
            <a:ext cx="274320" cy="320040"/>
          </a:xfrm>
          <a:prstGeom prst="rect">
            <a:avLst/>
          </a:prstGeom>
          <a:noFill/>
          <a:ln/>
        </p:spPr>
        <p:txBody>
          <a:bodyPr wrap="square" lIns="0" tIns="0" rIns="0" bIns="0" rtlCol="0" anchor="ctr"/>
          <a:lstStyle/>
          <a:p>
            <a:pPr marL="0" indent="0">
              <a:buNone/>
            </a:pPr>
            <a:r>
              <a:rPr lang="en-US" sz="1600" b="1" dirty="0">
                <a:solidFill>
                  <a:srgbClr val="1D4ED8"/>
                </a:solidFill>
              </a:rPr>
              <a:t>N</a:t>
            </a:r>
            <a:endParaRPr lang="en-US" sz="1600" dirty="0"/>
          </a:p>
        </p:txBody>
      </p:sp>
      <p:sp>
        <p:nvSpPr>
          <p:cNvPr id="31" name="Shape 28"/>
          <p:cNvSpPr/>
          <p:nvPr/>
        </p:nvSpPr>
        <p:spPr>
          <a:xfrm>
            <a:off x="4206240" y="5029200"/>
            <a:ext cx="0" cy="731520"/>
          </a:xfrm>
          <a:prstGeom prst="line">
            <a:avLst/>
          </a:prstGeom>
          <a:noFill/>
          <a:ln w="25400">
            <a:solidFill>
              <a:srgbClr val="5B6575"/>
            </a:solidFill>
            <a:prstDash val="solid"/>
          </a:ln>
        </p:spPr>
      </p:sp>
      <p:sp>
        <p:nvSpPr>
          <p:cNvPr id="32" name="Text 29"/>
          <p:cNvSpPr txBox="1"/>
          <p:nvPr/>
        </p:nvSpPr>
        <p:spPr>
          <a:xfrm>
            <a:off x="4279392" y="5029200"/>
            <a:ext cx="274320" cy="320040"/>
          </a:xfrm>
          <a:prstGeom prst="rect">
            <a:avLst/>
          </a:prstGeom>
          <a:noFill/>
          <a:ln/>
        </p:spPr>
        <p:txBody>
          <a:bodyPr wrap="square" lIns="0" tIns="0" rIns="0" bIns="0" rtlCol="0" anchor="ctr"/>
          <a:lstStyle/>
          <a:p>
            <a:pPr marL="0" indent="0">
              <a:buNone/>
            </a:pPr>
            <a:r>
              <a:rPr lang="en-US" sz="1600" b="1" dirty="0">
                <a:solidFill>
                  <a:srgbClr val="1D4ED8"/>
                </a:solidFill>
              </a:rPr>
              <a:t>1</a:t>
            </a:r>
            <a:endParaRPr lang="en-US" sz="1600" dirty="0"/>
          </a:p>
        </p:txBody>
      </p:sp>
      <p:sp>
        <p:nvSpPr>
          <p:cNvPr id="33" name="Text 30"/>
          <p:cNvSpPr txBox="1"/>
          <p:nvPr/>
        </p:nvSpPr>
        <p:spPr>
          <a:xfrm>
            <a:off x="4279392" y="5440680"/>
            <a:ext cx="274320" cy="320040"/>
          </a:xfrm>
          <a:prstGeom prst="rect">
            <a:avLst/>
          </a:prstGeom>
          <a:noFill/>
          <a:ln/>
        </p:spPr>
        <p:txBody>
          <a:bodyPr wrap="square" lIns="0" tIns="0" rIns="0" bIns="0" rtlCol="0" anchor="ctr"/>
          <a:lstStyle/>
          <a:p>
            <a:pPr marL="0" indent="0">
              <a:buNone/>
            </a:pPr>
            <a:r>
              <a:rPr lang="en-US" sz="1600" b="1" dirty="0">
                <a:solidFill>
                  <a:srgbClr val="1D4ED8"/>
                </a:solidFill>
              </a:rPr>
              <a:t>N</a:t>
            </a:r>
            <a:endParaRPr lang="en-US" sz="1600" dirty="0"/>
          </a:p>
        </p:txBody>
      </p:sp>
      <p:sp>
        <p:nvSpPr>
          <p:cNvPr id="34" name="Shape 31"/>
          <p:cNvSpPr/>
          <p:nvPr/>
        </p:nvSpPr>
        <p:spPr>
          <a:xfrm>
            <a:off x="9692640" y="1920240"/>
            <a:ext cx="0" cy="2468880"/>
          </a:xfrm>
          <a:prstGeom prst="line">
            <a:avLst/>
          </a:prstGeom>
          <a:noFill/>
          <a:ln w="25400">
            <a:solidFill>
              <a:srgbClr val="5B6575"/>
            </a:solidFill>
            <a:prstDash val="solid"/>
          </a:ln>
        </p:spPr>
      </p:sp>
      <p:sp>
        <p:nvSpPr>
          <p:cNvPr id="35" name="Text 32"/>
          <p:cNvSpPr txBox="1"/>
          <p:nvPr/>
        </p:nvSpPr>
        <p:spPr>
          <a:xfrm>
            <a:off x="9765792" y="1920240"/>
            <a:ext cx="274320" cy="320040"/>
          </a:xfrm>
          <a:prstGeom prst="rect">
            <a:avLst/>
          </a:prstGeom>
          <a:noFill/>
          <a:ln/>
        </p:spPr>
        <p:txBody>
          <a:bodyPr wrap="square" lIns="0" tIns="0" rIns="0" bIns="0" rtlCol="0" anchor="ctr"/>
          <a:lstStyle/>
          <a:p>
            <a:pPr marL="0" indent="0">
              <a:buNone/>
            </a:pPr>
            <a:r>
              <a:rPr lang="en-US" sz="1600" b="1" dirty="0">
                <a:solidFill>
                  <a:srgbClr val="1D4ED8"/>
                </a:solidFill>
              </a:rPr>
              <a:t>1</a:t>
            </a:r>
            <a:endParaRPr lang="en-US" sz="1600" dirty="0"/>
          </a:p>
        </p:txBody>
      </p:sp>
      <p:sp>
        <p:nvSpPr>
          <p:cNvPr id="36" name="Text 33"/>
          <p:cNvSpPr txBox="1"/>
          <p:nvPr/>
        </p:nvSpPr>
        <p:spPr>
          <a:xfrm>
            <a:off x="9765792" y="4069080"/>
            <a:ext cx="274320" cy="320040"/>
          </a:xfrm>
          <a:prstGeom prst="rect">
            <a:avLst/>
          </a:prstGeom>
          <a:noFill/>
          <a:ln/>
        </p:spPr>
        <p:txBody>
          <a:bodyPr wrap="square" lIns="0" tIns="0" rIns="0" bIns="0" rtlCol="0" anchor="ctr"/>
          <a:lstStyle/>
          <a:p>
            <a:pPr marL="0" indent="0">
              <a:buNone/>
            </a:pPr>
            <a:r>
              <a:rPr lang="en-US" sz="1600" b="1" dirty="0">
                <a:solidFill>
                  <a:srgbClr val="1D4ED8"/>
                </a:solidFill>
              </a:rPr>
              <a:t>N</a:t>
            </a:r>
            <a:endParaRPr lang="en-US" sz="1600" dirty="0"/>
          </a:p>
        </p:txBody>
      </p:sp>
      <p:sp>
        <p:nvSpPr>
          <p:cNvPr id="37" name="Shape 34"/>
          <p:cNvSpPr/>
          <p:nvPr/>
        </p:nvSpPr>
        <p:spPr>
          <a:xfrm>
            <a:off x="457200" y="1280160"/>
            <a:ext cx="2011680" cy="640080"/>
          </a:xfrm>
          <a:prstGeom prst="roundRect">
            <a:avLst>
              <a:gd name="adj" fmla="val 11429"/>
            </a:avLst>
          </a:prstGeom>
          <a:solidFill>
            <a:srgbClr val="FFFFFF"/>
          </a:solidFill>
          <a:ln w="19050">
            <a:solidFill>
              <a:srgbClr val="5B6575"/>
            </a:solidFill>
            <a:prstDash val="solid"/>
          </a:ln>
        </p:spPr>
      </p:sp>
      <p:sp>
        <p:nvSpPr>
          <p:cNvPr id="38" name="Text 35"/>
          <p:cNvSpPr txBox="1"/>
          <p:nvPr/>
        </p:nvSpPr>
        <p:spPr>
          <a:xfrm>
            <a:off x="457200" y="1280160"/>
            <a:ext cx="2011680" cy="640080"/>
          </a:xfrm>
          <a:prstGeom prst="rect">
            <a:avLst/>
          </a:prstGeom>
          <a:noFill/>
          <a:ln/>
        </p:spPr>
        <p:txBody>
          <a:bodyPr wrap="square" lIns="635" tIns="635" rIns="635" bIns="635" rtlCol="0" anchor="ctr"/>
          <a:lstStyle/>
          <a:p>
            <a:pPr marL="0" indent="0" algn="ctr">
              <a:buNone/>
            </a:pPr>
            <a:r>
              <a:rPr lang="en-US" sz="2000" b="1" dirty="0">
                <a:solidFill>
                  <a:srgbClr val="1F2937"/>
                </a:solidFill>
              </a:rPr>
              <a:t>cinemas</a:t>
            </a:r>
            <a:endParaRPr lang="en-US" sz="2000" dirty="0"/>
          </a:p>
        </p:txBody>
      </p:sp>
      <p:sp>
        <p:nvSpPr>
          <p:cNvPr id="39" name="Shape 36"/>
          <p:cNvSpPr/>
          <p:nvPr/>
        </p:nvSpPr>
        <p:spPr>
          <a:xfrm>
            <a:off x="3200400" y="1280160"/>
            <a:ext cx="2011680" cy="640080"/>
          </a:xfrm>
          <a:prstGeom prst="roundRect">
            <a:avLst>
              <a:gd name="adj" fmla="val 11429"/>
            </a:avLst>
          </a:prstGeom>
          <a:solidFill>
            <a:srgbClr val="FFFFFF"/>
          </a:solidFill>
          <a:ln w="19050">
            <a:solidFill>
              <a:srgbClr val="5B6575"/>
            </a:solidFill>
            <a:prstDash val="solid"/>
          </a:ln>
        </p:spPr>
      </p:sp>
      <p:sp>
        <p:nvSpPr>
          <p:cNvPr id="40" name="Text 37"/>
          <p:cNvSpPr txBox="1"/>
          <p:nvPr/>
        </p:nvSpPr>
        <p:spPr>
          <a:xfrm>
            <a:off x="3200400" y="1280160"/>
            <a:ext cx="2011680" cy="640080"/>
          </a:xfrm>
          <a:prstGeom prst="rect">
            <a:avLst/>
          </a:prstGeom>
          <a:noFill/>
          <a:ln/>
        </p:spPr>
        <p:txBody>
          <a:bodyPr wrap="square" lIns="635" tIns="635" rIns="635" bIns="635" rtlCol="0" anchor="ctr"/>
          <a:lstStyle/>
          <a:p>
            <a:pPr marL="0" indent="0" algn="ctr">
              <a:buNone/>
            </a:pPr>
            <a:r>
              <a:rPr lang="en-US" sz="2000" b="1" dirty="0">
                <a:solidFill>
                  <a:srgbClr val="1F2937"/>
                </a:solidFill>
              </a:rPr>
              <a:t>screens</a:t>
            </a:r>
            <a:endParaRPr lang="en-US" sz="2000" dirty="0"/>
          </a:p>
        </p:txBody>
      </p:sp>
      <p:sp>
        <p:nvSpPr>
          <p:cNvPr id="41" name="Shape 38"/>
          <p:cNvSpPr/>
          <p:nvPr/>
        </p:nvSpPr>
        <p:spPr>
          <a:xfrm>
            <a:off x="8686800" y="1280160"/>
            <a:ext cx="2011680" cy="640080"/>
          </a:xfrm>
          <a:prstGeom prst="roundRect">
            <a:avLst>
              <a:gd name="adj" fmla="val 11429"/>
            </a:avLst>
          </a:prstGeom>
          <a:solidFill>
            <a:srgbClr val="FFFFFF"/>
          </a:solidFill>
          <a:ln w="19050">
            <a:solidFill>
              <a:srgbClr val="5B6575"/>
            </a:solidFill>
            <a:prstDash val="solid"/>
          </a:ln>
        </p:spPr>
      </p:sp>
      <p:sp>
        <p:nvSpPr>
          <p:cNvPr id="42" name="Text 39"/>
          <p:cNvSpPr txBox="1"/>
          <p:nvPr/>
        </p:nvSpPr>
        <p:spPr>
          <a:xfrm>
            <a:off x="8686800" y="1280160"/>
            <a:ext cx="2011680" cy="640080"/>
          </a:xfrm>
          <a:prstGeom prst="rect">
            <a:avLst/>
          </a:prstGeom>
          <a:noFill/>
          <a:ln/>
        </p:spPr>
        <p:txBody>
          <a:bodyPr wrap="square" lIns="635" tIns="635" rIns="635" bIns="635" rtlCol="0" anchor="ctr"/>
          <a:lstStyle/>
          <a:p>
            <a:pPr marL="0" indent="0" algn="ctr">
              <a:buNone/>
            </a:pPr>
            <a:r>
              <a:rPr lang="en-US" sz="2000" b="1" dirty="0">
                <a:solidFill>
                  <a:srgbClr val="1F2937"/>
                </a:solidFill>
              </a:rPr>
              <a:t>seats</a:t>
            </a:r>
            <a:endParaRPr lang="en-US" sz="2000" dirty="0"/>
          </a:p>
        </p:txBody>
      </p:sp>
      <p:sp>
        <p:nvSpPr>
          <p:cNvPr id="43" name="Shape 40"/>
          <p:cNvSpPr/>
          <p:nvPr/>
        </p:nvSpPr>
        <p:spPr>
          <a:xfrm>
            <a:off x="457200" y="2834640"/>
            <a:ext cx="2011680" cy="640080"/>
          </a:xfrm>
          <a:prstGeom prst="roundRect">
            <a:avLst>
              <a:gd name="adj" fmla="val 11429"/>
            </a:avLst>
          </a:prstGeom>
          <a:solidFill>
            <a:srgbClr val="FFFFFF"/>
          </a:solidFill>
          <a:ln w="19050">
            <a:solidFill>
              <a:srgbClr val="5B6575"/>
            </a:solidFill>
            <a:prstDash val="solid"/>
          </a:ln>
        </p:spPr>
      </p:sp>
      <p:sp>
        <p:nvSpPr>
          <p:cNvPr id="44" name="Text 41"/>
          <p:cNvSpPr txBox="1"/>
          <p:nvPr/>
        </p:nvSpPr>
        <p:spPr>
          <a:xfrm>
            <a:off x="457200" y="2834640"/>
            <a:ext cx="2011680" cy="640080"/>
          </a:xfrm>
          <a:prstGeom prst="rect">
            <a:avLst/>
          </a:prstGeom>
          <a:noFill/>
          <a:ln/>
        </p:spPr>
        <p:txBody>
          <a:bodyPr wrap="square" lIns="635" tIns="635" rIns="635" bIns="635" rtlCol="0" anchor="ctr"/>
          <a:lstStyle/>
          <a:p>
            <a:pPr marL="0" indent="0" algn="ctr">
              <a:buNone/>
            </a:pPr>
            <a:r>
              <a:rPr lang="en-US" sz="2000" b="1" dirty="0">
                <a:solidFill>
                  <a:srgbClr val="1F2937"/>
                </a:solidFill>
              </a:rPr>
              <a:t>movies</a:t>
            </a:r>
            <a:endParaRPr lang="en-US" sz="2000" dirty="0"/>
          </a:p>
        </p:txBody>
      </p:sp>
      <p:sp>
        <p:nvSpPr>
          <p:cNvPr id="45" name="Shape 42"/>
          <p:cNvSpPr/>
          <p:nvPr/>
        </p:nvSpPr>
        <p:spPr>
          <a:xfrm>
            <a:off x="3200400" y="2834640"/>
            <a:ext cx="2011680" cy="640080"/>
          </a:xfrm>
          <a:prstGeom prst="roundRect">
            <a:avLst>
              <a:gd name="adj" fmla="val 11429"/>
            </a:avLst>
          </a:prstGeom>
          <a:solidFill>
            <a:srgbClr val="FFFFFF"/>
          </a:solidFill>
          <a:ln w="19050">
            <a:solidFill>
              <a:srgbClr val="5B6575"/>
            </a:solidFill>
            <a:prstDash val="solid"/>
          </a:ln>
        </p:spPr>
      </p:sp>
      <p:sp>
        <p:nvSpPr>
          <p:cNvPr id="46" name="Text 43"/>
          <p:cNvSpPr txBox="1"/>
          <p:nvPr/>
        </p:nvSpPr>
        <p:spPr>
          <a:xfrm>
            <a:off x="3200400" y="2834640"/>
            <a:ext cx="2011680" cy="640080"/>
          </a:xfrm>
          <a:prstGeom prst="rect">
            <a:avLst/>
          </a:prstGeom>
          <a:noFill/>
          <a:ln/>
        </p:spPr>
        <p:txBody>
          <a:bodyPr wrap="square" lIns="635" tIns="635" rIns="635" bIns="635" rtlCol="0" anchor="ctr"/>
          <a:lstStyle/>
          <a:p>
            <a:pPr marL="0" indent="0" algn="ctr">
              <a:buNone/>
            </a:pPr>
            <a:r>
              <a:rPr lang="en-US" sz="2000" b="1" dirty="0">
                <a:solidFill>
                  <a:srgbClr val="1F2937"/>
                </a:solidFill>
              </a:rPr>
              <a:t>shows</a:t>
            </a:r>
            <a:endParaRPr lang="en-US" sz="2000" dirty="0"/>
          </a:p>
        </p:txBody>
      </p:sp>
      <p:sp>
        <p:nvSpPr>
          <p:cNvPr id="47" name="Shape 44"/>
          <p:cNvSpPr/>
          <p:nvPr/>
        </p:nvSpPr>
        <p:spPr>
          <a:xfrm>
            <a:off x="5943600" y="2834640"/>
            <a:ext cx="2011680" cy="640080"/>
          </a:xfrm>
          <a:prstGeom prst="roundRect">
            <a:avLst>
              <a:gd name="adj" fmla="val 11429"/>
            </a:avLst>
          </a:prstGeom>
          <a:solidFill>
            <a:srgbClr val="1D4ED8"/>
          </a:solidFill>
          <a:ln w="19050">
            <a:solidFill>
              <a:srgbClr val="1D4ED8"/>
            </a:solidFill>
            <a:prstDash val="solid"/>
          </a:ln>
        </p:spPr>
      </p:sp>
      <p:sp>
        <p:nvSpPr>
          <p:cNvPr id="48" name="Text 45"/>
          <p:cNvSpPr txBox="1"/>
          <p:nvPr/>
        </p:nvSpPr>
        <p:spPr>
          <a:xfrm>
            <a:off x="5943600" y="2834640"/>
            <a:ext cx="2011680" cy="640080"/>
          </a:xfrm>
          <a:prstGeom prst="rect">
            <a:avLst/>
          </a:prstGeom>
          <a:noFill/>
          <a:ln/>
        </p:spPr>
        <p:txBody>
          <a:bodyPr wrap="square" lIns="635" tIns="635" rIns="635" bIns="635" rtlCol="0" anchor="ctr"/>
          <a:lstStyle/>
          <a:p>
            <a:pPr marL="0" indent="0" algn="ctr">
              <a:buNone/>
            </a:pPr>
            <a:r>
              <a:rPr lang="en-US" sz="2000" b="1" dirty="0">
                <a:solidFill>
                  <a:srgbClr val="F4F6FA"/>
                </a:solidFill>
              </a:rPr>
              <a:t>seat_locks</a:t>
            </a:r>
            <a:endParaRPr lang="en-US" sz="2000" dirty="0"/>
          </a:p>
        </p:txBody>
      </p:sp>
      <p:sp>
        <p:nvSpPr>
          <p:cNvPr id="49" name="Shape 46"/>
          <p:cNvSpPr/>
          <p:nvPr/>
        </p:nvSpPr>
        <p:spPr>
          <a:xfrm>
            <a:off x="457200" y="4389120"/>
            <a:ext cx="2011680" cy="640080"/>
          </a:xfrm>
          <a:prstGeom prst="roundRect">
            <a:avLst>
              <a:gd name="adj" fmla="val 11429"/>
            </a:avLst>
          </a:prstGeom>
          <a:solidFill>
            <a:srgbClr val="FFFFFF"/>
          </a:solidFill>
          <a:ln w="19050">
            <a:solidFill>
              <a:srgbClr val="5B6575"/>
            </a:solidFill>
            <a:prstDash val="solid"/>
          </a:ln>
        </p:spPr>
      </p:sp>
      <p:sp>
        <p:nvSpPr>
          <p:cNvPr id="50" name="Text 47"/>
          <p:cNvSpPr txBox="1"/>
          <p:nvPr/>
        </p:nvSpPr>
        <p:spPr>
          <a:xfrm>
            <a:off x="457200" y="4389120"/>
            <a:ext cx="2011680" cy="640080"/>
          </a:xfrm>
          <a:prstGeom prst="rect">
            <a:avLst/>
          </a:prstGeom>
          <a:noFill/>
          <a:ln/>
        </p:spPr>
        <p:txBody>
          <a:bodyPr wrap="square" lIns="635" tIns="635" rIns="635" bIns="635" rtlCol="0" anchor="ctr"/>
          <a:lstStyle/>
          <a:p>
            <a:pPr marL="0" indent="0" algn="ctr">
              <a:buNone/>
            </a:pPr>
            <a:r>
              <a:rPr lang="en-US" sz="2000" b="1" dirty="0">
                <a:solidFill>
                  <a:srgbClr val="1F2937"/>
                </a:solidFill>
              </a:rPr>
              <a:t>users</a:t>
            </a:r>
            <a:endParaRPr lang="en-US" sz="2000" dirty="0"/>
          </a:p>
        </p:txBody>
      </p:sp>
      <p:sp>
        <p:nvSpPr>
          <p:cNvPr id="51" name="Shape 48"/>
          <p:cNvSpPr/>
          <p:nvPr/>
        </p:nvSpPr>
        <p:spPr>
          <a:xfrm>
            <a:off x="3200400" y="4389120"/>
            <a:ext cx="2011680" cy="640080"/>
          </a:xfrm>
          <a:prstGeom prst="roundRect">
            <a:avLst>
              <a:gd name="adj" fmla="val 11429"/>
            </a:avLst>
          </a:prstGeom>
          <a:solidFill>
            <a:srgbClr val="1D4ED8"/>
          </a:solidFill>
          <a:ln w="19050">
            <a:solidFill>
              <a:srgbClr val="1D4ED8"/>
            </a:solidFill>
            <a:prstDash val="solid"/>
          </a:ln>
        </p:spPr>
      </p:sp>
      <p:sp>
        <p:nvSpPr>
          <p:cNvPr id="52" name="Text 49"/>
          <p:cNvSpPr txBox="1"/>
          <p:nvPr/>
        </p:nvSpPr>
        <p:spPr>
          <a:xfrm>
            <a:off x="3200400" y="4389120"/>
            <a:ext cx="2011680" cy="640080"/>
          </a:xfrm>
          <a:prstGeom prst="rect">
            <a:avLst/>
          </a:prstGeom>
          <a:noFill/>
          <a:ln/>
        </p:spPr>
        <p:txBody>
          <a:bodyPr wrap="square" lIns="635" tIns="635" rIns="635" bIns="635" rtlCol="0" anchor="ctr"/>
          <a:lstStyle/>
          <a:p>
            <a:pPr marL="0" indent="0" algn="ctr">
              <a:buNone/>
            </a:pPr>
            <a:r>
              <a:rPr lang="en-US" sz="2000" b="1" dirty="0">
                <a:solidFill>
                  <a:srgbClr val="F4F6FA"/>
                </a:solidFill>
              </a:rPr>
              <a:t>bookings</a:t>
            </a:r>
            <a:endParaRPr lang="en-US" sz="2000" dirty="0"/>
          </a:p>
        </p:txBody>
      </p:sp>
      <p:sp>
        <p:nvSpPr>
          <p:cNvPr id="53" name="Shape 50"/>
          <p:cNvSpPr/>
          <p:nvPr/>
        </p:nvSpPr>
        <p:spPr>
          <a:xfrm>
            <a:off x="8686800" y="4389120"/>
            <a:ext cx="2011680" cy="640080"/>
          </a:xfrm>
          <a:prstGeom prst="roundRect">
            <a:avLst>
              <a:gd name="adj" fmla="val 11429"/>
            </a:avLst>
          </a:prstGeom>
          <a:solidFill>
            <a:srgbClr val="1D4ED8"/>
          </a:solidFill>
          <a:ln w="19050">
            <a:solidFill>
              <a:srgbClr val="1D4ED8"/>
            </a:solidFill>
            <a:prstDash val="solid"/>
          </a:ln>
        </p:spPr>
      </p:sp>
      <p:sp>
        <p:nvSpPr>
          <p:cNvPr id="54" name="Text 51"/>
          <p:cNvSpPr txBox="1"/>
          <p:nvPr/>
        </p:nvSpPr>
        <p:spPr>
          <a:xfrm>
            <a:off x="8686800" y="4389120"/>
            <a:ext cx="2011680" cy="640080"/>
          </a:xfrm>
          <a:prstGeom prst="rect">
            <a:avLst/>
          </a:prstGeom>
          <a:noFill/>
          <a:ln/>
        </p:spPr>
        <p:txBody>
          <a:bodyPr wrap="square" lIns="635" tIns="635" rIns="635" bIns="635" rtlCol="0" anchor="ctr"/>
          <a:lstStyle/>
          <a:p>
            <a:pPr marL="0" indent="0" algn="ctr">
              <a:buNone/>
            </a:pPr>
            <a:r>
              <a:rPr lang="en-US" sz="2000" b="1" dirty="0">
                <a:solidFill>
                  <a:srgbClr val="F4F6FA"/>
                </a:solidFill>
              </a:rPr>
              <a:t>booking_seats</a:t>
            </a:r>
            <a:endParaRPr lang="en-US" sz="2000" dirty="0"/>
          </a:p>
        </p:txBody>
      </p:sp>
      <p:sp>
        <p:nvSpPr>
          <p:cNvPr id="55" name="Shape 52"/>
          <p:cNvSpPr/>
          <p:nvPr/>
        </p:nvSpPr>
        <p:spPr>
          <a:xfrm>
            <a:off x="3200400" y="5760720"/>
            <a:ext cx="2011680" cy="640080"/>
          </a:xfrm>
          <a:prstGeom prst="roundRect">
            <a:avLst>
              <a:gd name="adj" fmla="val 11429"/>
            </a:avLst>
          </a:prstGeom>
          <a:solidFill>
            <a:srgbClr val="1D4ED8"/>
          </a:solidFill>
          <a:ln w="19050">
            <a:solidFill>
              <a:srgbClr val="1D4ED8"/>
            </a:solidFill>
            <a:prstDash val="solid"/>
          </a:ln>
        </p:spPr>
      </p:sp>
      <p:sp>
        <p:nvSpPr>
          <p:cNvPr id="56" name="Text 53"/>
          <p:cNvSpPr txBox="1"/>
          <p:nvPr/>
        </p:nvSpPr>
        <p:spPr>
          <a:xfrm>
            <a:off x="3200400" y="5760720"/>
            <a:ext cx="2011680" cy="640080"/>
          </a:xfrm>
          <a:prstGeom prst="rect">
            <a:avLst/>
          </a:prstGeom>
          <a:noFill/>
          <a:ln/>
        </p:spPr>
        <p:txBody>
          <a:bodyPr wrap="square" lIns="635" tIns="635" rIns="635" bIns="635" rtlCol="0" anchor="ctr"/>
          <a:lstStyle/>
          <a:p>
            <a:pPr marL="0" indent="0" algn="ctr">
              <a:buNone/>
            </a:pPr>
            <a:r>
              <a:rPr lang="en-US" sz="2000" b="1" dirty="0">
                <a:solidFill>
                  <a:srgbClr val="F4F6FA"/>
                </a:solidFill>
              </a:rPr>
              <a:t>payments</a:t>
            </a:r>
            <a:endParaRPr lang="en-US" sz="2000" dirty="0"/>
          </a:p>
        </p:txBody>
      </p:sp>
      <p:sp>
        <p:nvSpPr>
          <p:cNvPr id="57" name="Text 54"/>
          <p:cNvSpPr txBox="1"/>
          <p:nvPr/>
        </p:nvSpPr>
        <p:spPr>
          <a:xfrm>
            <a:off x="6583680" y="5577840"/>
            <a:ext cx="5120640" cy="822960"/>
          </a:xfrm>
          <a:prstGeom prst="rect">
            <a:avLst/>
          </a:prstGeom>
          <a:noFill/>
          <a:ln/>
        </p:spPr>
        <p:txBody>
          <a:bodyPr wrap="square" lIns="0" tIns="0" rIns="0" bIns="0" rtlCol="0" anchor="ctr"/>
          <a:lstStyle/>
          <a:p>
            <a:pPr marL="0" indent="0">
              <a:buNone/>
            </a:pPr>
            <a:r>
              <a:rPr lang="en-US" sz="1800" dirty="0">
                <a:solidFill>
                  <a:srgbClr val="5B6575"/>
                </a:solidFill>
              </a:rPr>
              <a:t>1 = one side · N = many side</a:t>
            </a:r>
            <a:endParaRPr lang="en-US" sz="1800" dirty="0"/>
          </a:p>
          <a:p>
            <a:pPr marL="0" indent="0">
              <a:buNone/>
            </a:pPr>
            <a:r>
              <a:rPr lang="en-US" sz="1800" dirty="0">
                <a:solidFill>
                  <a:srgbClr val="5B6575"/>
                </a:solidFill>
              </a:rPr>
              <a:t>Blue = booking-related tables</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0B1F3A"/>
          </a:solidFill>
          <a:ln w="12700">
            <a:solidFill>
              <a:srgbClr val="0B1F3A"/>
            </a:solidFill>
            <a:prstDash val="solid"/>
          </a:ln>
        </p:spPr>
      </p:sp>
      <p:sp>
        <p:nvSpPr>
          <p:cNvPr id="3" name="Shape 1"/>
          <p:cNvSpPr/>
          <p:nvPr/>
        </p:nvSpPr>
        <p:spPr>
          <a:xfrm>
            <a:off x="548640" y="1097280"/>
            <a:ext cx="2011680" cy="64008"/>
          </a:xfrm>
          <a:prstGeom prst="rect">
            <a:avLst/>
          </a:prstGeom>
          <a:solidFill>
            <a:srgbClr val="1D4ED8"/>
          </a:solidFill>
          <a:ln w="12700">
            <a:solidFill>
              <a:srgbClr val="1D4ED8"/>
            </a:solidFill>
            <a:prstDash val="solid"/>
          </a:ln>
        </p:spPr>
      </p:sp>
      <p:sp>
        <p:nvSpPr>
          <p:cNvPr id="4" name="Text 2"/>
          <p:cNvSpPr txBox="1"/>
          <p:nvPr/>
        </p:nvSpPr>
        <p:spPr>
          <a:xfrm>
            <a:off x="548640" y="274320"/>
            <a:ext cx="9509760" cy="822960"/>
          </a:xfrm>
          <a:prstGeom prst="rect">
            <a:avLst/>
          </a:prstGeom>
          <a:noFill/>
          <a:ln/>
        </p:spPr>
        <p:txBody>
          <a:bodyPr wrap="square" lIns="0" tIns="0" rIns="0" bIns="0" rtlCol="0" anchor="ctr"/>
          <a:lstStyle/>
          <a:p>
            <a:pPr marL="0" indent="0">
              <a:buNone/>
            </a:pPr>
            <a:r>
              <a:rPr lang="en-US" sz="3600" b="1" dirty="0">
                <a:solidFill>
                  <a:srgbClr val="0B1F3A"/>
                </a:solidFill>
              </a:rPr>
              <a:t>Normalization up to 3NF</a:t>
            </a:r>
            <a:endParaRPr lang="en-US" sz="3600" dirty="0"/>
          </a:p>
        </p:txBody>
      </p:sp>
      <p:sp>
        <p:nvSpPr>
          <p:cNvPr id="7" name="Text 4"/>
          <p:cNvSpPr txBox="1"/>
          <p:nvPr/>
        </p:nvSpPr>
        <p:spPr>
          <a:xfrm>
            <a:off x="548640" y="1280160"/>
            <a:ext cx="10972800" cy="228600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1F2937"/>
                </a:solidFill>
              </a:rPr>
              <a:t>1NF: atomic values, no repeating groups</a:t>
            </a:r>
            <a:endParaRPr lang="en-US" sz="2400" dirty="0"/>
          </a:p>
          <a:p>
            <a:pPr marL="342900" indent="-342900">
              <a:spcAft>
                <a:spcPts val="600"/>
              </a:spcAft>
              <a:buSzPct val="100000"/>
              <a:buChar char="•"/>
            </a:pPr>
            <a:r>
              <a:rPr lang="en-US" sz="2400" dirty="0">
                <a:solidFill>
                  <a:srgbClr val="1F2937"/>
                </a:solidFill>
              </a:rPr>
              <a:t>2NF: depends on the whole key</a:t>
            </a:r>
            <a:endParaRPr lang="en-US" sz="2400" dirty="0"/>
          </a:p>
          <a:p>
            <a:pPr marL="342900" indent="-342900">
              <a:spcAft>
                <a:spcPts val="600"/>
              </a:spcAft>
              <a:buSzPct val="100000"/>
              <a:buChar char="•"/>
            </a:pPr>
            <a:r>
              <a:rPr lang="en-US" sz="2400" dirty="0">
                <a:solidFill>
                  <a:srgbClr val="1F2937"/>
                </a:solidFill>
              </a:rPr>
              <a:t>3NF: no transitive dependency</a:t>
            </a:r>
            <a:endParaRPr lang="en-US" sz="2400" dirty="0"/>
          </a:p>
        </p:txBody>
      </p:sp>
      <p:sp>
        <p:nvSpPr>
          <p:cNvPr id="8" name="Text 5"/>
          <p:cNvSpPr txBox="1"/>
          <p:nvPr/>
        </p:nvSpPr>
        <p:spPr>
          <a:xfrm>
            <a:off x="548640" y="2743200"/>
            <a:ext cx="10972800" cy="457200"/>
          </a:xfrm>
          <a:prstGeom prst="rect">
            <a:avLst/>
          </a:prstGeom>
          <a:noFill/>
          <a:ln/>
        </p:spPr>
        <p:txBody>
          <a:bodyPr wrap="square" lIns="0" tIns="0" rIns="0" bIns="0" rtlCol="0" anchor="ctr"/>
          <a:lstStyle/>
          <a:p>
            <a:pPr marL="0" indent="0">
              <a:buNone/>
            </a:pPr>
            <a:r>
              <a:rPr lang="en-US" sz="2600" b="1" dirty="0">
                <a:solidFill>
                  <a:srgbClr val="1D4ED8"/>
                </a:solidFill>
              </a:rPr>
              <a:t>Why booking_seats?</a:t>
            </a:r>
            <a:endParaRPr lang="en-US" sz="2600" dirty="0"/>
          </a:p>
        </p:txBody>
      </p:sp>
      <p:sp>
        <p:nvSpPr>
          <p:cNvPr id="9" name="Shape 6"/>
          <p:cNvSpPr/>
          <p:nvPr/>
        </p:nvSpPr>
        <p:spPr>
          <a:xfrm>
            <a:off x="548640" y="3291840"/>
            <a:ext cx="5394960" cy="2926080"/>
          </a:xfrm>
          <a:prstGeom prst="roundRect">
            <a:avLst>
              <a:gd name="adj" fmla="val 3125"/>
            </a:avLst>
          </a:prstGeom>
          <a:solidFill>
            <a:srgbClr val="FFFFFF"/>
          </a:solidFill>
          <a:ln w="25400">
            <a:solidFill>
              <a:srgbClr val="B42318"/>
            </a:solidFill>
            <a:prstDash val="solid"/>
          </a:ln>
        </p:spPr>
      </p:sp>
      <p:sp>
        <p:nvSpPr>
          <p:cNvPr id="10" name="Text 7"/>
          <p:cNvSpPr txBox="1"/>
          <p:nvPr/>
        </p:nvSpPr>
        <p:spPr>
          <a:xfrm>
            <a:off x="731520" y="3383280"/>
            <a:ext cx="5029200" cy="457200"/>
          </a:xfrm>
          <a:prstGeom prst="rect">
            <a:avLst/>
          </a:prstGeom>
          <a:noFill/>
          <a:ln/>
        </p:spPr>
        <p:txBody>
          <a:bodyPr wrap="square" lIns="0" tIns="0" rIns="0" bIns="0" rtlCol="0" anchor="ctr"/>
          <a:lstStyle/>
          <a:p>
            <a:pPr marL="0" indent="0">
              <a:buNone/>
            </a:pPr>
            <a:r>
              <a:rPr lang="en-US" sz="2200" b="1" dirty="0">
                <a:solidFill>
                  <a:srgbClr val="B42318"/>
                </a:solidFill>
              </a:rPr>
              <a:t>Bad design</a:t>
            </a:r>
            <a:endParaRPr lang="en-US" sz="2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960" y="4023360"/>
          <a:ext cx="4846320" cy="1097280"/>
        </p:xfrm>
        <a:graphic>
          <a:graphicData uri="http://schemas.openxmlformats.org/drawingml/2006/table">
            <a:tbl>
              <a:tblPr/>
              <a:tblGrid>
                <a:gridCol w="201168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tblGrid>
              <a:tr h="548640">
                <a:tc>
                  <a:txBody>
                    <a:bodyPr/>
                    <a:lstStyle/>
                    <a:p>
                      <a:pPr marL="0" indent="0">
                        <a:buNone/>
                      </a:pPr>
                      <a:r>
                        <a:rPr lang="en-US" sz="2200" b="1" dirty="0">
                          <a:solidFill>
                            <a:srgbClr val="1F2937"/>
                          </a:solidFill>
                        </a:rPr>
                        <a:t>booking_id</a:t>
                      </a:r>
                      <a:endParaRPr lang="en-US" sz="2200" dirty="0"/>
                    </a:p>
                  </a:txBody>
                  <a:tcPr>
                    <a:lnL w="12700" cap="flat" cmpd="sng" algn="ctr">
                      <a:solidFill>
                        <a:srgbClr val="5B6575"/>
                      </a:solidFill>
                      <a:prstDash val="solid"/>
                      <a:round/>
                      <a:headEnd type="none" w="med" len="med"/>
                      <a:tailEnd type="none" w="med" len="med"/>
                    </a:lnL>
                    <a:lnR w="12700" cap="flat" cmpd="sng" algn="ctr">
                      <a:solidFill>
                        <a:srgbClr val="5B6575"/>
                      </a:solidFill>
                      <a:prstDash val="solid"/>
                      <a:round/>
                      <a:headEnd type="none" w="med" len="med"/>
                      <a:tailEnd type="none" w="med" len="med"/>
                    </a:lnR>
                    <a:lnT w="12700" cap="flat" cmpd="sng" algn="ctr">
                      <a:solidFill>
                        <a:srgbClr val="5B6575"/>
                      </a:solidFill>
                      <a:prstDash val="solid"/>
                      <a:round/>
                      <a:headEnd type="none" w="med" len="med"/>
                      <a:tailEnd type="none" w="med" len="med"/>
                    </a:lnT>
                    <a:lnB w="12700" cap="flat" cmpd="sng" algn="ctr">
                      <a:solidFill>
                        <a:srgbClr val="5B6575"/>
                      </a:solidFill>
                      <a:prstDash val="solid"/>
                      <a:round/>
                      <a:headEnd type="none" w="med" len="med"/>
                      <a:tailEnd type="none" w="med" len="med"/>
                    </a:lnB>
                    <a:solidFill>
                      <a:srgbClr val="EAF0FA"/>
                    </a:solidFill>
                  </a:tcPr>
                </a:tc>
                <a:tc>
                  <a:txBody>
                    <a:bodyPr/>
                    <a:lstStyle/>
                    <a:p>
                      <a:pPr marL="0" indent="0">
                        <a:buNone/>
                      </a:pPr>
                      <a:r>
                        <a:rPr lang="en-US" sz="2200" b="1" dirty="0">
                          <a:solidFill>
                            <a:srgbClr val="1F2937"/>
                          </a:solidFill>
                        </a:rPr>
                        <a:t>seats</a:t>
                      </a:r>
                      <a:endParaRPr lang="en-US" sz="2200" dirty="0"/>
                    </a:p>
                  </a:txBody>
                  <a:tcPr>
                    <a:lnL w="12700" cap="flat" cmpd="sng" algn="ctr">
                      <a:solidFill>
                        <a:srgbClr val="5B6575"/>
                      </a:solidFill>
                      <a:prstDash val="solid"/>
                      <a:round/>
                      <a:headEnd type="none" w="med" len="med"/>
                      <a:tailEnd type="none" w="med" len="med"/>
                    </a:lnL>
                    <a:lnR w="12700" cap="flat" cmpd="sng" algn="ctr">
                      <a:solidFill>
                        <a:srgbClr val="5B6575"/>
                      </a:solidFill>
                      <a:prstDash val="solid"/>
                      <a:round/>
                      <a:headEnd type="none" w="med" len="med"/>
                      <a:tailEnd type="none" w="med" len="med"/>
                    </a:lnR>
                    <a:lnT w="12700" cap="flat" cmpd="sng" algn="ctr">
                      <a:solidFill>
                        <a:srgbClr val="5B6575"/>
                      </a:solidFill>
                      <a:prstDash val="solid"/>
                      <a:round/>
                      <a:headEnd type="none" w="med" len="med"/>
                      <a:tailEnd type="none" w="med" len="med"/>
                    </a:lnT>
                    <a:lnB w="12700" cap="flat" cmpd="sng" algn="ctr">
                      <a:solidFill>
                        <a:srgbClr val="5B6575"/>
                      </a:solidFill>
                      <a:prstDash val="solid"/>
                      <a:round/>
                      <a:headEnd type="none" w="med" len="med"/>
                      <a:tailEnd type="none" w="med" len="med"/>
                    </a:lnB>
                    <a:solidFill>
                      <a:srgbClr val="EAF0FA"/>
                    </a:solidFill>
                  </a:tcPr>
                </a:tc>
                <a:extLst>
                  <a:ext uri="{0D108BD9-81ED-4DB2-BD59-A6C34878D82A}">
                    <a16:rowId xmlns:a16="http://schemas.microsoft.com/office/drawing/2014/main" val="10000"/>
                  </a:ext>
                </a:extLst>
              </a:tr>
              <a:tr h="548640">
                <a:tc>
                  <a:txBody>
                    <a:bodyPr/>
                    <a:lstStyle/>
                    <a:p>
                      <a:pPr marL="0" indent="0">
                        <a:buNone/>
                      </a:pPr>
                      <a:r>
                        <a:rPr lang="en-US" sz="2200" dirty="0">
                          <a:solidFill>
                            <a:srgbClr val="1F2937"/>
                          </a:solidFill>
                        </a:rPr>
                        <a:t>101</a:t>
                      </a:r>
                      <a:endParaRPr lang="en-US" sz="2200" dirty="0"/>
                    </a:p>
                  </a:txBody>
                  <a:tcPr>
                    <a:lnL w="12700" cap="flat" cmpd="sng" algn="ctr">
                      <a:solidFill>
                        <a:srgbClr val="5B6575"/>
                      </a:solidFill>
                      <a:prstDash val="solid"/>
                      <a:round/>
                      <a:headEnd type="none" w="med" len="med"/>
                      <a:tailEnd type="none" w="med" len="med"/>
                    </a:lnL>
                    <a:lnR w="12700" cap="flat" cmpd="sng" algn="ctr">
                      <a:solidFill>
                        <a:srgbClr val="5B6575"/>
                      </a:solidFill>
                      <a:prstDash val="solid"/>
                      <a:round/>
                      <a:headEnd type="none" w="med" len="med"/>
                      <a:tailEnd type="none" w="med" len="med"/>
                    </a:lnR>
                    <a:lnT w="12700" cap="flat" cmpd="sng" algn="ctr">
                      <a:solidFill>
                        <a:srgbClr val="5B6575"/>
                      </a:solidFill>
                      <a:prstDash val="solid"/>
                      <a:round/>
                      <a:headEnd type="none" w="med" len="med"/>
                      <a:tailEnd type="none" w="med" len="med"/>
                    </a:lnT>
                    <a:lnB w="12700" cap="flat" cmpd="sng" algn="ctr">
                      <a:solidFill>
                        <a:srgbClr val="5B6575"/>
                      </a:solidFill>
                      <a:prstDash val="solid"/>
                      <a:round/>
                      <a:headEnd type="none" w="med" len="med"/>
                      <a:tailEnd type="none" w="med" len="med"/>
                    </a:lnB>
                    <a:solidFill>
                      <a:srgbClr val="EAF0FA"/>
                    </a:solidFill>
                  </a:tcPr>
                </a:tc>
                <a:tc>
                  <a:txBody>
                    <a:bodyPr/>
                    <a:lstStyle/>
                    <a:p>
                      <a:pPr marL="0" indent="0">
                        <a:buNone/>
                      </a:pPr>
                      <a:r>
                        <a:rPr lang="en-US" sz="2200" dirty="0">
                          <a:solidFill>
                            <a:srgbClr val="1F2937"/>
                          </a:solidFill>
                        </a:rPr>
                        <a:t>A1,A2,A3</a:t>
                      </a:r>
                      <a:endParaRPr lang="en-US" sz="2200" dirty="0"/>
                    </a:p>
                  </a:txBody>
                  <a:tcPr>
                    <a:lnL w="12700" cap="flat" cmpd="sng" algn="ctr">
                      <a:solidFill>
                        <a:srgbClr val="5B6575"/>
                      </a:solidFill>
                      <a:prstDash val="solid"/>
                      <a:round/>
                      <a:headEnd type="none" w="med" len="med"/>
                      <a:tailEnd type="none" w="med" len="med"/>
                    </a:lnL>
                    <a:lnR w="12700" cap="flat" cmpd="sng" algn="ctr">
                      <a:solidFill>
                        <a:srgbClr val="5B6575"/>
                      </a:solidFill>
                      <a:prstDash val="solid"/>
                      <a:round/>
                      <a:headEnd type="none" w="med" len="med"/>
                      <a:tailEnd type="none" w="med" len="med"/>
                    </a:lnR>
                    <a:lnT w="12700" cap="flat" cmpd="sng" algn="ctr">
                      <a:solidFill>
                        <a:srgbClr val="5B6575"/>
                      </a:solidFill>
                      <a:prstDash val="solid"/>
                      <a:round/>
                      <a:headEnd type="none" w="med" len="med"/>
                      <a:tailEnd type="none" w="med" len="med"/>
                    </a:lnT>
                    <a:lnB w="12700" cap="flat" cmpd="sng" algn="ctr">
                      <a:solidFill>
                        <a:srgbClr val="5B6575"/>
                      </a:solidFill>
                      <a:prstDash val="solid"/>
                      <a:round/>
                      <a:headEnd type="none" w="med" len="med"/>
                      <a:tailEnd type="none" w="med" len="med"/>
                    </a:lnB>
                    <a:solidFill>
                      <a:srgbClr val="EAF0FA"/>
                    </a:solidFill>
                  </a:tcPr>
                </a:tc>
                <a:extLst>
                  <a:ext uri="{0D108BD9-81ED-4DB2-BD59-A6C34878D82A}">
                    <a16:rowId xmlns:a16="http://schemas.microsoft.com/office/drawing/2014/main" val="10001"/>
                  </a:ext>
                </a:extLst>
              </a:tr>
            </a:tbl>
          </a:graphicData>
        </a:graphic>
      </p:graphicFrame>
      <p:sp>
        <p:nvSpPr>
          <p:cNvPr id="12" name="Text 8"/>
          <p:cNvSpPr txBox="1"/>
          <p:nvPr/>
        </p:nvSpPr>
        <p:spPr>
          <a:xfrm>
            <a:off x="731520" y="5486400"/>
            <a:ext cx="5029200" cy="457200"/>
          </a:xfrm>
          <a:prstGeom prst="rect">
            <a:avLst/>
          </a:prstGeom>
          <a:noFill/>
          <a:ln/>
        </p:spPr>
        <p:txBody>
          <a:bodyPr wrap="square" lIns="0" tIns="0" rIns="0" bIns="0" rtlCol="0" anchor="ctr"/>
          <a:lstStyle/>
          <a:p>
            <a:pPr marL="0" indent="0">
              <a:buNone/>
            </a:pPr>
            <a:r>
              <a:rPr lang="en-US" sz="2000" dirty="0">
                <a:solidFill>
                  <a:srgbClr val="5B6575"/>
                </a:solidFill>
              </a:rPr>
              <a:t>Many values in one cell</a:t>
            </a:r>
            <a:endParaRPr lang="en-US" sz="2000" dirty="0"/>
          </a:p>
        </p:txBody>
      </p:sp>
      <p:sp>
        <p:nvSpPr>
          <p:cNvPr id="13" name="Shape 9"/>
          <p:cNvSpPr/>
          <p:nvPr/>
        </p:nvSpPr>
        <p:spPr>
          <a:xfrm>
            <a:off x="6217920" y="3291840"/>
            <a:ext cx="5394960" cy="2926080"/>
          </a:xfrm>
          <a:prstGeom prst="roundRect">
            <a:avLst>
              <a:gd name="adj" fmla="val 3125"/>
            </a:avLst>
          </a:prstGeom>
          <a:solidFill>
            <a:srgbClr val="FFFFFF"/>
          </a:solidFill>
          <a:ln w="25400">
            <a:solidFill>
              <a:srgbClr val="15803D"/>
            </a:solidFill>
            <a:prstDash val="solid"/>
          </a:ln>
        </p:spPr>
      </p:sp>
      <p:sp>
        <p:nvSpPr>
          <p:cNvPr id="14" name="Text 10"/>
          <p:cNvSpPr txBox="1"/>
          <p:nvPr/>
        </p:nvSpPr>
        <p:spPr>
          <a:xfrm>
            <a:off x="6400800" y="3383280"/>
            <a:ext cx="5029200" cy="457200"/>
          </a:xfrm>
          <a:prstGeom prst="rect">
            <a:avLst/>
          </a:prstGeom>
          <a:noFill/>
          <a:ln/>
        </p:spPr>
        <p:txBody>
          <a:bodyPr wrap="square" lIns="0" tIns="0" rIns="0" bIns="0" rtlCol="0" anchor="ctr"/>
          <a:lstStyle/>
          <a:p>
            <a:pPr marL="0" indent="0">
              <a:buNone/>
            </a:pPr>
            <a:r>
              <a:rPr lang="en-US" sz="2200" b="1" dirty="0">
                <a:solidFill>
                  <a:srgbClr val="15803D"/>
                </a:solidFill>
              </a:rPr>
              <a:t>Correct design</a:t>
            </a:r>
            <a:endParaRPr lang="en-US" sz="2200" dirty="0"/>
          </a:p>
        </p:txBody>
      </p:sp>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6492240" y="3931920"/>
          <a:ext cx="4846320" cy="1828800"/>
        </p:xfrm>
        <a:graphic>
          <a:graphicData uri="http://schemas.openxmlformats.org/drawingml/2006/table">
            <a:tbl>
              <a:tblPr/>
              <a:tblGrid>
                <a:gridCol w="173736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tblGrid>
              <a:tr h="457200">
                <a:tc>
                  <a:txBody>
                    <a:bodyPr/>
                    <a:lstStyle/>
                    <a:p>
                      <a:pPr marL="0" indent="0">
                        <a:buNone/>
                      </a:pPr>
                      <a:r>
                        <a:rPr lang="en-US" sz="2000" b="1" dirty="0">
                          <a:solidFill>
                            <a:srgbClr val="1F2937"/>
                          </a:solidFill>
                        </a:rPr>
                        <a:t>booking_id</a:t>
                      </a:r>
                      <a:endParaRPr lang="en-US" sz="2000" dirty="0"/>
                    </a:p>
                  </a:txBody>
                  <a:tcPr>
                    <a:lnL w="12700" cap="flat" cmpd="sng" algn="ctr">
                      <a:solidFill>
                        <a:srgbClr val="5B6575"/>
                      </a:solidFill>
                      <a:prstDash val="solid"/>
                      <a:round/>
                      <a:headEnd type="none" w="med" len="med"/>
                      <a:tailEnd type="none" w="med" len="med"/>
                    </a:lnL>
                    <a:lnR w="12700" cap="flat" cmpd="sng" algn="ctr">
                      <a:solidFill>
                        <a:srgbClr val="5B6575"/>
                      </a:solidFill>
                      <a:prstDash val="solid"/>
                      <a:round/>
                      <a:headEnd type="none" w="med" len="med"/>
                      <a:tailEnd type="none" w="med" len="med"/>
                    </a:lnR>
                    <a:lnT w="12700" cap="flat" cmpd="sng" algn="ctr">
                      <a:solidFill>
                        <a:srgbClr val="5B6575"/>
                      </a:solidFill>
                      <a:prstDash val="solid"/>
                      <a:round/>
                      <a:headEnd type="none" w="med" len="med"/>
                      <a:tailEnd type="none" w="med" len="med"/>
                    </a:lnT>
                    <a:lnB w="12700" cap="flat" cmpd="sng" algn="ctr">
                      <a:solidFill>
                        <a:srgbClr val="5B6575"/>
                      </a:solidFill>
                      <a:prstDash val="solid"/>
                      <a:round/>
                      <a:headEnd type="none" w="med" len="med"/>
                      <a:tailEnd type="none" w="med" len="med"/>
                    </a:lnB>
                    <a:solidFill>
                      <a:srgbClr val="EAF0FA"/>
                    </a:solidFill>
                  </a:tcPr>
                </a:tc>
                <a:tc>
                  <a:txBody>
                    <a:bodyPr/>
                    <a:lstStyle/>
                    <a:p>
                      <a:pPr marL="0" indent="0">
                        <a:buNone/>
                      </a:pPr>
                      <a:r>
                        <a:rPr lang="en-US" sz="2000" b="1" dirty="0">
                          <a:solidFill>
                            <a:srgbClr val="1F2937"/>
                          </a:solidFill>
                        </a:rPr>
                        <a:t>show_id</a:t>
                      </a:r>
                      <a:endParaRPr lang="en-US" sz="2000" dirty="0"/>
                    </a:p>
                  </a:txBody>
                  <a:tcPr>
                    <a:lnL w="12700" cap="flat" cmpd="sng" algn="ctr">
                      <a:solidFill>
                        <a:srgbClr val="5B6575"/>
                      </a:solidFill>
                      <a:prstDash val="solid"/>
                      <a:round/>
                      <a:headEnd type="none" w="med" len="med"/>
                      <a:tailEnd type="none" w="med" len="med"/>
                    </a:lnL>
                    <a:lnR w="12700" cap="flat" cmpd="sng" algn="ctr">
                      <a:solidFill>
                        <a:srgbClr val="5B6575"/>
                      </a:solidFill>
                      <a:prstDash val="solid"/>
                      <a:round/>
                      <a:headEnd type="none" w="med" len="med"/>
                      <a:tailEnd type="none" w="med" len="med"/>
                    </a:lnR>
                    <a:lnT w="12700" cap="flat" cmpd="sng" algn="ctr">
                      <a:solidFill>
                        <a:srgbClr val="5B6575"/>
                      </a:solidFill>
                      <a:prstDash val="solid"/>
                      <a:round/>
                      <a:headEnd type="none" w="med" len="med"/>
                      <a:tailEnd type="none" w="med" len="med"/>
                    </a:lnT>
                    <a:lnB w="12700" cap="flat" cmpd="sng" algn="ctr">
                      <a:solidFill>
                        <a:srgbClr val="5B6575"/>
                      </a:solidFill>
                      <a:prstDash val="solid"/>
                      <a:round/>
                      <a:headEnd type="none" w="med" len="med"/>
                      <a:tailEnd type="none" w="med" len="med"/>
                    </a:lnB>
                    <a:solidFill>
                      <a:srgbClr val="EAF0FA"/>
                    </a:solidFill>
                  </a:tcPr>
                </a:tc>
                <a:tc>
                  <a:txBody>
                    <a:bodyPr/>
                    <a:lstStyle/>
                    <a:p>
                      <a:pPr marL="0" indent="0">
                        <a:buNone/>
                      </a:pPr>
                      <a:r>
                        <a:rPr lang="en-US" sz="2000" b="1" dirty="0">
                          <a:solidFill>
                            <a:srgbClr val="1F2937"/>
                          </a:solidFill>
                        </a:rPr>
                        <a:t>seat_id</a:t>
                      </a:r>
                      <a:endParaRPr lang="en-US" sz="2000" dirty="0"/>
                    </a:p>
                  </a:txBody>
                  <a:tcPr>
                    <a:lnL w="12700" cap="flat" cmpd="sng" algn="ctr">
                      <a:solidFill>
                        <a:srgbClr val="5B6575"/>
                      </a:solidFill>
                      <a:prstDash val="solid"/>
                      <a:round/>
                      <a:headEnd type="none" w="med" len="med"/>
                      <a:tailEnd type="none" w="med" len="med"/>
                    </a:lnL>
                    <a:lnR w="12700" cap="flat" cmpd="sng" algn="ctr">
                      <a:solidFill>
                        <a:srgbClr val="5B6575"/>
                      </a:solidFill>
                      <a:prstDash val="solid"/>
                      <a:round/>
                      <a:headEnd type="none" w="med" len="med"/>
                      <a:tailEnd type="none" w="med" len="med"/>
                    </a:lnR>
                    <a:lnT w="12700" cap="flat" cmpd="sng" algn="ctr">
                      <a:solidFill>
                        <a:srgbClr val="5B6575"/>
                      </a:solidFill>
                      <a:prstDash val="solid"/>
                      <a:round/>
                      <a:headEnd type="none" w="med" len="med"/>
                      <a:tailEnd type="none" w="med" len="med"/>
                    </a:lnT>
                    <a:lnB w="12700" cap="flat" cmpd="sng" algn="ctr">
                      <a:solidFill>
                        <a:srgbClr val="5B6575"/>
                      </a:solidFill>
                      <a:prstDash val="solid"/>
                      <a:round/>
                      <a:headEnd type="none" w="med" len="med"/>
                      <a:tailEnd type="none" w="med" len="med"/>
                    </a:lnB>
                    <a:solidFill>
                      <a:srgbClr val="EAF0FA"/>
                    </a:solidFill>
                  </a:tcPr>
                </a:tc>
                <a:extLst>
                  <a:ext uri="{0D108BD9-81ED-4DB2-BD59-A6C34878D82A}">
                    <a16:rowId xmlns:a16="http://schemas.microsoft.com/office/drawing/2014/main" val="10000"/>
                  </a:ext>
                </a:extLst>
              </a:tr>
              <a:tr h="457200">
                <a:tc>
                  <a:txBody>
                    <a:bodyPr/>
                    <a:lstStyle/>
                    <a:p>
                      <a:pPr marL="0" indent="0">
                        <a:buNone/>
                      </a:pPr>
                      <a:r>
                        <a:rPr lang="en-US" sz="2000" dirty="0">
                          <a:solidFill>
                            <a:srgbClr val="1F2937"/>
                          </a:solidFill>
                        </a:rPr>
                        <a:t>101</a:t>
                      </a:r>
                      <a:endParaRPr lang="en-US" sz="2000" dirty="0"/>
                    </a:p>
                  </a:txBody>
                  <a:tcPr>
                    <a:lnL w="12700" cap="flat" cmpd="sng" algn="ctr">
                      <a:solidFill>
                        <a:srgbClr val="5B6575"/>
                      </a:solidFill>
                      <a:prstDash val="solid"/>
                      <a:round/>
                      <a:headEnd type="none" w="med" len="med"/>
                      <a:tailEnd type="none" w="med" len="med"/>
                    </a:lnL>
                    <a:lnR w="12700" cap="flat" cmpd="sng" algn="ctr">
                      <a:solidFill>
                        <a:srgbClr val="5B6575"/>
                      </a:solidFill>
                      <a:prstDash val="solid"/>
                      <a:round/>
                      <a:headEnd type="none" w="med" len="med"/>
                      <a:tailEnd type="none" w="med" len="med"/>
                    </a:lnR>
                    <a:lnT w="12700" cap="flat" cmpd="sng" algn="ctr">
                      <a:solidFill>
                        <a:srgbClr val="5B6575"/>
                      </a:solidFill>
                      <a:prstDash val="solid"/>
                      <a:round/>
                      <a:headEnd type="none" w="med" len="med"/>
                      <a:tailEnd type="none" w="med" len="med"/>
                    </a:lnT>
                    <a:lnB w="12700" cap="flat" cmpd="sng" algn="ctr">
                      <a:solidFill>
                        <a:srgbClr val="5B6575"/>
                      </a:solidFill>
                      <a:prstDash val="solid"/>
                      <a:round/>
                      <a:headEnd type="none" w="med" len="med"/>
                      <a:tailEnd type="none" w="med" len="med"/>
                    </a:lnB>
                    <a:solidFill>
                      <a:srgbClr val="EAF0FA"/>
                    </a:solidFill>
                  </a:tcPr>
                </a:tc>
                <a:tc>
                  <a:txBody>
                    <a:bodyPr/>
                    <a:lstStyle/>
                    <a:p>
                      <a:pPr marL="0" indent="0">
                        <a:buNone/>
                      </a:pPr>
                      <a:r>
                        <a:rPr lang="en-US" sz="2000" dirty="0">
                          <a:solidFill>
                            <a:srgbClr val="1F2937"/>
                          </a:solidFill>
                        </a:rPr>
                        <a:t>1</a:t>
                      </a:r>
                      <a:endParaRPr lang="en-US" sz="2000" dirty="0"/>
                    </a:p>
                  </a:txBody>
                  <a:tcPr>
                    <a:lnL w="12700" cap="flat" cmpd="sng" algn="ctr">
                      <a:solidFill>
                        <a:srgbClr val="5B6575"/>
                      </a:solidFill>
                      <a:prstDash val="solid"/>
                      <a:round/>
                      <a:headEnd type="none" w="med" len="med"/>
                      <a:tailEnd type="none" w="med" len="med"/>
                    </a:lnL>
                    <a:lnR w="12700" cap="flat" cmpd="sng" algn="ctr">
                      <a:solidFill>
                        <a:srgbClr val="5B6575"/>
                      </a:solidFill>
                      <a:prstDash val="solid"/>
                      <a:round/>
                      <a:headEnd type="none" w="med" len="med"/>
                      <a:tailEnd type="none" w="med" len="med"/>
                    </a:lnR>
                    <a:lnT w="12700" cap="flat" cmpd="sng" algn="ctr">
                      <a:solidFill>
                        <a:srgbClr val="5B6575"/>
                      </a:solidFill>
                      <a:prstDash val="solid"/>
                      <a:round/>
                      <a:headEnd type="none" w="med" len="med"/>
                      <a:tailEnd type="none" w="med" len="med"/>
                    </a:lnT>
                    <a:lnB w="12700" cap="flat" cmpd="sng" algn="ctr">
                      <a:solidFill>
                        <a:srgbClr val="5B6575"/>
                      </a:solidFill>
                      <a:prstDash val="solid"/>
                      <a:round/>
                      <a:headEnd type="none" w="med" len="med"/>
                      <a:tailEnd type="none" w="med" len="med"/>
                    </a:lnB>
                    <a:solidFill>
                      <a:srgbClr val="EAF0FA"/>
                    </a:solidFill>
                  </a:tcPr>
                </a:tc>
                <a:tc>
                  <a:txBody>
                    <a:bodyPr/>
                    <a:lstStyle/>
                    <a:p>
                      <a:pPr marL="0" indent="0">
                        <a:buNone/>
                      </a:pPr>
                      <a:r>
                        <a:rPr lang="en-US" sz="2000" dirty="0">
                          <a:solidFill>
                            <a:srgbClr val="1F2937"/>
                          </a:solidFill>
                        </a:rPr>
                        <a:t>A1</a:t>
                      </a:r>
                      <a:endParaRPr lang="en-US" sz="2000" dirty="0"/>
                    </a:p>
                  </a:txBody>
                  <a:tcPr>
                    <a:lnL w="12700" cap="flat" cmpd="sng" algn="ctr">
                      <a:solidFill>
                        <a:srgbClr val="5B6575"/>
                      </a:solidFill>
                      <a:prstDash val="solid"/>
                      <a:round/>
                      <a:headEnd type="none" w="med" len="med"/>
                      <a:tailEnd type="none" w="med" len="med"/>
                    </a:lnL>
                    <a:lnR w="12700" cap="flat" cmpd="sng" algn="ctr">
                      <a:solidFill>
                        <a:srgbClr val="5B6575"/>
                      </a:solidFill>
                      <a:prstDash val="solid"/>
                      <a:round/>
                      <a:headEnd type="none" w="med" len="med"/>
                      <a:tailEnd type="none" w="med" len="med"/>
                    </a:lnR>
                    <a:lnT w="12700" cap="flat" cmpd="sng" algn="ctr">
                      <a:solidFill>
                        <a:srgbClr val="5B6575"/>
                      </a:solidFill>
                      <a:prstDash val="solid"/>
                      <a:round/>
                      <a:headEnd type="none" w="med" len="med"/>
                      <a:tailEnd type="none" w="med" len="med"/>
                    </a:lnT>
                    <a:lnB w="12700" cap="flat" cmpd="sng" algn="ctr">
                      <a:solidFill>
                        <a:srgbClr val="5B6575"/>
                      </a:solidFill>
                      <a:prstDash val="solid"/>
                      <a:round/>
                      <a:headEnd type="none" w="med" len="med"/>
                      <a:tailEnd type="none" w="med" len="med"/>
                    </a:lnB>
                    <a:solidFill>
                      <a:srgbClr val="EAF0FA"/>
                    </a:solidFill>
                  </a:tcPr>
                </a:tc>
                <a:extLst>
                  <a:ext uri="{0D108BD9-81ED-4DB2-BD59-A6C34878D82A}">
                    <a16:rowId xmlns:a16="http://schemas.microsoft.com/office/drawing/2014/main" val="10001"/>
                  </a:ext>
                </a:extLst>
              </a:tr>
              <a:tr h="457200">
                <a:tc>
                  <a:txBody>
                    <a:bodyPr/>
                    <a:lstStyle/>
                    <a:p>
                      <a:pPr marL="0" indent="0">
                        <a:buNone/>
                      </a:pPr>
                      <a:r>
                        <a:rPr lang="en-US" sz="2000" dirty="0">
                          <a:solidFill>
                            <a:srgbClr val="1F2937"/>
                          </a:solidFill>
                        </a:rPr>
                        <a:t>101</a:t>
                      </a:r>
                      <a:endParaRPr lang="en-US" sz="2000" dirty="0"/>
                    </a:p>
                  </a:txBody>
                  <a:tcPr>
                    <a:lnL w="12700" cap="flat" cmpd="sng" algn="ctr">
                      <a:solidFill>
                        <a:srgbClr val="5B6575"/>
                      </a:solidFill>
                      <a:prstDash val="solid"/>
                      <a:round/>
                      <a:headEnd type="none" w="med" len="med"/>
                      <a:tailEnd type="none" w="med" len="med"/>
                    </a:lnL>
                    <a:lnR w="12700" cap="flat" cmpd="sng" algn="ctr">
                      <a:solidFill>
                        <a:srgbClr val="5B6575"/>
                      </a:solidFill>
                      <a:prstDash val="solid"/>
                      <a:round/>
                      <a:headEnd type="none" w="med" len="med"/>
                      <a:tailEnd type="none" w="med" len="med"/>
                    </a:lnR>
                    <a:lnT w="12700" cap="flat" cmpd="sng" algn="ctr">
                      <a:solidFill>
                        <a:srgbClr val="5B6575"/>
                      </a:solidFill>
                      <a:prstDash val="solid"/>
                      <a:round/>
                      <a:headEnd type="none" w="med" len="med"/>
                      <a:tailEnd type="none" w="med" len="med"/>
                    </a:lnT>
                    <a:lnB w="12700" cap="flat" cmpd="sng" algn="ctr">
                      <a:solidFill>
                        <a:srgbClr val="5B6575"/>
                      </a:solidFill>
                      <a:prstDash val="solid"/>
                      <a:round/>
                      <a:headEnd type="none" w="med" len="med"/>
                      <a:tailEnd type="none" w="med" len="med"/>
                    </a:lnB>
                    <a:solidFill>
                      <a:srgbClr val="EAF0FA"/>
                    </a:solidFill>
                  </a:tcPr>
                </a:tc>
                <a:tc>
                  <a:txBody>
                    <a:bodyPr/>
                    <a:lstStyle/>
                    <a:p>
                      <a:pPr marL="0" indent="0">
                        <a:buNone/>
                      </a:pPr>
                      <a:r>
                        <a:rPr lang="en-US" sz="2000" dirty="0">
                          <a:solidFill>
                            <a:srgbClr val="1F2937"/>
                          </a:solidFill>
                        </a:rPr>
                        <a:t>1</a:t>
                      </a:r>
                      <a:endParaRPr lang="en-US" sz="2000" dirty="0"/>
                    </a:p>
                  </a:txBody>
                  <a:tcPr>
                    <a:lnL w="12700" cap="flat" cmpd="sng" algn="ctr">
                      <a:solidFill>
                        <a:srgbClr val="5B6575"/>
                      </a:solidFill>
                      <a:prstDash val="solid"/>
                      <a:round/>
                      <a:headEnd type="none" w="med" len="med"/>
                      <a:tailEnd type="none" w="med" len="med"/>
                    </a:lnL>
                    <a:lnR w="12700" cap="flat" cmpd="sng" algn="ctr">
                      <a:solidFill>
                        <a:srgbClr val="5B6575"/>
                      </a:solidFill>
                      <a:prstDash val="solid"/>
                      <a:round/>
                      <a:headEnd type="none" w="med" len="med"/>
                      <a:tailEnd type="none" w="med" len="med"/>
                    </a:lnR>
                    <a:lnT w="12700" cap="flat" cmpd="sng" algn="ctr">
                      <a:solidFill>
                        <a:srgbClr val="5B6575"/>
                      </a:solidFill>
                      <a:prstDash val="solid"/>
                      <a:round/>
                      <a:headEnd type="none" w="med" len="med"/>
                      <a:tailEnd type="none" w="med" len="med"/>
                    </a:lnT>
                    <a:lnB w="12700" cap="flat" cmpd="sng" algn="ctr">
                      <a:solidFill>
                        <a:srgbClr val="5B6575"/>
                      </a:solidFill>
                      <a:prstDash val="solid"/>
                      <a:round/>
                      <a:headEnd type="none" w="med" len="med"/>
                      <a:tailEnd type="none" w="med" len="med"/>
                    </a:lnB>
                    <a:solidFill>
                      <a:srgbClr val="EAF0FA"/>
                    </a:solidFill>
                  </a:tcPr>
                </a:tc>
                <a:tc>
                  <a:txBody>
                    <a:bodyPr/>
                    <a:lstStyle/>
                    <a:p>
                      <a:pPr marL="0" indent="0">
                        <a:buNone/>
                      </a:pPr>
                      <a:r>
                        <a:rPr lang="en-US" sz="2000" dirty="0">
                          <a:solidFill>
                            <a:srgbClr val="1F2937"/>
                          </a:solidFill>
                        </a:rPr>
                        <a:t>A2</a:t>
                      </a:r>
                      <a:endParaRPr lang="en-US" sz="2000" dirty="0"/>
                    </a:p>
                  </a:txBody>
                  <a:tcPr>
                    <a:lnL w="12700" cap="flat" cmpd="sng" algn="ctr">
                      <a:solidFill>
                        <a:srgbClr val="5B6575"/>
                      </a:solidFill>
                      <a:prstDash val="solid"/>
                      <a:round/>
                      <a:headEnd type="none" w="med" len="med"/>
                      <a:tailEnd type="none" w="med" len="med"/>
                    </a:lnL>
                    <a:lnR w="12700" cap="flat" cmpd="sng" algn="ctr">
                      <a:solidFill>
                        <a:srgbClr val="5B6575"/>
                      </a:solidFill>
                      <a:prstDash val="solid"/>
                      <a:round/>
                      <a:headEnd type="none" w="med" len="med"/>
                      <a:tailEnd type="none" w="med" len="med"/>
                    </a:lnR>
                    <a:lnT w="12700" cap="flat" cmpd="sng" algn="ctr">
                      <a:solidFill>
                        <a:srgbClr val="5B6575"/>
                      </a:solidFill>
                      <a:prstDash val="solid"/>
                      <a:round/>
                      <a:headEnd type="none" w="med" len="med"/>
                      <a:tailEnd type="none" w="med" len="med"/>
                    </a:lnT>
                    <a:lnB w="12700" cap="flat" cmpd="sng" algn="ctr">
                      <a:solidFill>
                        <a:srgbClr val="5B6575"/>
                      </a:solidFill>
                      <a:prstDash val="solid"/>
                      <a:round/>
                      <a:headEnd type="none" w="med" len="med"/>
                      <a:tailEnd type="none" w="med" len="med"/>
                    </a:lnB>
                    <a:solidFill>
                      <a:srgbClr val="EAF0FA"/>
                    </a:solidFill>
                  </a:tcPr>
                </a:tc>
                <a:extLst>
                  <a:ext uri="{0D108BD9-81ED-4DB2-BD59-A6C34878D82A}">
                    <a16:rowId xmlns:a16="http://schemas.microsoft.com/office/drawing/2014/main" val="10002"/>
                  </a:ext>
                </a:extLst>
              </a:tr>
              <a:tr h="457200">
                <a:tc>
                  <a:txBody>
                    <a:bodyPr/>
                    <a:lstStyle/>
                    <a:p>
                      <a:pPr marL="0" indent="0">
                        <a:buNone/>
                      </a:pPr>
                      <a:r>
                        <a:rPr lang="en-US" sz="2000" dirty="0">
                          <a:solidFill>
                            <a:srgbClr val="1F2937"/>
                          </a:solidFill>
                        </a:rPr>
                        <a:t>101</a:t>
                      </a:r>
                      <a:endParaRPr lang="en-US" sz="2000" dirty="0"/>
                    </a:p>
                  </a:txBody>
                  <a:tcPr>
                    <a:lnL w="12700" cap="flat" cmpd="sng" algn="ctr">
                      <a:solidFill>
                        <a:srgbClr val="5B6575"/>
                      </a:solidFill>
                      <a:prstDash val="solid"/>
                      <a:round/>
                      <a:headEnd type="none" w="med" len="med"/>
                      <a:tailEnd type="none" w="med" len="med"/>
                    </a:lnL>
                    <a:lnR w="12700" cap="flat" cmpd="sng" algn="ctr">
                      <a:solidFill>
                        <a:srgbClr val="5B6575"/>
                      </a:solidFill>
                      <a:prstDash val="solid"/>
                      <a:round/>
                      <a:headEnd type="none" w="med" len="med"/>
                      <a:tailEnd type="none" w="med" len="med"/>
                    </a:lnR>
                    <a:lnT w="12700" cap="flat" cmpd="sng" algn="ctr">
                      <a:solidFill>
                        <a:srgbClr val="5B6575"/>
                      </a:solidFill>
                      <a:prstDash val="solid"/>
                      <a:round/>
                      <a:headEnd type="none" w="med" len="med"/>
                      <a:tailEnd type="none" w="med" len="med"/>
                    </a:lnT>
                    <a:lnB w="12700" cap="flat" cmpd="sng" algn="ctr">
                      <a:solidFill>
                        <a:srgbClr val="5B6575"/>
                      </a:solidFill>
                      <a:prstDash val="solid"/>
                      <a:round/>
                      <a:headEnd type="none" w="med" len="med"/>
                      <a:tailEnd type="none" w="med" len="med"/>
                    </a:lnB>
                    <a:solidFill>
                      <a:srgbClr val="EAF0FA"/>
                    </a:solidFill>
                  </a:tcPr>
                </a:tc>
                <a:tc>
                  <a:txBody>
                    <a:bodyPr/>
                    <a:lstStyle/>
                    <a:p>
                      <a:pPr marL="0" indent="0">
                        <a:buNone/>
                      </a:pPr>
                      <a:r>
                        <a:rPr lang="en-US" sz="2000" dirty="0">
                          <a:solidFill>
                            <a:srgbClr val="1F2937"/>
                          </a:solidFill>
                        </a:rPr>
                        <a:t>1</a:t>
                      </a:r>
                      <a:endParaRPr lang="en-US" sz="2000" dirty="0"/>
                    </a:p>
                  </a:txBody>
                  <a:tcPr>
                    <a:lnL w="12700" cap="flat" cmpd="sng" algn="ctr">
                      <a:solidFill>
                        <a:srgbClr val="5B6575"/>
                      </a:solidFill>
                      <a:prstDash val="solid"/>
                      <a:round/>
                      <a:headEnd type="none" w="med" len="med"/>
                      <a:tailEnd type="none" w="med" len="med"/>
                    </a:lnL>
                    <a:lnR w="12700" cap="flat" cmpd="sng" algn="ctr">
                      <a:solidFill>
                        <a:srgbClr val="5B6575"/>
                      </a:solidFill>
                      <a:prstDash val="solid"/>
                      <a:round/>
                      <a:headEnd type="none" w="med" len="med"/>
                      <a:tailEnd type="none" w="med" len="med"/>
                    </a:lnR>
                    <a:lnT w="12700" cap="flat" cmpd="sng" algn="ctr">
                      <a:solidFill>
                        <a:srgbClr val="5B6575"/>
                      </a:solidFill>
                      <a:prstDash val="solid"/>
                      <a:round/>
                      <a:headEnd type="none" w="med" len="med"/>
                      <a:tailEnd type="none" w="med" len="med"/>
                    </a:lnT>
                    <a:lnB w="12700" cap="flat" cmpd="sng" algn="ctr">
                      <a:solidFill>
                        <a:srgbClr val="5B6575"/>
                      </a:solidFill>
                      <a:prstDash val="solid"/>
                      <a:round/>
                      <a:headEnd type="none" w="med" len="med"/>
                      <a:tailEnd type="none" w="med" len="med"/>
                    </a:lnB>
                    <a:solidFill>
                      <a:srgbClr val="EAF0FA"/>
                    </a:solidFill>
                  </a:tcPr>
                </a:tc>
                <a:tc>
                  <a:txBody>
                    <a:bodyPr/>
                    <a:lstStyle/>
                    <a:p>
                      <a:pPr marL="0" indent="0">
                        <a:buNone/>
                      </a:pPr>
                      <a:r>
                        <a:rPr lang="en-US" sz="2000" dirty="0">
                          <a:solidFill>
                            <a:srgbClr val="1F2937"/>
                          </a:solidFill>
                        </a:rPr>
                        <a:t>A3</a:t>
                      </a:r>
                      <a:endParaRPr lang="en-US" sz="2000" dirty="0"/>
                    </a:p>
                  </a:txBody>
                  <a:tcPr>
                    <a:lnL w="12700" cap="flat" cmpd="sng" algn="ctr">
                      <a:solidFill>
                        <a:srgbClr val="5B6575"/>
                      </a:solidFill>
                      <a:prstDash val="solid"/>
                      <a:round/>
                      <a:headEnd type="none" w="med" len="med"/>
                      <a:tailEnd type="none" w="med" len="med"/>
                    </a:lnL>
                    <a:lnR w="12700" cap="flat" cmpd="sng" algn="ctr">
                      <a:solidFill>
                        <a:srgbClr val="5B6575"/>
                      </a:solidFill>
                      <a:prstDash val="solid"/>
                      <a:round/>
                      <a:headEnd type="none" w="med" len="med"/>
                      <a:tailEnd type="none" w="med" len="med"/>
                    </a:lnR>
                    <a:lnT w="12700" cap="flat" cmpd="sng" algn="ctr">
                      <a:solidFill>
                        <a:srgbClr val="5B6575"/>
                      </a:solidFill>
                      <a:prstDash val="solid"/>
                      <a:round/>
                      <a:headEnd type="none" w="med" len="med"/>
                      <a:tailEnd type="none" w="med" len="med"/>
                    </a:lnT>
                    <a:lnB w="12700" cap="flat" cmpd="sng" algn="ctr">
                      <a:solidFill>
                        <a:srgbClr val="5B6575"/>
                      </a:solidFill>
                      <a:prstDash val="solid"/>
                      <a:round/>
                      <a:headEnd type="none" w="med" len="med"/>
                      <a:tailEnd type="none" w="med" len="med"/>
                    </a:lnB>
                    <a:solidFill>
                      <a:srgbClr val="EAF0FA"/>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0B1F3A"/>
          </a:solidFill>
          <a:ln w="12700">
            <a:solidFill>
              <a:srgbClr val="0B1F3A"/>
            </a:solidFill>
            <a:prstDash val="solid"/>
          </a:ln>
        </p:spPr>
      </p:sp>
      <p:sp>
        <p:nvSpPr>
          <p:cNvPr id="3" name="Shape 1"/>
          <p:cNvSpPr/>
          <p:nvPr/>
        </p:nvSpPr>
        <p:spPr>
          <a:xfrm>
            <a:off x="548640" y="1097280"/>
            <a:ext cx="2011680" cy="64008"/>
          </a:xfrm>
          <a:prstGeom prst="rect">
            <a:avLst/>
          </a:prstGeom>
          <a:solidFill>
            <a:srgbClr val="1D4ED8"/>
          </a:solidFill>
          <a:ln w="12700">
            <a:solidFill>
              <a:srgbClr val="1D4ED8"/>
            </a:solidFill>
            <a:prstDash val="solid"/>
          </a:ln>
        </p:spPr>
      </p:sp>
      <p:sp>
        <p:nvSpPr>
          <p:cNvPr id="4" name="Text 2"/>
          <p:cNvSpPr txBox="1"/>
          <p:nvPr/>
        </p:nvSpPr>
        <p:spPr>
          <a:xfrm>
            <a:off x="548640" y="274320"/>
            <a:ext cx="9509760" cy="822960"/>
          </a:xfrm>
          <a:prstGeom prst="rect">
            <a:avLst/>
          </a:prstGeom>
          <a:noFill/>
          <a:ln/>
        </p:spPr>
        <p:txBody>
          <a:bodyPr wrap="square" lIns="0" tIns="0" rIns="0" bIns="0" rtlCol="0" anchor="ctr"/>
          <a:lstStyle/>
          <a:p>
            <a:pPr marL="0" indent="0">
              <a:buNone/>
            </a:pPr>
            <a:r>
              <a:rPr lang="en-US" sz="3600" b="1" dirty="0">
                <a:solidFill>
                  <a:srgbClr val="0B1F3A"/>
                </a:solidFill>
              </a:rPr>
              <a:t>Keys and Constraints</a:t>
            </a:r>
            <a:endParaRPr lang="en-US" sz="3600" dirty="0"/>
          </a:p>
        </p:txBody>
      </p:sp>
      <p:sp>
        <p:nvSpPr>
          <p:cNvPr id="7" name="Shape 4"/>
          <p:cNvSpPr/>
          <p:nvPr/>
        </p:nvSpPr>
        <p:spPr>
          <a:xfrm>
            <a:off x="548640" y="1280160"/>
            <a:ext cx="5852160" cy="658368"/>
          </a:xfrm>
          <a:prstGeom prst="roundRect">
            <a:avLst>
              <a:gd name="adj" fmla="val 13889"/>
            </a:avLst>
          </a:prstGeom>
          <a:solidFill>
            <a:srgbClr val="FFFFFF"/>
          </a:solidFill>
          <a:ln w="12700">
            <a:solidFill>
              <a:srgbClr val="D5DBE6"/>
            </a:solidFill>
            <a:prstDash val="solid"/>
          </a:ln>
        </p:spPr>
      </p:sp>
      <p:sp>
        <p:nvSpPr>
          <p:cNvPr id="8" name="Text 5"/>
          <p:cNvSpPr txBox="1"/>
          <p:nvPr/>
        </p:nvSpPr>
        <p:spPr>
          <a:xfrm>
            <a:off x="731520" y="1280160"/>
            <a:ext cx="5577840" cy="658368"/>
          </a:xfrm>
          <a:prstGeom prst="rect">
            <a:avLst/>
          </a:prstGeom>
          <a:noFill/>
          <a:ln/>
        </p:spPr>
        <p:txBody>
          <a:bodyPr wrap="square" lIns="0" tIns="0" rIns="0" bIns="0" rtlCol="0" anchor="ctr"/>
          <a:lstStyle/>
          <a:p>
            <a:pPr marL="0" indent="0">
              <a:buNone/>
            </a:pPr>
            <a:r>
              <a:rPr lang="en-US" sz="2000" b="1" dirty="0">
                <a:solidFill>
                  <a:srgbClr val="1D4ED8"/>
                </a:solidFill>
              </a:rPr>
              <a:t>Primary Key  </a:t>
            </a:r>
            <a:r>
              <a:rPr lang="en-US" sz="2000" dirty="0">
                <a:solidFill>
                  <a:srgbClr val="1F2937"/>
                </a:solidFill>
              </a:rPr>
              <a:t>Identifies each row uniquely</a:t>
            </a:r>
            <a:endParaRPr lang="en-US" sz="2000" dirty="0"/>
          </a:p>
        </p:txBody>
      </p:sp>
      <p:sp>
        <p:nvSpPr>
          <p:cNvPr id="9" name="Shape 6"/>
          <p:cNvSpPr/>
          <p:nvPr/>
        </p:nvSpPr>
        <p:spPr>
          <a:xfrm>
            <a:off x="548640" y="2029968"/>
            <a:ext cx="5852160" cy="658368"/>
          </a:xfrm>
          <a:prstGeom prst="roundRect">
            <a:avLst>
              <a:gd name="adj" fmla="val 13889"/>
            </a:avLst>
          </a:prstGeom>
          <a:solidFill>
            <a:srgbClr val="FFFFFF"/>
          </a:solidFill>
          <a:ln w="12700">
            <a:solidFill>
              <a:srgbClr val="D5DBE6"/>
            </a:solidFill>
            <a:prstDash val="solid"/>
          </a:ln>
        </p:spPr>
      </p:sp>
      <p:sp>
        <p:nvSpPr>
          <p:cNvPr id="10" name="Text 7"/>
          <p:cNvSpPr txBox="1"/>
          <p:nvPr/>
        </p:nvSpPr>
        <p:spPr>
          <a:xfrm>
            <a:off x="731520" y="2029968"/>
            <a:ext cx="5577840" cy="658368"/>
          </a:xfrm>
          <a:prstGeom prst="rect">
            <a:avLst/>
          </a:prstGeom>
          <a:noFill/>
          <a:ln/>
        </p:spPr>
        <p:txBody>
          <a:bodyPr wrap="square" lIns="0" tIns="0" rIns="0" bIns="0" rtlCol="0" anchor="ctr"/>
          <a:lstStyle/>
          <a:p>
            <a:pPr marL="0" indent="0">
              <a:buNone/>
            </a:pPr>
            <a:r>
              <a:rPr lang="en-US" sz="2000" b="1" dirty="0">
                <a:solidFill>
                  <a:srgbClr val="1D4ED8"/>
                </a:solidFill>
              </a:rPr>
              <a:t>Foreign Key  </a:t>
            </a:r>
            <a:r>
              <a:rPr lang="en-US" sz="2000" dirty="0">
                <a:solidFill>
                  <a:srgbClr val="1F2937"/>
                </a:solidFill>
              </a:rPr>
              <a:t>Links tables · referential integrity</a:t>
            </a:r>
            <a:endParaRPr lang="en-US" sz="2000" dirty="0"/>
          </a:p>
        </p:txBody>
      </p:sp>
      <p:sp>
        <p:nvSpPr>
          <p:cNvPr id="11" name="Shape 8"/>
          <p:cNvSpPr/>
          <p:nvPr/>
        </p:nvSpPr>
        <p:spPr>
          <a:xfrm>
            <a:off x="548640" y="2779776"/>
            <a:ext cx="5852160" cy="658368"/>
          </a:xfrm>
          <a:prstGeom prst="roundRect">
            <a:avLst>
              <a:gd name="adj" fmla="val 13889"/>
            </a:avLst>
          </a:prstGeom>
          <a:solidFill>
            <a:srgbClr val="FFFFFF"/>
          </a:solidFill>
          <a:ln w="12700">
            <a:solidFill>
              <a:srgbClr val="D5DBE6"/>
            </a:solidFill>
            <a:prstDash val="solid"/>
          </a:ln>
        </p:spPr>
      </p:sp>
      <p:sp>
        <p:nvSpPr>
          <p:cNvPr id="12" name="Text 9"/>
          <p:cNvSpPr txBox="1"/>
          <p:nvPr/>
        </p:nvSpPr>
        <p:spPr>
          <a:xfrm>
            <a:off x="731520" y="2779776"/>
            <a:ext cx="5577840" cy="658368"/>
          </a:xfrm>
          <a:prstGeom prst="rect">
            <a:avLst/>
          </a:prstGeom>
          <a:noFill/>
          <a:ln/>
        </p:spPr>
        <p:txBody>
          <a:bodyPr wrap="square" lIns="0" tIns="0" rIns="0" bIns="0" rtlCol="0" anchor="ctr"/>
          <a:lstStyle/>
          <a:p>
            <a:pPr marL="0" indent="0">
              <a:buNone/>
            </a:pPr>
            <a:r>
              <a:rPr lang="en-US" sz="2000" b="1" dirty="0">
                <a:solidFill>
                  <a:srgbClr val="1D4ED8"/>
                </a:solidFill>
              </a:rPr>
              <a:t>UNIQUE  </a:t>
            </a:r>
            <a:r>
              <a:rPr lang="en-US" sz="2000" dirty="0">
                <a:solidFill>
                  <a:srgbClr val="1F2937"/>
                </a:solidFill>
              </a:rPr>
              <a:t>users.email = candidate key</a:t>
            </a:r>
            <a:endParaRPr lang="en-US" sz="2000" dirty="0"/>
          </a:p>
        </p:txBody>
      </p:sp>
      <p:sp>
        <p:nvSpPr>
          <p:cNvPr id="13" name="Shape 10"/>
          <p:cNvSpPr/>
          <p:nvPr/>
        </p:nvSpPr>
        <p:spPr>
          <a:xfrm>
            <a:off x="548640" y="3529584"/>
            <a:ext cx="5852160" cy="658368"/>
          </a:xfrm>
          <a:prstGeom prst="roundRect">
            <a:avLst>
              <a:gd name="adj" fmla="val 13889"/>
            </a:avLst>
          </a:prstGeom>
          <a:solidFill>
            <a:srgbClr val="FFFFFF"/>
          </a:solidFill>
          <a:ln w="12700">
            <a:solidFill>
              <a:srgbClr val="D5DBE6"/>
            </a:solidFill>
            <a:prstDash val="solid"/>
          </a:ln>
        </p:spPr>
      </p:sp>
      <p:sp>
        <p:nvSpPr>
          <p:cNvPr id="14" name="Text 11"/>
          <p:cNvSpPr txBox="1"/>
          <p:nvPr/>
        </p:nvSpPr>
        <p:spPr>
          <a:xfrm>
            <a:off x="731520" y="3529584"/>
            <a:ext cx="5577840" cy="658368"/>
          </a:xfrm>
          <a:prstGeom prst="rect">
            <a:avLst/>
          </a:prstGeom>
          <a:noFill/>
          <a:ln/>
        </p:spPr>
        <p:txBody>
          <a:bodyPr wrap="square" lIns="0" tIns="0" rIns="0" bIns="0" rtlCol="0" anchor="ctr"/>
          <a:lstStyle/>
          <a:p>
            <a:pPr marL="0" indent="0">
              <a:buNone/>
            </a:pPr>
            <a:r>
              <a:rPr lang="en-US" sz="2000" b="1" dirty="0">
                <a:solidFill>
                  <a:srgbClr val="1D4ED8"/>
                </a:solidFill>
              </a:rPr>
              <a:t>NOT NULL  </a:t>
            </a:r>
            <a:r>
              <a:rPr lang="en-US" sz="2000" dirty="0">
                <a:solidFill>
                  <a:srgbClr val="1F2937"/>
                </a:solidFill>
              </a:rPr>
              <a:t>Value is required</a:t>
            </a:r>
            <a:endParaRPr lang="en-US" sz="2000" dirty="0"/>
          </a:p>
        </p:txBody>
      </p:sp>
      <p:sp>
        <p:nvSpPr>
          <p:cNvPr id="15" name="Shape 12"/>
          <p:cNvSpPr/>
          <p:nvPr/>
        </p:nvSpPr>
        <p:spPr>
          <a:xfrm>
            <a:off x="548640" y="4279392"/>
            <a:ext cx="5852160" cy="658368"/>
          </a:xfrm>
          <a:prstGeom prst="roundRect">
            <a:avLst>
              <a:gd name="adj" fmla="val 13889"/>
            </a:avLst>
          </a:prstGeom>
          <a:solidFill>
            <a:srgbClr val="FFFFFF"/>
          </a:solidFill>
          <a:ln w="12700">
            <a:solidFill>
              <a:srgbClr val="D5DBE6"/>
            </a:solidFill>
            <a:prstDash val="solid"/>
          </a:ln>
        </p:spPr>
      </p:sp>
      <p:sp>
        <p:nvSpPr>
          <p:cNvPr id="16" name="Text 13"/>
          <p:cNvSpPr txBox="1"/>
          <p:nvPr/>
        </p:nvSpPr>
        <p:spPr>
          <a:xfrm>
            <a:off x="731520" y="4279392"/>
            <a:ext cx="5577840" cy="658368"/>
          </a:xfrm>
          <a:prstGeom prst="rect">
            <a:avLst/>
          </a:prstGeom>
          <a:noFill/>
          <a:ln/>
        </p:spPr>
        <p:txBody>
          <a:bodyPr wrap="square" lIns="0" tIns="0" rIns="0" bIns="0" rtlCol="0" anchor="ctr"/>
          <a:lstStyle/>
          <a:p>
            <a:pPr marL="0" indent="0">
              <a:buNone/>
            </a:pPr>
            <a:r>
              <a:rPr lang="en-US" sz="2000" b="1" dirty="0">
                <a:solidFill>
                  <a:srgbClr val="1D4ED8"/>
                </a:solidFill>
              </a:rPr>
              <a:t>CHECK / DEFAULT / ENUM  </a:t>
            </a:r>
            <a:r>
              <a:rPr lang="en-US" sz="2000" dirty="0">
                <a:solidFill>
                  <a:srgbClr val="1F2937"/>
                </a:solidFill>
              </a:rPr>
              <a:t>Used where applicable</a:t>
            </a:r>
            <a:endParaRPr lang="en-US" sz="2000" dirty="0"/>
          </a:p>
        </p:txBody>
      </p:sp>
      <p:sp>
        <p:nvSpPr>
          <p:cNvPr id="17" name="Shape 14"/>
          <p:cNvSpPr/>
          <p:nvPr/>
        </p:nvSpPr>
        <p:spPr>
          <a:xfrm>
            <a:off x="6675120" y="1280160"/>
            <a:ext cx="4937760" cy="1828800"/>
          </a:xfrm>
          <a:prstGeom prst="roundRect">
            <a:avLst>
              <a:gd name="adj" fmla="val 4000"/>
            </a:avLst>
          </a:prstGeom>
          <a:solidFill>
            <a:srgbClr val="0B1F3A"/>
          </a:solidFill>
          <a:ln w="12700">
            <a:solidFill>
              <a:srgbClr val="0B1F3A"/>
            </a:solidFill>
            <a:prstDash val="solid"/>
          </a:ln>
        </p:spPr>
      </p:sp>
      <p:sp>
        <p:nvSpPr>
          <p:cNvPr id="18" name="Text 15"/>
          <p:cNvSpPr txBox="1"/>
          <p:nvPr/>
        </p:nvSpPr>
        <p:spPr>
          <a:xfrm>
            <a:off x="6858000" y="1280160"/>
            <a:ext cx="4572000" cy="1828800"/>
          </a:xfrm>
          <a:prstGeom prst="rect">
            <a:avLst/>
          </a:prstGeom>
          <a:noFill/>
          <a:ln/>
        </p:spPr>
        <p:txBody>
          <a:bodyPr wrap="square" lIns="0" tIns="0" rIns="0" bIns="0" rtlCol="0" anchor="ctr"/>
          <a:lstStyle/>
          <a:p>
            <a:pPr marL="0" indent="0">
              <a:buNone/>
            </a:pPr>
            <a:r>
              <a:rPr lang="en-US" sz="2400" dirty="0">
                <a:solidFill>
                  <a:srgbClr val="E6EDF7"/>
                </a:solidFill>
                <a:latin typeface="Consolas" pitchFamily="34" charset="0"/>
                <a:ea typeface="Consolas" pitchFamily="34" charset="-122"/>
                <a:cs typeface="Consolas" pitchFamily="34" charset="-120"/>
              </a:rPr>
              <a:t>booking_seats</a:t>
            </a:r>
            <a:endParaRPr lang="en-US" sz="2400" dirty="0"/>
          </a:p>
          <a:p>
            <a:pPr marL="0" indent="0">
              <a:buNone/>
            </a:pPr>
            <a:r>
              <a:rPr lang="en-US" sz="2400" dirty="0">
                <a:solidFill>
                  <a:srgbClr val="E6EDF7"/>
                </a:solidFill>
                <a:latin typeface="Consolas" pitchFamily="34" charset="0"/>
                <a:ea typeface="Consolas" pitchFamily="34" charset="-122"/>
                <a:cs typeface="Consolas" pitchFamily="34" charset="-120"/>
              </a:rPr>
              <a:t>UNIQUE (show_id, seat_id)</a:t>
            </a:r>
            <a:endParaRPr lang="en-US" sz="2400" dirty="0"/>
          </a:p>
        </p:txBody>
      </p:sp>
      <p:sp>
        <p:nvSpPr>
          <p:cNvPr id="19" name="Text 16"/>
          <p:cNvSpPr txBox="1"/>
          <p:nvPr/>
        </p:nvSpPr>
        <p:spPr>
          <a:xfrm>
            <a:off x="6675120" y="3291840"/>
            <a:ext cx="4937760" cy="914400"/>
          </a:xfrm>
          <a:prstGeom prst="rect">
            <a:avLst/>
          </a:prstGeom>
          <a:noFill/>
          <a:ln/>
        </p:spPr>
        <p:txBody>
          <a:bodyPr wrap="square" lIns="0" tIns="0" rIns="0" bIns="0" rtlCol="0" anchor="ctr"/>
          <a:lstStyle/>
          <a:p>
            <a:pPr marL="0" indent="0">
              <a:buNone/>
            </a:pPr>
            <a:r>
              <a:rPr lang="en-US" sz="2200" b="1" dirty="0">
                <a:solidFill>
                  <a:srgbClr val="1D4ED8"/>
                </a:solidFill>
              </a:rPr>
              <a:t>Same seat cannot be booked twice for the same show</a:t>
            </a:r>
            <a:endParaRPr lang="en-US" sz="2200" dirty="0"/>
          </a:p>
        </p:txBody>
      </p:sp>
      <p:sp>
        <p:nvSpPr>
          <p:cNvPr id="20" name="Text 17"/>
          <p:cNvSpPr txBox="1"/>
          <p:nvPr/>
        </p:nvSpPr>
        <p:spPr>
          <a:xfrm>
            <a:off x="6675120" y="4389120"/>
            <a:ext cx="4937760" cy="914400"/>
          </a:xfrm>
          <a:prstGeom prst="rect">
            <a:avLst/>
          </a:prstGeom>
          <a:noFill/>
          <a:ln/>
        </p:spPr>
        <p:txBody>
          <a:bodyPr wrap="square" lIns="0" tIns="0" rIns="0" bIns="0" rtlCol="0" anchor="ctr"/>
          <a:lstStyle/>
          <a:p>
            <a:pPr marL="0" indent="0">
              <a:buNone/>
            </a:pPr>
            <a:r>
              <a:rPr lang="en-US" sz="2000" dirty="0">
                <a:solidFill>
                  <a:srgbClr val="5B6575"/>
                </a:solidFill>
              </a:rPr>
              <a:t>Foreign keys: no booking without a real user and show</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0B1F3A"/>
          </a:solidFill>
          <a:ln w="12700">
            <a:solidFill>
              <a:srgbClr val="0B1F3A"/>
            </a:solidFill>
            <a:prstDash val="solid"/>
          </a:ln>
        </p:spPr>
      </p:sp>
      <p:sp>
        <p:nvSpPr>
          <p:cNvPr id="3" name="Shape 1"/>
          <p:cNvSpPr/>
          <p:nvPr/>
        </p:nvSpPr>
        <p:spPr>
          <a:xfrm>
            <a:off x="548640" y="1097280"/>
            <a:ext cx="2011680" cy="64008"/>
          </a:xfrm>
          <a:prstGeom prst="rect">
            <a:avLst/>
          </a:prstGeom>
          <a:solidFill>
            <a:srgbClr val="1D4ED8"/>
          </a:solidFill>
          <a:ln w="12700">
            <a:solidFill>
              <a:srgbClr val="1D4ED8"/>
            </a:solidFill>
            <a:prstDash val="solid"/>
          </a:ln>
        </p:spPr>
      </p:sp>
      <p:sp>
        <p:nvSpPr>
          <p:cNvPr id="4" name="Text 2"/>
          <p:cNvSpPr txBox="1"/>
          <p:nvPr/>
        </p:nvSpPr>
        <p:spPr>
          <a:xfrm>
            <a:off x="548640" y="274320"/>
            <a:ext cx="9509760" cy="822960"/>
          </a:xfrm>
          <a:prstGeom prst="rect">
            <a:avLst/>
          </a:prstGeom>
          <a:noFill/>
          <a:ln/>
        </p:spPr>
        <p:txBody>
          <a:bodyPr wrap="square" lIns="0" tIns="0" rIns="0" bIns="0" rtlCol="0" anchor="ctr"/>
          <a:lstStyle/>
          <a:p>
            <a:pPr marL="0" indent="0">
              <a:buNone/>
            </a:pPr>
            <a:r>
              <a:rPr lang="en-US" sz="3600" b="1" dirty="0">
                <a:solidFill>
                  <a:srgbClr val="0B1F3A"/>
                </a:solidFill>
              </a:rPr>
              <a:t>JOINs</a:t>
            </a:r>
            <a:endParaRPr lang="en-US" sz="3600" dirty="0"/>
          </a:p>
        </p:txBody>
      </p:sp>
      <p:sp>
        <p:nvSpPr>
          <p:cNvPr id="7" name="Shape 4"/>
          <p:cNvSpPr/>
          <p:nvPr/>
        </p:nvSpPr>
        <p:spPr>
          <a:xfrm>
            <a:off x="548640" y="1280160"/>
            <a:ext cx="11064240" cy="1737360"/>
          </a:xfrm>
          <a:prstGeom prst="roundRect">
            <a:avLst>
              <a:gd name="adj" fmla="val 4211"/>
            </a:avLst>
          </a:prstGeom>
          <a:solidFill>
            <a:srgbClr val="0B1F3A"/>
          </a:solidFill>
          <a:ln w="12700">
            <a:solidFill>
              <a:srgbClr val="0B1F3A"/>
            </a:solidFill>
            <a:prstDash val="solid"/>
          </a:ln>
        </p:spPr>
      </p:sp>
      <p:sp>
        <p:nvSpPr>
          <p:cNvPr id="8" name="Text 5"/>
          <p:cNvSpPr txBox="1"/>
          <p:nvPr/>
        </p:nvSpPr>
        <p:spPr>
          <a:xfrm>
            <a:off x="731520" y="1280160"/>
            <a:ext cx="10698480" cy="1737360"/>
          </a:xfrm>
          <a:prstGeom prst="rect">
            <a:avLst/>
          </a:prstGeom>
          <a:noFill/>
          <a:ln/>
        </p:spPr>
        <p:txBody>
          <a:bodyPr wrap="square" lIns="0" tIns="0" rIns="0" bIns="0" rtlCol="0" anchor="ctr"/>
          <a:lstStyle/>
          <a:p>
            <a:pPr marL="0" indent="0">
              <a:buNone/>
            </a:pPr>
            <a:r>
              <a:rPr lang="en-US" sz="2000" dirty="0">
                <a:solidFill>
                  <a:srgbClr val="E6EDF7"/>
                </a:solidFill>
                <a:latin typeface="Consolas" pitchFamily="34" charset="0"/>
                <a:ea typeface="Consolas" pitchFamily="34" charset="-122"/>
                <a:cs typeface="Consolas" pitchFamily="34" charset="-120"/>
              </a:rPr>
              <a:t>SELECT m.title, s.show_date, s.start_time</a:t>
            </a:r>
            <a:endParaRPr lang="en-US" sz="2000" dirty="0"/>
          </a:p>
          <a:p>
            <a:pPr marL="0" indent="0">
              <a:buNone/>
            </a:pPr>
            <a:r>
              <a:rPr lang="en-US" sz="2000" dirty="0">
                <a:solidFill>
                  <a:srgbClr val="E6EDF7"/>
                </a:solidFill>
                <a:latin typeface="Consolas" pitchFamily="34" charset="0"/>
                <a:ea typeface="Consolas" pitchFamily="34" charset="-122"/>
                <a:cs typeface="Consolas" pitchFamily="34" charset="-120"/>
              </a:rPr>
              <a:t>FROM movies m</a:t>
            </a:r>
            <a:endParaRPr lang="en-US" sz="2000" dirty="0"/>
          </a:p>
          <a:p>
            <a:pPr marL="0" indent="0">
              <a:buNone/>
            </a:pPr>
            <a:r>
              <a:rPr lang="en-US" sz="2000" dirty="0">
                <a:solidFill>
                  <a:srgbClr val="E6EDF7"/>
                </a:solidFill>
                <a:latin typeface="Consolas" pitchFamily="34" charset="0"/>
                <a:ea typeface="Consolas" pitchFamily="34" charset="-122"/>
                <a:cs typeface="Consolas" pitchFamily="34" charset="-120"/>
              </a:rPr>
              <a:t>JOIN shows s ON m.movie_id = s.movie_id;</a:t>
            </a:r>
            <a:endParaRPr lang="en-US" sz="2000" dirty="0"/>
          </a:p>
        </p:txBody>
      </p:sp>
      <p:sp>
        <p:nvSpPr>
          <p:cNvPr id="9" name="Shape 6"/>
          <p:cNvSpPr/>
          <p:nvPr/>
        </p:nvSpPr>
        <p:spPr>
          <a:xfrm>
            <a:off x="548640" y="3200400"/>
            <a:ext cx="11064240" cy="2011680"/>
          </a:xfrm>
          <a:prstGeom prst="roundRect">
            <a:avLst>
              <a:gd name="adj" fmla="val 3636"/>
            </a:avLst>
          </a:prstGeom>
          <a:solidFill>
            <a:srgbClr val="0B1F3A"/>
          </a:solidFill>
          <a:ln w="12700">
            <a:solidFill>
              <a:srgbClr val="0B1F3A"/>
            </a:solidFill>
            <a:prstDash val="solid"/>
          </a:ln>
        </p:spPr>
      </p:sp>
      <p:sp>
        <p:nvSpPr>
          <p:cNvPr id="10" name="Text 7"/>
          <p:cNvSpPr txBox="1"/>
          <p:nvPr/>
        </p:nvSpPr>
        <p:spPr>
          <a:xfrm>
            <a:off x="731520" y="3200400"/>
            <a:ext cx="10698480" cy="2011680"/>
          </a:xfrm>
          <a:prstGeom prst="rect">
            <a:avLst/>
          </a:prstGeom>
          <a:noFill/>
          <a:ln/>
        </p:spPr>
        <p:txBody>
          <a:bodyPr wrap="square" lIns="0" tIns="0" rIns="0" bIns="0" rtlCol="0" anchor="ctr"/>
          <a:lstStyle/>
          <a:p>
            <a:pPr marL="0" indent="0">
              <a:buNone/>
            </a:pPr>
            <a:r>
              <a:rPr lang="en-US" sz="2000" dirty="0">
                <a:solidFill>
                  <a:srgbClr val="E6EDF7"/>
                </a:solidFill>
                <a:latin typeface="Consolas" pitchFamily="34" charset="0"/>
                <a:ea typeface="Consolas" pitchFamily="34" charset="-122"/>
                <a:cs typeface="Consolas" pitchFamily="34" charset="-120"/>
              </a:rPr>
              <a:t>SELECT s.start_time, sc.screen_name, c.name</a:t>
            </a:r>
            <a:endParaRPr lang="en-US" sz="2000" dirty="0"/>
          </a:p>
          <a:p>
            <a:pPr marL="0" indent="0">
              <a:buNone/>
            </a:pPr>
            <a:r>
              <a:rPr lang="en-US" sz="2000" dirty="0">
                <a:solidFill>
                  <a:srgbClr val="E6EDF7"/>
                </a:solidFill>
                <a:latin typeface="Consolas" pitchFamily="34" charset="0"/>
                <a:ea typeface="Consolas" pitchFamily="34" charset="-122"/>
                <a:cs typeface="Consolas" pitchFamily="34" charset="-120"/>
              </a:rPr>
              <a:t>FROM shows s</a:t>
            </a:r>
            <a:endParaRPr lang="en-US" sz="2000" dirty="0"/>
          </a:p>
          <a:p>
            <a:pPr marL="0" indent="0">
              <a:buNone/>
            </a:pPr>
            <a:r>
              <a:rPr lang="en-US" sz="2000" dirty="0">
                <a:solidFill>
                  <a:srgbClr val="E6EDF7"/>
                </a:solidFill>
                <a:latin typeface="Consolas" pitchFamily="34" charset="0"/>
                <a:ea typeface="Consolas" pitchFamily="34" charset="-122"/>
                <a:cs typeface="Consolas" pitchFamily="34" charset="-120"/>
              </a:rPr>
              <a:t>JOIN screens sc ON s.screen_id = sc.screen_id</a:t>
            </a:r>
            <a:endParaRPr lang="en-US" sz="2000" dirty="0"/>
          </a:p>
          <a:p>
            <a:pPr marL="0" indent="0">
              <a:buNone/>
            </a:pPr>
            <a:r>
              <a:rPr lang="en-US" sz="2000" dirty="0">
                <a:solidFill>
                  <a:srgbClr val="E6EDF7"/>
                </a:solidFill>
                <a:latin typeface="Consolas" pitchFamily="34" charset="0"/>
                <a:ea typeface="Consolas" pitchFamily="34" charset="-122"/>
                <a:cs typeface="Consolas" pitchFamily="34" charset="-120"/>
              </a:rPr>
              <a:t>JOIN cinemas c ON sc.cinema_id = c.cinema_id;</a:t>
            </a:r>
            <a:endParaRPr lang="en-US" sz="2000" dirty="0"/>
          </a:p>
        </p:txBody>
      </p:sp>
      <p:sp>
        <p:nvSpPr>
          <p:cNvPr id="11" name="Shape 8"/>
          <p:cNvSpPr/>
          <p:nvPr/>
        </p:nvSpPr>
        <p:spPr>
          <a:xfrm>
            <a:off x="2377440" y="5486400"/>
            <a:ext cx="2011680" cy="640080"/>
          </a:xfrm>
          <a:prstGeom prst="roundRect">
            <a:avLst>
              <a:gd name="adj" fmla="val 11429"/>
            </a:avLst>
          </a:prstGeom>
          <a:solidFill>
            <a:srgbClr val="1D4ED8"/>
          </a:solidFill>
          <a:ln w="19050">
            <a:solidFill>
              <a:srgbClr val="1D4ED8"/>
            </a:solidFill>
            <a:prstDash val="solid"/>
          </a:ln>
        </p:spPr>
      </p:sp>
      <p:sp>
        <p:nvSpPr>
          <p:cNvPr id="12" name="Text 9"/>
          <p:cNvSpPr txBox="1"/>
          <p:nvPr/>
        </p:nvSpPr>
        <p:spPr>
          <a:xfrm>
            <a:off x="2377440" y="5486400"/>
            <a:ext cx="2011680" cy="640080"/>
          </a:xfrm>
          <a:prstGeom prst="rect">
            <a:avLst/>
          </a:prstGeom>
          <a:noFill/>
          <a:ln/>
        </p:spPr>
        <p:txBody>
          <a:bodyPr wrap="square" lIns="635" tIns="635" rIns="635" bIns="635" rtlCol="0" anchor="ctr"/>
          <a:lstStyle/>
          <a:p>
            <a:pPr marL="0" indent="0" algn="ctr">
              <a:buNone/>
            </a:pPr>
            <a:r>
              <a:rPr lang="en-US" sz="2000" b="1" dirty="0">
                <a:solidFill>
                  <a:srgbClr val="F4F6FA"/>
                </a:solidFill>
              </a:rPr>
              <a:t>shows</a:t>
            </a:r>
            <a:endParaRPr lang="en-US" sz="2000" dirty="0"/>
          </a:p>
        </p:txBody>
      </p:sp>
      <p:sp>
        <p:nvSpPr>
          <p:cNvPr id="13" name="Text 10"/>
          <p:cNvSpPr txBox="1"/>
          <p:nvPr/>
        </p:nvSpPr>
        <p:spPr>
          <a:xfrm>
            <a:off x="4389120" y="5486400"/>
            <a:ext cx="914400" cy="640080"/>
          </a:xfrm>
          <a:prstGeom prst="rect">
            <a:avLst/>
          </a:prstGeom>
          <a:noFill/>
          <a:ln/>
        </p:spPr>
        <p:txBody>
          <a:bodyPr wrap="square" lIns="0" tIns="0" rIns="0" bIns="0" rtlCol="0" anchor="ctr"/>
          <a:lstStyle/>
          <a:p>
            <a:pPr marL="0" indent="0" algn="ctr">
              <a:buNone/>
            </a:pPr>
            <a:r>
              <a:rPr lang="en-US" sz="3000" dirty="0">
                <a:solidFill>
                  <a:srgbClr val="1D4ED8"/>
                </a:solidFill>
              </a:rPr>
              <a:t>→</a:t>
            </a:r>
            <a:endParaRPr lang="en-US" sz="3000" dirty="0"/>
          </a:p>
        </p:txBody>
      </p:sp>
      <p:sp>
        <p:nvSpPr>
          <p:cNvPr id="14" name="Shape 11"/>
          <p:cNvSpPr/>
          <p:nvPr/>
        </p:nvSpPr>
        <p:spPr>
          <a:xfrm>
            <a:off x="5303520" y="5486400"/>
            <a:ext cx="2011680" cy="640080"/>
          </a:xfrm>
          <a:prstGeom prst="roundRect">
            <a:avLst>
              <a:gd name="adj" fmla="val 11429"/>
            </a:avLst>
          </a:prstGeom>
          <a:solidFill>
            <a:srgbClr val="FFFFFF"/>
          </a:solidFill>
          <a:ln w="19050">
            <a:solidFill>
              <a:srgbClr val="1D4ED8"/>
            </a:solidFill>
            <a:prstDash val="solid"/>
          </a:ln>
        </p:spPr>
      </p:sp>
      <p:sp>
        <p:nvSpPr>
          <p:cNvPr id="15" name="Text 12"/>
          <p:cNvSpPr txBox="1"/>
          <p:nvPr/>
        </p:nvSpPr>
        <p:spPr>
          <a:xfrm>
            <a:off x="5303520" y="5486400"/>
            <a:ext cx="2011680" cy="640080"/>
          </a:xfrm>
          <a:prstGeom prst="rect">
            <a:avLst/>
          </a:prstGeom>
          <a:noFill/>
          <a:ln/>
        </p:spPr>
        <p:txBody>
          <a:bodyPr wrap="square" lIns="635" tIns="635" rIns="635" bIns="635" rtlCol="0" anchor="ctr"/>
          <a:lstStyle/>
          <a:p>
            <a:pPr marL="0" indent="0" algn="ctr">
              <a:buNone/>
            </a:pPr>
            <a:r>
              <a:rPr lang="en-US" sz="2000" b="1" dirty="0">
                <a:solidFill>
                  <a:srgbClr val="1F2937"/>
                </a:solidFill>
              </a:rPr>
              <a:t>screens</a:t>
            </a:r>
            <a:endParaRPr lang="en-US" sz="2000" dirty="0"/>
          </a:p>
        </p:txBody>
      </p:sp>
      <p:sp>
        <p:nvSpPr>
          <p:cNvPr id="16" name="Text 13"/>
          <p:cNvSpPr txBox="1"/>
          <p:nvPr/>
        </p:nvSpPr>
        <p:spPr>
          <a:xfrm>
            <a:off x="7315200" y="5486400"/>
            <a:ext cx="914400" cy="640080"/>
          </a:xfrm>
          <a:prstGeom prst="rect">
            <a:avLst/>
          </a:prstGeom>
          <a:noFill/>
          <a:ln/>
        </p:spPr>
        <p:txBody>
          <a:bodyPr wrap="square" lIns="0" tIns="0" rIns="0" bIns="0" rtlCol="0" anchor="ctr"/>
          <a:lstStyle/>
          <a:p>
            <a:pPr marL="0" indent="0" algn="ctr">
              <a:buNone/>
            </a:pPr>
            <a:r>
              <a:rPr lang="en-US" sz="3000" dirty="0">
                <a:solidFill>
                  <a:srgbClr val="1D4ED8"/>
                </a:solidFill>
              </a:rPr>
              <a:t>→</a:t>
            </a:r>
            <a:endParaRPr lang="en-US" sz="3000" dirty="0"/>
          </a:p>
        </p:txBody>
      </p:sp>
      <p:sp>
        <p:nvSpPr>
          <p:cNvPr id="17" name="Shape 14"/>
          <p:cNvSpPr/>
          <p:nvPr/>
        </p:nvSpPr>
        <p:spPr>
          <a:xfrm>
            <a:off x="8229600" y="5486400"/>
            <a:ext cx="2011680" cy="640080"/>
          </a:xfrm>
          <a:prstGeom prst="roundRect">
            <a:avLst>
              <a:gd name="adj" fmla="val 11429"/>
            </a:avLst>
          </a:prstGeom>
          <a:solidFill>
            <a:srgbClr val="FFFFFF"/>
          </a:solidFill>
          <a:ln w="19050">
            <a:solidFill>
              <a:srgbClr val="1D4ED8"/>
            </a:solidFill>
            <a:prstDash val="solid"/>
          </a:ln>
        </p:spPr>
      </p:sp>
      <p:sp>
        <p:nvSpPr>
          <p:cNvPr id="18" name="Text 15"/>
          <p:cNvSpPr txBox="1"/>
          <p:nvPr/>
        </p:nvSpPr>
        <p:spPr>
          <a:xfrm>
            <a:off x="8229600" y="5486400"/>
            <a:ext cx="2011680" cy="640080"/>
          </a:xfrm>
          <a:prstGeom prst="rect">
            <a:avLst/>
          </a:prstGeom>
          <a:noFill/>
          <a:ln/>
        </p:spPr>
        <p:txBody>
          <a:bodyPr wrap="square" lIns="635" tIns="635" rIns="635" bIns="635" rtlCol="0" anchor="ctr"/>
          <a:lstStyle/>
          <a:p>
            <a:pPr marL="0" indent="0" algn="ctr">
              <a:buNone/>
            </a:pPr>
            <a:r>
              <a:rPr lang="en-US" sz="2000" b="1" dirty="0">
                <a:solidFill>
                  <a:srgbClr val="1F2937"/>
                </a:solidFill>
              </a:rPr>
              <a:t>cinemas</a:t>
            </a:r>
            <a:endParaRPr lang="en-US" sz="2000" dirty="0"/>
          </a:p>
        </p:txBody>
      </p:sp>
      <p:sp>
        <p:nvSpPr>
          <p:cNvPr id="19" name="Text 16"/>
          <p:cNvSpPr txBox="1"/>
          <p:nvPr/>
        </p:nvSpPr>
        <p:spPr>
          <a:xfrm>
            <a:off x="548640" y="6263640"/>
            <a:ext cx="11064240" cy="365760"/>
          </a:xfrm>
          <a:prstGeom prst="rect">
            <a:avLst/>
          </a:prstGeom>
          <a:noFill/>
          <a:ln/>
        </p:spPr>
        <p:txBody>
          <a:bodyPr wrap="square" lIns="0" tIns="0" rIns="0" bIns="0" rtlCol="0" anchor="ctr"/>
          <a:lstStyle/>
          <a:p>
            <a:pPr marL="0" indent="0" algn="ctr">
              <a:buNone/>
            </a:pPr>
            <a:r>
              <a:rPr lang="en-US" sz="1800" dirty="0">
                <a:solidFill>
                  <a:srgbClr val="5B6575"/>
                </a:solidFill>
              </a:rPr>
              <a:t>JOIN combines related data from normalized tables</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0B1F3A"/>
          </a:solidFill>
          <a:ln w="12700">
            <a:solidFill>
              <a:srgbClr val="0B1F3A"/>
            </a:solidFill>
            <a:prstDash val="solid"/>
          </a:ln>
        </p:spPr>
      </p:sp>
      <p:sp>
        <p:nvSpPr>
          <p:cNvPr id="3" name="Shape 1"/>
          <p:cNvSpPr/>
          <p:nvPr/>
        </p:nvSpPr>
        <p:spPr>
          <a:xfrm>
            <a:off x="548640" y="1097280"/>
            <a:ext cx="2011680" cy="64008"/>
          </a:xfrm>
          <a:prstGeom prst="rect">
            <a:avLst/>
          </a:prstGeom>
          <a:solidFill>
            <a:srgbClr val="1D4ED8"/>
          </a:solidFill>
          <a:ln w="12700">
            <a:solidFill>
              <a:srgbClr val="1D4ED8"/>
            </a:solidFill>
            <a:prstDash val="solid"/>
          </a:ln>
        </p:spPr>
      </p:sp>
      <p:sp>
        <p:nvSpPr>
          <p:cNvPr id="4" name="Text 2"/>
          <p:cNvSpPr txBox="1"/>
          <p:nvPr/>
        </p:nvSpPr>
        <p:spPr>
          <a:xfrm>
            <a:off x="548640" y="274320"/>
            <a:ext cx="9509760" cy="822960"/>
          </a:xfrm>
          <a:prstGeom prst="rect">
            <a:avLst/>
          </a:prstGeom>
          <a:noFill/>
          <a:ln/>
        </p:spPr>
        <p:txBody>
          <a:bodyPr wrap="square" lIns="0" tIns="0" rIns="0" bIns="0" rtlCol="0" anchor="ctr"/>
          <a:lstStyle/>
          <a:p>
            <a:pPr marL="0" indent="0">
              <a:buNone/>
            </a:pPr>
            <a:r>
              <a:rPr lang="en-US" sz="3600" b="1" dirty="0">
                <a:solidFill>
                  <a:srgbClr val="0B1F3A"/>
                </a:solidFill>
              </a:rPr>
              <a:t>Indexing &amp; Query Optimization</a:t>
            </a:r>
            <a:endParaRPr lang="en-US" sz="3600" dirty="0"/>
          </a:p>
        </p:txBody>
      </p:sp>
      <p:sp>
        <p:nvSpPr>
          <p:cNvPr id="7" name="Shape 4"/>
          <p:cNvSpPr/>
          <p:nvPr/>
        </p:nvSpPr>
        <p:spPr>
          <a:xfrm>
            <a:off x="548640" y="1280160"/>
            <a:ext cx="5669280" cy="658368"/>
          </a:xfrm>
          <a:prstGeom prst="roundRect">
            <a:avLst>
              <a:gd name="adj" fmla="val 11111"/>
            </a:avLst>
          </a:prstGeom>
          <a:solidFill>
            <a:srgbClr val="FFFFFF"/>
          </a:solidFill>
          <a:ln w="19050">
            <a:solidFill>
              <a:srgbClr val="1D4ED8"/>
            </a:solidFill>
            <a:prstDash val="solid"/>
          </a:ln>
        </p:spPr>
      </p:sp>
      <p:sp>
        <p:nvSpPr>
          <p:cNvPr id="8" name="Text 5"/>
          <p:cNvSpPr txBox="1"/>
          <p:nvPr/>
        </p:nvSpPr>
        <p:spPr>
          <a:xfrm>
            <a:off x="548640" y="1280160"/>
            <a:ext cx="5669280" cy="658368"/>
          </a:xfrm>
          <a:prstGeom prst="rect">
            <a:avLst/>
          </a:prstGeom>
          <a:noFill/>
          <a:ln/>
        </p:spPr>
        <p:txBody>
          <a:bodyPr wrap="square" lIns="635" tIns="635" rIns="635" bIns="635" rtlCol="0" anchor="ctr"/>
          <a:lstStyle/>
          <a:p>
            <a:pPr marL="0" indent="0" algn="ctr">
              <a:buNone/>
            </a:pPr>
            <a:r>
              <a:rPr lang="en-US" sz="2000" b="1" dirty="0">
                <a:solidFill>
                  <a:srgbClr val="1D4ED8"/>
                </a:solidFill>
              </a:rPr>
              <a:t>users.email</a:t>
            </a:r>
            <a:endParaRPr lang="en-US" sz="2000" dirty="0"/>
          </a:p>
        </p:txBody>
      </p:sp>
      <p:sp>
        <p:nvSpPr>
          <p:cNvPr id="9" name="Shape 6"/>
          <p:cNvSpPr/>
          <p:nvPr/>
        </p:nvSpPr>
        <p:spPr>
          <a:xfrm>
            <a:off x="548640" y="2057400"/>
            <a:ext cx="5669280" cy="658368"/>
          </a:xfrm>
          <a:prstGeom prst="roundRect">
            <a:avLst>
              <a:gd name="adj" fmla="val 11111"/>
            </a:avLst>
          </a:prstGeom>
          <a:solidFill>
            <a:srgbClr val="FFFFFF"/>
          </a:solidFill>
          <a:ln w="19050">
            <a:solidFill>
              <a:srgbClr val="1D4ED8"/>
            </a:solidFill>
            <a:prstDash val="solid"/>
          </a:ln>
        </p:spPr>
      </p:sp>
      <p:sp>
        <p:nvSpPr>
          <p:cNvPr id="10" name="Text 7"/>
          <p:cNvSpPr txBox="1"/>
          <p:nvPr/>
        </p:nvSpPr>
        <p:spPr>
          <a:xfrm>
            <a:off x="548640" y="2057400"/>
            <a:ext cx="5669280" cy="658368"/>
          </a:xfrm>
          <a:prstGeom prst="rect">
            <a:avLst/>
          </a:prstGeom>
          <a:noFill/>
          <a:ln/>
        </p:spPr>
        <p:txBody>
          <a:bodyPr wrap="square" lIns="635" tIns="635" rIns="635" bIns="635" rtlCol="0" anchor="ctr"/>
          <a:lstStyle/>
          <a:p>
            <a:pPr marL="0" indent="0" algn="ctr">
              <a:buNone/>
            </a:pPr>
            <a:r>
              <a:rPr lang="en-US" sz="2000" b="1" dirty="0">
                <a:solidFill>
                  <a:srgbClr val="1D4ED8"/>
                </a:solidFill>
              </a:rPr>
              <a:t>shows(movie_id, show_date)</a:t>
            </a:r>
            <a:endParaRPr lang="en-US" sz="2000" dirty="0"/>
          </a:p>
        </p:txBody>
      </p:sp>
      <p:sp>
        <p:nvSpPr>
          <p:cNvPr id="11" name="Shape 8"/>
          <p:cNvSpPr/>
          <p:nvPr/>
        </p:nvSpPr>
        <p:spPr>
          <a:xfrm>
            <a:off x="548640" y="2834640"/>
            <a:ext cx="5669280" cy="658368"/>
          </a:xfrm>
          <a:prstGeom prst="roundRect">
            <a:avLst>
              <a:gd name="adj" fmla="val 11111"/>
            </a:avLst>
          </a:prstGeom>
          <a:solidFill>
            <a:srgbClr val="FFFFFF"/>
          </a:solidFill>
          <a:ln w="19050">
            <a:solidFill>
              <a:srgbClr val="1D4ED8"/>
            </a:solidFill>
            <a:prstDash val="solid"/>
          </a:ln>
        </p:spPr>
      </p:sp>
      <p:sp>
        <p:nvSpPr>
          <p:cNvPr id="12" name="Text 9"/>
          <p:cNvSpPr txBox="1"/>
          <p:nvPr/>
        </p:nvSpPr>
        <p:spPr>
          <a:xfrm>
            <a:off x="548640" y="2834640"/>
            <a:ext cx="5669280" cy="658368"/>
          </a:xfrm>
          <a:prstGeom prst="rect">
            <a:avLst/>
          </a:prstGeom>
          <a:noFill/>
          <a:ln/>
        </p:spPr>
        <p:txBody>
          <a:bodyPr wrap="square" lIns="635" tIns="635" rIns="635" bIns="635" rtlCol="0" anchor="ctr"/>
          <a:lstStyle/>
          <a:p>
            <a:pPr marL="0" indent="0" algn="ctr">
              <a:buNone/>
            </a:pPr>
            <a:r>
              <a:rPr lang="en-US" sz="2000" b="1" dirty="0">
                <a:solidFill>
                  <a:srgbClr val="1D4ED8"/>
                </a:solidFill>
              </a:rPr>
              <a:t>booking_seats(show_id, seat_id)</a:t>
            </a:r>
            <a:endParaRPr lang="en-US" sz="2000" dirty="0"/>
          </a:p>
        </p:txBody>
      </p:sp>
      <p:sp>
        <p:nvSpPr>
          <p:cNvPr id="13" name="Shape 10"/>
          <p:cNvSpPr/>
          <p:nvPr/>
        </p:nvSpPr>
        <p:spPr>
          <a:xfrm>
            <a:off x="548640" y="3611880"/>
            <a:ext cx="5669280" cy="658368"/>
          </a:xfrm>
          <a:prstGeom prst="roundRect">
            <a:avLst>
              <a:gd name="adj" fmla="val 11111"/>
            </a:avLst>
          </a:prstGeom>
          <a:solidFill>
            <a:srgbClr val="FFFFFF"/>
          </a:solidFill>
          <a:ln w="19050">
            <a:solidFill>
              <a:srgbClr val="1D4ED8"/>
            </a:solidFill>
            <a:prstDash val="solid"/>
          </a:ln>
        </p:spPr>
      </p:sp>
      <p:sp>
        <p:nvSpPr>
          <p:cNvPr id="14" name="Text 11"/>
          <p:cNvSpPr txBox="1"/>
          <p:nvPr/>
        </p:nvSpPr>
        <p:spPr>
          <a:xfrm>
            <a:off x="548640" y="3611880"/>
            <a:ext cx="5669280" cy="658368"/>
          </a:xfrm>
          <a:prstGeom prst="rect">
            <a:avLst/>
          </a:prstGeom>
          <a:noFill/>
          <a:ln/>
        </p:spPr>
        <p:txBody>
          <a:bodyPr wrap="square" lIns="635" tIns="635" rIns="635" bIns="635" rtlCol="0" anchor="ctr"/>
          <a:lstStyle/>
          <a:p>
            <a:pPr marL="0" indent="0" algn="ctr">
              <a:buNone/>
            </a:pPr>
            <a:r>
              <a:rPr lang="en-US" sz="2000" b="1" dirty="0">
                <a:solidFill>
                  <a:srgbClr val="1D4ED8"/>
                </a:solidFill>
              </a:rPr>
              <a:t>seat_locks(show_id, expires_at)</a:t>
            </a:r>
            <a:endParaRPr lang="en-US" sz="2000" dirty="0"/>
          </a:p>
        </p:txBody>
      </p:sp>
      <p:sp>
        <p:nvSpPr>
          <p:cNvPr id="15" name="Text 12"/>
          <p:cNvSpPr txBox="1"/>
          <p:nvPr/>
        </p:nvSpPr>
        <p:spPr>
          <a:xfrm>
            <a:off x="6675120" y="1280160"/>
            <a:ext cx="4937760" cy="365760"/>
          </a:xfrm>
          <a:prstGeom prst="rect">
            <a:avLst/>
          </a:prstGeom>
          <a:noFill/>
          <a:ln/>
        </p:spPr>
        <p:txBody>
          <a:bodyPr wrap="square" lIns="0" tIns="0" rIns="0" bIns="0" rtlCol="0" anchor="ctr"/>
          <a:lstStyle/>
          <a:p>
            <a:pPr marL="0" indent="0">
              <a:buNone/>
            </a:pPr>
            <a:r>
              <a:rPr lang="en-US" sz="2000" dirty="0">
                <a:solidFill>
                  <a:srgbClr val="5B6575"/>
                </a:solidFill>
              </a:rPr>
              <a:t>Without index</a:t>
            </a:r>
            <a:endParaRPr lang="en-US" sz="2000" dirty="0"/>
          </a:p>
        </p:txBody>
      </p:sp>
      <p:sp>
        <p:nvSpPr>
          <p:cNvPr id="16" name="Shape 13"/>
          <p:cNvSpPr/>
          <p:nvPr/>
        </p:nvSpPr>
        <p:spPr>
          <a:xfrm>
            <a:off x="6675120" y="1691640"/>
            <a:ext cx="4937760" cy="457200"/>
          </a:xfrm>
          <a:prstGeom prst="rect">
            <a:avLst/>
          </a:prstGeom>
          <a:solidFill>
            <a:srgbClr val="B42318"/>
          </a:solidFill>
          <a:ln w="12700">
            <a:solidFill>
              <a:srgbClr val="B42318"/>
            </a:solidFill>
            <a:prstDash val="solid"/>
          </a:ln>
        </p:spPr>
      </p:sp>
      <p:sp>
        <p:nvSpPr>
          <p:cNvPr id="17" name="Text 14"/>
          <p:cNvSpPr txBox="1"/>
          <p:nvPr/>
        </p:nvSpPr>
        <p:spPr>
          <a:xfrm>
            <a:off x="6675120" y="2194560"/>
            <a:ext cx="4937760" cy="365760"/>
          </a:xfrm>
          <a:prstGeom prst="rect">
            <a:avLst/>
          </a:prstGeom>
          <a:noFill/>
          <a:ln/>
        </p:spPr>
        <p:txBody>
          <a:bodyPr wrap="square" lIns="0" tIns="0" rIns="0" bIns="0" rtlCol="0" anchor="ctr"/>
          <a:lstStyle/>
          <a:p>
            <a:pPr marL="0" indent="0">
              <a:buNone/>
            </a:pPr>
            <a:r>
              <a:rPr lang="en-US" sz="1800" dirty="0">
                <a:solidFill>
                  <a:srgbClr val="1F2937"/>
                </a:solidFill>
              </a:rPr>
              <a:t>Full table scan: reads many rows</a:t>
            </a:r>
            <a:endParaRPr lang="en-US" sz="1800" dirty="0"/>
          </a:p>
        </p:txBody>
      </p:sp>
      <p:sp>
        <p:nvSpPr>
          <p:cNvPr id="18" name="Text 15"/>
          <p:cNvSpPr txBox="1"/>
          <p:nvPr/>
        </p:nvSpPr>
        <p:spPr>
          <a:xfrm>
            <a:off x="6675120" y="2743200"/>
            <a:ext cx="4937760" cy="365760"/>
          </a:xfrm>
          <a:prstGeom prst="rect">
            <a:avLst/>
          </a:prstGeom>
          <a:noFill/>
          <a:ln/>
        </p:spPr>
        <p:txBody>
          <a:bodyPr wrap="square" lIns="0" tIns="0" rIns="0" bIns="0" rtlCol="0" anchor="ctr"/>
          <a:lstStyle/>
          <a:p>
            <a:pPr marL="0" indent="0">
              <a:buNone/>
            </a:pPr>
            <a:r>
              <a:rPr lang="en-US" sz="2000" dirty="0">
                <a:solidFill>
                  <a:srgbClr val="5B6575"/>
                </a:solidFill>
              </a:rPr>
              <a:t>With index</a:t>
            </a:r>
            <a:endParaRPr lang="en-US" sz="2000" dirty="0"/>
          </a:p>
        </p:txBody>
      </p:sp>
      <p:sp>
        <p:nvSpPr>
          <p:cNvPr id="19" name="Shape 16"/>
          <p:cNvSpPr/>
          <p:nvPr/>
        </p:nvSpPr>
        <p:spPr>
          <a:xfrm>
            <a:off x="6675120" y="3154680"/>
            <a:ext cx="1463040" cy="457200"/>
          </a:xfrm>
          <a:prstGeom prst="rect">
            <a:avLst/>
          </a:prstGeom>
          <a:solidFill>
            <a:srgbClr val="15803D"/>
          </a:solidFill>
          <a:ln w="12700">
            <a:solidFill>
              <a:srgbClr val="15803D"/>
            </a:solidFill>
            <a:prstDash val="solid"/>
          </a:ln>
        </p:spPr>
      </p:sp>
      <p:sp>
        <p:nvSpPr>
          <p:cNvPr id="20" name="Text 17"/>
          <p:cNvSpPr txBox="1"/>
          <p:nvPr/>
        </p:nvSpPr>
        <p:spPr>
          <a:xfrm>
            <a:off x="6675120" y="3657600"/>
            <a:ext cx="4937760" cy="365760"/>
          </a:xfrm>
          <a:prstGeom prst="rect">
            <a:avLst/>
          </a:prstGeom>
          <a:noFill/>
          <a:ln/>
        </p:spPr>
        <p:txBody>
          <a:bodyPr wrap="square" lIns="0" tIns="0" rIns="0" bIns="0" rtlCol="0" anchor="ctr"/>
          <a:lstStyle/>
          <a:p>
            <a:pPr marL="0" indent="0">
              <a:buNone/>
            </a:pPr>
            <a:r>
              <a:rPr lang="en-US" sz="1800" dirty="0">
                <a:solidFill>
                  <a:srgbClr val="1F2937"/>
                </a:solidFill>
              </a:rPr>
              <a:t>B-tree index: reads fewer rows</a:t>
            </a:r>
            <a:endParaRPr lang="en-US" sz="1800" dirty="0"/>
          </a:p>
        </p:txBody>
      </p:sp>
      <p:sp>
        <p:nvSpPr>
          <p:cNvPr id="21" name="Shape 18"/>
          <p:cNvSpPr/>
          <p:nvPr/>
        </p:nvSpPr>
        <p:spPr>
          <a:xfrm>
            <a:off x="548640" y="4572000"/>
            <a:ext cx="5669280" cy="822960"/>
          </a:xfrm>
          <a:prstGeom prst="roundRect">
            <a:avLst>
              <a:gd name="adj" fmla="val 8889"/>
            </a:avLst>
          </a:prstGeom>
          <a:solidFill>
            <a:srgbClr val="0B1F3A"/>
          </a:solidFill>
          <a:ln w="12700">
            <a:solidFill>
              <a:srgbClr val="0B1F3A"/>
            </a:solidFill>
            <a:prstDash val="solid"/>
          </a:ln>
        </p:spPr>
      </p:sp>
      <p:sp>
        <p:nvSpPr>
          <p:cNvPr id="22" name="Text 19"/>
          <p:cNvSpPr txBox="1"/>
          <p:nvPr/>
        </p:nvSpPr>
        <p:spPr>
          <a:xfrm>
            <a:off x="731520" y="4572000"/>
            <a:ext cx="5303520" cy="822960"/>
          </a:xfrm>
          <a:prstGeom prst="rect">
            <a:avLst/>
          </a:prstGeom>
          <a:noFill/>
          <a:ln/>
        </p:spPr>
        <p:txBody>
          <a:bodyPr wrap="square" lIns="0" tIns="0" rIns="0" bIns="0" rtlCol="0" anchor="ctr"/>
          <a:lstStyle/>
          <a:p>
            <a:pPr marL="0" indent="0">
              <a:buNone/>
            </a:pPr>
            <a:r>
              <a:rPr lang="en-US" sz="2200" dirty="0">
                <a:solidFill>
                  <a:srgbClr val="E6EDF7"/>
                </a:solidFill>
                <a:latin typeface="Consolas" pitchFamily="34" charset="0"/>
                <a:ea typeface="Consolas" pitchFamily="34" charset="-122"/>
                <a:cs typeface="Consolas" pitchFamily="34" charset="-120"/>
              </a:rPr>
              <a:t>EXPLAIN SELECT ...;</a:t>
            </a:r>
            <a:endParaRPr lang="en-US" sz="2200" dirty="0"/>
          </a:p>
        </p:txBody>
      </p:sp>
      <p:sp>
        <p:nvSpPr>
          <p:cNvPr id="23" name="Text 20"/>
          <p:cNvSpPr txBox="1"/>
          <p:nvPr/>
        </p:nvSpPr>
        <p:spPr>
          <a:xfrm>
            <a:off x="548640" y="5577840"/>
            <a:ext cx="11064240" cy="548640"/>
          </a:xfrm>
          <a:prstGeom prst="rect">
            <a:avLst/>
          </a:prstGeom>
          <a:noFill/>
          <a:ln/>
        </p:spPr>
        <p:txBody>
          <a:bodyPr wrap="square" lIns="0" tIns="0" rIns="0" bIns="0" rtlCol="0" anchor="ctr"/>
          <a:lstStyle/>
          <a:p>
            <a:pPr marL="0" indent="0">
              <a:buNone/>
            </a:pPr>
            <a:r>
              <a:rPr lang="en-US" sz="2200" dirty="0">
                <a:solidFill>
                  <a:srgbClr val="1F2937"/>
                </a:solidFill>
              </a:rPr>
              <a:t>EXPLAIN shows: table access, indexes used, estimated rows</a:t>
            </a:r>
            <a:endParaRPr lang="en-US"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0B1F3A"/>
          </a:solidFill>
          <a:ln w="12700">
            <a:solidFill>
              <a:srgbClr val="0B1F3A"/>
            </a:solidFill>
            <a:prstDash val="solid"/>
          </a:ln>
        </p:spPr>
      </p:sp>
      <p:sp>
        <p:nvSpPr>
          <p:cNvPr id="3" name="Shape 1"/>
          <p:cNvSpPr/>
          <p:nvPr/>
        </p:nvSpPr>
        <p:spPr>
          <a:xfrm>
            <a:off x="548640" y="1097280"/>
            <a:ext cx="2011680" cy="64008"/>
          </a:xfrm>
          <a:prstGeom prst="rect">
            <a:avLst/>
          </a:prstGeom>
          <a:solidFill>
            <a:srgbClr val="1D4ED8"/>
          </a:solidFill>
          <a:ln w="12700">
            <a:solidFill>
              <a:srgbClr val="1D4ED8"/>
            </a:solidFill>
            <a:prstDash val="solid"/>
          </a:ln>
        </p:spPr>
      </p:sp>
      <p:sp>
        <p:nvSpPr>
          <p:cNvPr id="4" name="Text 2"/>
          <p:cNvSpPr txBox="1"/>
          <p:nvPr/>
        </p:nvSpPr>
        <p:spPr>
          <a:xfrm>
            <a:off x="548640" y="274320"/>
            <a:ext cx="9509760" cy="822960"/>
          </a:xfrm>
          <a:prstGeom prst="rect">
            <a:avLst/>
          </a:prstGeom>
          <a:noFill/>
          <a:ln/>
        </p:spPr>
        <p:txBody>
          <a:bodyPr wrap="square" lIns="0" tIns="0" rIns="0" bIns="0" rtlCol="0" anchor="ctr"/>
          <a:lstStyle/>
          <a:p>
            <a:pPr marL="0" indent="0">
              <a:buNone/>
            </a:pPr>
            <a:r>
              <a:rPr lang="en-US" sz="3600" b="1" dirty="0">
                <a:solidFill>
                  <a:srgbClr val="0B1F3A"/>
                </a:solidFill>
              </a:rPr>
              <a:t>Transactions &amp; ACID</a:t>
            </a:r>
            <a:endParaRPr lang="en-US" sz="3600" dirty="0"/>
          </a:p>
        </p:txBody>
      </p:sp>
      <p:sp>
        <p:nvSpPr>
          <p:cNvPr id="7" name="Shape 4"/>
          <p:cNvSpPr/>
          <p:nvPr/>
        </p:nvSpPr>
        <p:spPr>
          <a:xfrm>
            <a:off x="548640" y="1234440"/>
            <a:ext cx="3474720" cy="566928"/>
          </a:xfrm>
          <a:prstGeom prst="roundRect">
            <a:avLst>
              <a:gd name="adj" fmla="val 12903"/>
            </a:avLst>
          </a:prstGeom>
          <a:solidFill>
            <a:srgbClr val="FFFFFF"/>
          </a:solidFill>
          <a:ln w="19050">
            <a:solidFill>
              <a:srgbClr val="5B6575"/>
            </a:solidFill>
            <a:prstDash val="solid"/>
          </a:ln>
        </p:spPr>
      </p:sp>
      <p:sp>
        <p:nvSpPr>
          <p:cNvPr id="8" name="Text 5"/>
          <p:cNvSpPr txBox="1"/>
          <p:nvPr/>
        </p:nvSpPr>
        <p:spPr>
          <a:xfrm>
            <a:off x="548640" y="1234440"/>
            <a:ext cx="3474720" cy="566928"/>
          </a:xfrm>
          <a:prstGeom prst="rect">
            <a:avLst/>
          </a:prstGeom>
          <a:noFill/>
          <a:ln/>
        </p:spPr>
        <p:txBody>
          <a:bodyPr wrap="square" lIns="635" tIns="635" rIns="635" bIns="635" rtlCol="0" anchor="ctr"/>
          <a:lstStyle/>
          <a:p>
            <a:pPr marL="0" indent="0" algn="ctr">
              <a:buNone/>
            </a:pPr>
            <a:r>
              <a:rPr lang="en-US" sz="2000" b="1" dirty="0">
                <a:solidFill>
                  <a:srgbClr val="1F2937"/>
                </a:solidFill>
              </a:rPr>
              <a:t>BEGIN</a:t>
            </a:r>
            <a:endParaRPr lang="en-US" sz="2000" dirty="0"/>
          </a:p>
        </p:txBody>
      </p:sp>
      <p:sp>
        <p:nvSpPr>
          <p:cNvPr id="9" name="Text 6"/>
          <p:cNvSpPr txBox="1"/>
          <p:nvPr/>
        </p:nvSpPr>
        <p:spPr>
          <a:xfrm>
            <a:off x="2011680" y="1764792"/>
            <a:ext cx="548640" cy="182880"/>
          </a:xfrm>
          <a:prstGeom prst="rect">
            <a:avLst/>
          </a:prstGeom>
          <a:noFill/>
          <a:ln/>
        </p:spPr>
        <p:txBody>
          <a:bodyPr wrap="square" lIns="0" tIns="0" rIns="0" bIns="0" rtlCol="0" anchor="ctr"/>
          <a:lstStyle/>
          <a:p>
            <a:pPr marL="0" indent="0" algn="ctr">
              <a:buNone/>
            </a:pPr>
            <a:r>
              <a:rPr lang="en-US" sz="1400" dirty="0">
                <a:solidFill>
                  <a:srgbClr val="1D4ED8"/>
                </a:solidFill>
              </a:rPr>
              <a:t>↓</a:t>
            </a:r>
            <a:endParaRPr lang="en-US" sz="1400" dirty="0"/>
          </a:p>
        </p:txBody>
      </p:sp>
      <p:sp>
        <p:nvSpPr>
          <p:cNvPr id="10" name="Shape 7"/>
          <p:cNvSpPr/>
          <p:nvPr/>
        </p:nvSpPr>
        <p:spPr>
          <a:xfrm>
            <a:off x="548640" y="1947672"/>
            <a:ext cx="3474720" cy="566928"/>
          </a:xfrm>
          <a:prstGeom prst="roundRect">
            <a:avLst>
              <a:gd name="adj" fmla="val 12903"/>
            </a:avLst>
          </a:prstGeom>
          <a:solidFill>
            <a:srgbClr val="FFFFFF"/>
          </a:solidFill>
          <a:ln w="19050">
            <a:solidFill>
              <a:srgbClr val="5B6575"/>
            </a:solidFill>
            <a:prstDash val="solid"/>
          </a:ln>
        </p:spPr>
      </p:sp>
      <p:sp>
        <p:nvSpPr>
          <p:cNvPr id="11" name="Text 8"/>
          <p:cNvSpPr txBox="1"/>
          <p:nvPr/>
        </p:nvSpPr>
        <p:spPr>
          <a:xfrm>
            <a:off x="548640" y="1947672"/>
            <a:ext cx="3474720" cy="566928"/>
          </a:xfrm>
          <a:prstGeom prst="rect">
            <a:avLst/>
          </a:prstGeom>
          <a:noFill/>
          <a:ln/>
        </p:spPr>
        <p:txBody>
          <a:bodyPr wrap="square" lIns="635" tIns="635" rIns="635" bIns="635" rtlCol="0" anchor="ctr"/>
          <a:lstStyle/>
          <a:p>
            <a:pPr marL="0" indent="0" algn="ctr">
              <a:buNone/>
            </a:pPr>
            <a:r>
              <a:rPr lang="en-US" sz="2000" b="1" dirty="0">
                <a:solidFill>
                  <a:srgbClr val="1F2937"/>
                </a:solidFill>
              </a:rPr>
              <a:t>Check availability</a:t>
            </a:r>
            <a:endParaRPr lang="en-US" sz="2000" dirty="0"/>
          </a:p>
        </p:txBody>
      </p:sp>
      <p:sp>
        <p:nvSpPr>
          <p:cNvPr id="12" name="Text 9"/>
          <p:cNvSpPr txBox="1"/>
          <p:nvPr/>
        </p:nvSpPr>
        <p:spPr>
          <a:xfrm>
            <a:off x="2011680" y="2478024"/>
            <a:ext cx="548640" cy="182880"/>
          </a:xfrm>
          <a:prstGeom prst="rect">
            <a:avLst/>
          </a:prstGeom>
          <a:noFill/>
          <a:ln/>
        </p:spPr>
        <p:txBody>
          <a:bodyPr wrap="square" lIns="0" tIns="0" rIns="0" bIns="0" rtlCol="0" anchor="ctr"/>
          <a:lstStyle/>
          <a:p>
            <a:pPr marL="0" indent="0" algn="ctr">
              <a:buNone/>
            </a:pPr>
            <a:r>
              <a:rPr lang="en-US" sz="1400" dirty="0">
                <a:solidFill>
                  <a:srgbClr val="1D4ED8"/>
                </a:solidFill>
              </a:rPr>
              <a:t>↓</a:t>
            </a:r>
            <a:endParaRPr lang="en-US" sz="1400" dirty="0"/>
          </a:p>
        </p:txBody>
      </p:sp>
      <p:sp>
        <p:nvSpPr>
          <p:cNvPr id="13" name="Shape 10"/>
          <p:cNvSpPr/>
          <p:nvPr/>
        </p:nvSpPr>
        <p:spPr>
          <a:xfrm>
            <a:off x="548640" y="2660904"/>
            <a:ext cx="3474720" cy="566928"/>
          </a:xfrm>
          <a:prstGeom prst="roundRect">
            <a:avLst>
              <a:gd name="adj" fmla="val 12903"/>
            </a:avLst>
          </a:prstGeom>
          <a:solidFill>
            <a:srgbClr val="FFFFFF"/>
          </a:solidFill>
          <a:ln w="19050">
            <a:solidFill>
              <a:srgbClr val="5B6575"/>
            </a:solidFill>
            <a:prstDash val="solid"/>
          </a:ln>
        </p:spPr>
      </p:sp>
      <p:sp>
        <p:nvSpPr>
          <p:cNvPr id="14" name="Text 11"/>
          <p:cNvSpPr txBox="1"/>
          <p:nvPr/>
        </p:nvSpPr>
        <p:spPr>
          <a:xfrm>
            <a:off x="548640" y="2660904"/>
            <a:ext cx="3474720" cy="566928"/>
          </a:xfrm>
          <a:prstGeom prst="rect">
            <a:avLst/>
          </a:prstGeom>
          <a:noFill/>
          <a:ln/>
        </p:spPr>
        <p:txBody>
          <a:bodyPr wrap="square" lIns="635" tIns="635" rIns="635" bIns="635" rtlCol="0" anchor="ctr"/>
          <a:lstStyle/>
          <a:p>
            <a:pPr marL="0" indent="0" algn="ctr">
              <a:buNone/>
            </a:pPr>
            <a:r>
              <a:rPr lang="en-US" sz="2000" b="1" dirty="0">
                <a:solidFill>
                  <a:srgbClr val="1F2937"/>
                </a:solidFill>
              </a:rPr>
              <a:t>Lock / check seat</a:t>
            </a:r>
            <a:endParaRPr lang="en-US" sz="2000" dirty="0"/>
          </a:p>
        </p:txBody>
      </p:sp>
      <p:sp>
        <p:nvSpPr>
          <p:cNvPr id="15" name="Text 12"/>
          <p:cNvSpPr txBox="1"/>
          <p:nvPr/>
        </p:nvSpPr>
        <p:spPr>
          <a:xfrm>
            <a:off x="2011680" y="3191256"/>
            <a:ext cx="548640" cy="182880"/>
          </a:xfrm>
          <a:prstGeom prst="rect">
            <a:avLst/>
          </a:prstGeom>
          <a:noFill/>
          <a:ln/>
        </p:spPr>
        <p:txBody>
          <a:bodyPr wrap="square" lIns="0" tIns="0" rIns="0" bIns="0" rtlCol="0" anchor="ctr"/>
          <a:lstStyle/>
          <a:p>
            <a:pPr marL="0" indent="0" algn="ctr">
              <a:buNone/>
            </a:pPr>
            <a:r>
              <a:rPr lang="en-US" sz="1400" dirty="0">
                <a:solidFill>
                  <a:srgbClr val="1D4ED8"/>
                </a:solidFill>
              </a:rPr>
              <a:t>↓</a:t>
            </a:r>
            <a:endParaRPr lang="en-US" sz="1400" dirty="0"/>
          </a:p>
        </p:txBody>
      </p:sp>
      <p:sp>
        <p:nvSpPr>
          <p:cNvPr id="16" name="Shape 13"/>
          <p:cNvSpPr/>
          <p:nvPr/>
        </p:nvSpPr>
        <p:spPr>
          <a:xfrm>
            <a:off x="548640" y="3374136"/>
            <a:ext cx="3474720" cy="566928"/>
          </a:xfrm>
          <a:prstGeom prst="roundRect">
            <a:avLst>
              <a:gd name="adj" fmla="val 12903"/>
            </a:avLst>
          </a:prstGeom>
          <a:solidFill>
            <a:srgbClr val="FFFFFF"/>
          </a:solidFill>
          <a:ln w="19050">
            <a:solidFill>
              <a:srgbClr val="5B6575"/>
            </a:solidFill>
            <a:prstDash val="solid"/>
          </a:ln>
        </p:spPr>
      </p:sp>
      <p:sp>
        <p:nvSpPr>
          <p:cNvPr id="17" name="Text 14"/>
          <p:cNvSpPr txBox="1"/>
          <p:nvPr/>
        </p:nvSpPr>
        <p:spPr>
          <a:xfrm>
            <a:off x="548640" y="3374136"/>
            <a:ext cx="3474720" cy="566928"/>
          </a:xfrm>
          <a:prstGeom prst="rect">
            <a:avLst/>
          </a:prstGeom>
          <a:noFill/>
          <a:ln/>
        </p:spPr>
        <p:txBody>
          <a:bodyPr wrap="square" lIns="635" tIns="635" rIns="635" bIns="635" rtlCol="0" anchor="ctr"/>
          <a:lstStyle/>
          <a:p>
            <a:pPr marL="0" indent="0" algn="ctr">
              <a:buNone/>
            </a:pPr>
            <a:r>
              <a:rPr lang="en-US" sz="2000" b="1" dirty="0">
                <a:solidFill>
                  <a:srgbClr val="1F2937"/>
                </a:solidFill>
              </a:rPr>
              <a:t>Create booking</a:t>
            </a:r>
            <a:endParaRPr lang="en-US" sz="2000" dirty="0"/>
          </a:p>
        </p:txBody>
      </p:sp>
      <p:sp>
        <p:nvSpPr>
          <p:cNvPr id="18" name="Text 15"/>
          <p:cNvSpPr txBox="1"/>
          <p:nvPr/>
        </p:nvSpPr>
        <p:spPr>
          <a:xfrm>
            <a:off x="2011680" y="3904488"/>
            <a:ext cx="548640" cy="182880"/>
          </a:xfrm>
          <a:prstGeom prst="rect">
            <a:avLst/>
          </a:prstGeom>
          <a:noFill/>
          <a:ln/>
        </p:spPr>
        <p:txBody>
          <a:bodyPr wrap="square" lIns="0" tIns="0" rIns="0" bIns="0" rtlCol="0" anchor="ctr"/>
          <a:lstStyle/>
          <a:p>
            <a:pPr marL="0" indent="0" algn="ctr">
              <a:buNone/>
            </a:pPr>
            <a:r>
              <a:rPr lang="en-US" sz="1400" dirty="0">
                <a:solidFill>
                  <a:srgbClr val="1D4ED8"/>
                </a:solidFill>
              </a:rPr>
              <a:t>↓</a:t>
            </a:r>
            <a:endParaRPr lang="en-US" sz="1400" dirty="0"/>
          </a:p>
        </p:txBody>
      </p:sp>
      <p:sp>
        <p:nvSpPr>
          <p:cNvPr id="19" name="Shape 16"/>
          <p:cNvSpPr/>
          <p:nvPr/>
        </p:nvSpPr>
        <p:spPr>
          <a:xfrm>
            <a:off x="548640" y="4087368"/>
            <a:ext cx="3474720" cy="566928"/>
          </a:xfrm>
          <a:prstGeom prst="roundRect">
            <a:avLst>
              <a:gd name="adj" fmla="val 12903"/>
            </a:avLst>
          </a:prstGeom>
          <a:solidFill>
            <a:srgbClr val="FFFFFF"/>
          </a:solidFill>
          <a:ln w="19050">
            <a:solidFill>
              <a:srgbClr val="5B6575"/>
            </a:solidFill>
            <a:prstDash val="solid"/>
          </a:ln>
        </p:spPr>
      </p:sp>
      <p:sp>
        <p:nvSpPr>
          <p:cNvPr id="20" name="Text 17"/>
          <p:cNvSpPr txBox="1"/>
          <p:nvPr/>
        </p:nvSpPr>
        <p:spPr>
          <a:xfrm>
            <a:off x="548640" y="4087368"/>
            <a:ext cx="3474720" cy="566928"/>
          </a:xfrm>
          <a:prstGeom prst="rect">
            <a:avLst/>
          </a:prstGeom>
          <a:noFill/>
          <a:ln/>
        </p:spPr>
        <p:txBody>
          <a:bodyPr wrap="square" lIns="635" tIns="635" rIns="635" bIns="635" rtlCol="0" anchor="ctr"/>
          <a:lstStyle/>
          <a:p>
            <a:pPr marL="0" indent="0" algn="ctr">
              <a:buNone/>
            </a:pPr>
            <a:r>
              <a:rPr lang="en-US" sz="2000" b="1" dirty="0">
                <a:solidFill>
                  <a:srgbClr val="1F2937"/>
                </a:solidFill>
              </a:rPr>
              <a:t>Add booking seats</a:t>
            </a:r>
            <a:endParaRPr lang="en-US" sz="2000" dirty="0"/>
          </a:p>
        </p:txBody>
      </p:sp>
      <p:sp>
        <p:nvSpPr>
          <p:cNvPr id="21" name="Text 18"/>
          <p:cNvSpPr txBox="1"/>
          <p:nvPr/>
        </p:nvSpPr>
        <p:spPr>
          <a:xfrm>
            <a:off x="2011680" y="4617720"/>
            <a:ext cx="548640" cy="182880"/>
          </a:xfrm>
          <a:prstGeom prst="rect">
            <a:avLst/>
          </a:prstGeom>
          <a:noFill/>
          <a:ln/>
        </p:spPr>
        <p:txBody>
          <a:bodyPr wrap="square" lIns="0" tIns="0" rIns="0" bIns="0" rtlCol="0" anchor="ctr"/>
          <a:lstStyle/>
          <a:p>
            <a:pPr marL="0" indent="0" algn="ctr">
              <a:buNone/>
            </a:pPr>
            <a:r>
              <a:rPr lang="en-US" sz="1400" dirty="0">
                <a:solidFill>
                  <a:srgbClr val="1D4ED8"/>
                </a:solidFill>
              </a:rPr>
              <a:t>↓</a:t>
            </a:r>
            <a:endParaRPr lang="en-US" sz="1400" dirty="0"/>
          </a:p>
        </p:txBody>
      </p:sp>
      <p:sp>
        <p:nvSpPr>
          <p:cNvPr id="22" name="Shape 19"/>
          <p:cNvSpPr/>
          <p:nvPr/>
        </p:nvSpPr>
        <p:spPr>
          <a:xfrm>
            <a:off x="548640" y="4800600"/>
            <a:ext cx="3474720" cy="566928"/>
          </a:xfrm>
          <a:prstGeom prst="roundRect">
            <a:avLst>
              <a:gd name="adj" fmla="val 12903"/>
            </a:avLst>
          </a:prstGeom>
          <a:solidFill>
            <a:srgbClr val="FFFFFF"/>
          </a:solidFill>
          <a:ln w="19050">
            <a:solidFill>
              <a:srgbClr val="5B6575"/>
            </a:solidFill>
            <a:prstDash val="solid"/>
          </a:ln>
        </p:spPr>
      </p:sp>
      <p:sp>
        <p:nvSpPr>
          <p:cNvPr id="23" name="Text 20"/>
          <p:cNvSpPr txBox="1"/>
          <p:nvPr/>
        </p:nvSpPr>
        <p:spPr>
          <a:xfrm>
            <a:off x="548640" y="4800600"/>
            <a:ext cx="3474720" cy="566928"/>
          </a:xfrm>
          <a:prstGeom prst="rect">
            <a:avLst/>
          </a:prstGeom>
          <a:noFill/>
          <a:ln/>
        </p:spPr>
        <p:txBody>
          <a:bodyPr wrap="square" lIns="635" tIns="635" rIns="635" bIns="635" rtlCol="0" anchor="ctr"/>
          <a:lstStyle/>
          <a:p>
            <a:pPr marL="0" indent="0" algn="ctr">
              <a:buNone/>
            </a:pPr>
            <a:r>
              <a:rPr lang="en-US" sz="2000" b="1" dirty="0">
                <a:solidFill>
                  <a:srgbClr val="1F2937"/>
                </a:solidFill>
              </a:rPr>
              <a:t>Add payment</a:t>
            </a:r>
            <a:endParaRPr lang="en-US" sz="2000" dirty="0"/>
          </a:p>
        </p:txBody>
      </p:sp>
      <p:sp>
        <p:nvSpPr>
          <p:cNvPr id="24" name="Text 21"/>
          <p:cNvSpPr txBox="1"/>
          <p:nvPr/>
        </p:nvSpPr>
        <p:spPr>
          <a:xfrm>
            <a:off x="2011680" y="5330952"/>
            <a:ext cx="548640" cy="182880"/>
          </a:xfrm>
          <a:prstGeom prst="rect">
            <a:avLst/>
          </a:prstGeom>
          <a:noFill/>
          <a:ln/>
        </p:spPr>
        <p:txBody>
          <a:bodyPr wrap="square" lIns="0" tIns="0" rIns="0" bIns="0" rtlCol="0" anchor="ctr"/>
          <a:lstStyle/>
          <a:p>
            <a:pPr marL="0" indent="0" algn="ctr">
              <a:buNone/>
            </a:pPr>
            <a:r>
              <a:rPr lang="en-US" sz="1400" dirty="0">
                <a:solidFill>
                  <a:srgbClr val="1D4ED8"/>
                </a:solidFill>
              </a:rPr>
              <a:t>↓</a:t>
            </a:r>
            <a:endParaRPr lang="en-US" sz="1400" dirty="0"/>
          </a:p>
        </p:txBody>
      </p:sp>
      <p:sp>
        <p:nvSpPr>
          <p:cNvPr id="25" name="Shape 22"/>
          <p:cNvSpPr/>
          <p:nvPr/>
        </p:nvSpPr>
        <p:spPr>
          <a:xfrm>
            <a:off x="548640" y="5513832"/>
            <a:ext cx="3474720" cy="566928"/>
          </a:xfrm>
          <a:prstGeom prst="roundRect">
            <a:avLst>
              <a:gd name="adj" fmla="val 12903"/>
            </a:avLst>
          </a:prstGeom>
          <a:solidFill>
            <a:srgbClr val="15803D"/>
          </a:solidFill>
          <a:ln w="19050">
            <a:solidFill>
              <a:srgbClr val="15803D"/>
            </a:solidFill>
            <a:prstDash val="solid"/>
          </a:ln>
        </p:spPr>
      </p:sp>
      <p:sp>
        <p:nvSpPr>
          <p:cNvPr id="26" name="Text 23"/>
          <p:cNvSpPr txBox="1"/>
          <p:nvPr/>
        </p:nvSpPr>
        <p:spPr>
          <a:xfrm>
            <a:off x="548640" y="5513832"/>
            <a:ext cx="3474720" cy="566928"/>
          </a:xfrm>
          <a:prstGeom prst="rect">
            <a:avLst/>
          </a:prstGeom>
          <a:noFill/>
          <a:ln/>
        </p:spPr>
        <p:txBody>
          <a:bodyPr wrap="square" lIns="635" tIns="635" rIns="635" bIns="635" rtlCol="0" anchor="ctr"/>
          <a:lstStyle/>
          <a:p>
            <a:pPr marL="0" indent="0" algn="ctr">
              <a:buNone/>
            </a:pPr>
            <a:r>
              <a:rPr lang="en-US" sz="2000" b="1" dirty="0">
                <a:solidFill>
                  <a:srgbClr val="F4F6FA"/>
                </a:solidFill>
              </a:rPr>
              <a:t>COMMIT</a:t>
            </a:r>
            <a:endParaRPr lang="en-US" sz="2000" dirty="0"/>
          </a:p>
        </p:txBody>
      </p:sp>
      <p:sp>
        <p:nvSpPr>
          <p:cNvPr id="27" name="Shape 24"/>
          <p:cNvSpPr/>
          <p:nvPr/>
        </p:nvSpPr>
        <p:spPr>
          <a:xfrm>
            <a:off x="4297680" y="3108960"/>
            <a:ext cx="2194560" cy="1005840"/>
          </a:xfrm>
          <a:prstGeom prst="roundRect">
            <a:avLst>
              <a:gd name="adj" fmla="val 7273"/>
            </a:avLst>
          </a:prstGeom>
          <a:solidFill>
            <a:srgbClr val="B42318"/>
          </a:solidFill>
          <a:ln w="19050">
            <a:solidFill>
              <a:srgbClr val="B42318"/>
            </a:solidFill>
            <a:prstDash val="solid"/>
          </a:ln>
        </p:spPr>
      </p:sp>
      <p:sp>
        <p:nvSpPr>
          <p:cNvPr id="28" name="Text 25"/>
          <p:cNvSpPr txBox="1"/>
          <p:nvPr/>
        </p:nvSpPr>
        <p:spPr>
          <a:xfrm>
            <a:off x="4297680" y="3108960"/>
            <a:ext cx="2194560" cy="1005840"/>
          </a:xfrm>
          <a:prstGeom prst="rect">
            <a:avLst/>
          </a:prstGeom>
          <a:noFill/>
          <a:ln/>
        </p:spPr>
        <p:txBody>
          <a:bodyPr wrap="square" lIns="635" tIns="635" rIns="635" bIns="635" rtlCol="0" anchor="ctr"/>
          <a:lstStyle/>
          <a:p>
            <a:pPr marL="0" indent="0" algn="ctr">
              <a:buNone/>
            </a:pPr>
            <a:r>
              <a:rPr lang="en-US" sz="2000" b="1" dirty="0">
                <a:solidFill>
                  <a:srgbClr val="F4F6FA"/>
                </a:solidFill>
              </a:rPr>
              <a:t>Any failure → ROLLBACK</a:t>
            </a:r>
            <a:endParaRPr lang="en-US" sz="2000" dirty="0"/>
          </a:p>
        </p:txBody>
      </p:sp>
      <p:sp>
        <p:nvSpPr>
          <p:cNvPr id="29" name="Shape 26"/>
          <p:cNvSpPr/>
          <p:nvPr/>
        </p:nvSpPr>
        <p:spPr>
          <a:xfrm>
            <a:off x="6766560" y="1234440"/>
            <a:ext cx="4846320" cy="1097280"/>
          </a:xfrm>
          <a:prstGeom prst="roundRect">
            <a:avLst>
              <a:gd name="adj" fmla="val 8333"/>
            </a:avLst>
          </a:prstGeom>
          <a:solidFill>
            <a:srgbClr val="FFFFFF"/>
          </a:solidFill>
          <a:ln w="25400">
            <a:solidFill>
              <a:srgbClr val="1D4ED8"/>
            </a:solidFill>
            <a:prstDash val="solid"/>
          </a:ln>
        </p:spPr>
      </p:sp>
      <p:sp>
        <p:nvSpPr>
          <p:cNvPr id="30" name="Text 27"/>
          <p:cNvSpPr txBox="1"/>
          <p:nvPr/>
        </p:nvSpPr>
        <p:spPr>
          <a:xfrm>
            <a:off x="6903720" y="1234440"/>
            <a:ext cx="731520" cy="1097280"/>
          </a:xfrm>
          <a:prstGeom prst="rect">
            <a:avLst/>
          </a:prstGeom>
          <a:noFill/>
          <a:ln/>
        </p:spPr>
        <p:txBody>
          <a:bodyPr wrap="square" lIns="0" tIns="0" rIns="0" bIns="0" rtlCol="0" anchor="ctr"/>
          <a:lstStyle/>
          <a:p>
            <a:pPr marL="0" indent="0" algn="ctr">
              <a:buNone/>
            </a:pPr>
            <a:r>
              <a:rPr lang="en-US" sz="4400" b="1" dirty="0">
                <a:solidFill>
                  <a:srgbClr val="1D4ED8"/>
                </a:solidFill>
              </a:rPr>
              <a:t>A</a:t>
            </a:r>
            <a:endParaRPr lang="en-US" sz="4400" dirty="0"/>
          </a:p>
        </p:txBody>
      </p:sp>
      <p:sp>
        <p:nvSpPr>
          <p:cNvPr id="31" name="Text 28"/>
          <p:cNvSpPr txBox="1"/>
          <p:nvPr/>
        </p:nvSpPr>
        <p:spPr>
          <a:xfrm>
            <a:off x="7680960" y="1234440"/>
            <a:ext cx="3840480" cy="1097280"/>
          </a:xfrm>
          <a:prstGeom prst="rect">
            <a:avLst/>
          </a:prstGeom>
          <a:noFill/>
          <a:ln/>
        </p:spPr>
        <p:txBody>
          <a:bodyPr wrap="square" lIns="0" tIns="0" rIns="0" bIns="0" rtlCol="0" anchor="ctr"/>
          <a:lstStyle/>
          <a:p>
            <a:pPr marL="0" indent="0">
              <a:buNone/>
            </a:pPr>
            <a:r>
              <a:rPr lang="en-US" sz="2200" b="1" dirty="0">
                <a:solidFill>
                  <a:srgbClr val="1D4ED8"/>
                </a:solidFill>
              </a:rPr>
              <a:t>Atomicity</a:t>
            </a:r>
            <a:endParaRPr lang="en-US" sz="2200" dirty="0"/>
          </a:p>
          <a:p>
            <a:pPr marL="0" indent="0">
              <a:buNone/>
            </a:pPr>
            <a:r>
              <a:rPr lang="en-US" sz="1800" dirty="0">
                <a:solidFill>
                  <a:srgbClr val="1F2937"/>
                </a:solidFill>
              </a:rPr>
              <a:t>All steps succeed or all roll back</a:t>
            </a:r>
            <a:endParaRPr lang="en-US" sz="2200" dirty="0"/>
          </a:p>
        </p:txBody>
      </p:sp>
      <p:sp>
        <p:nvSpPr>
          <p:cNvPr id="32" name="Shape 29"/>
          <p:cNvSpPr/>
          <p:nvPr/>
        </p:nvSpPr>
        <p:spPr>
          <a:xfrm>
            <a:off x="6766560" y="2468880"/>
            <a:ext cx="4846320" cy="1097280"/>
          </a:xfrm>
          <a:prstGeom prst="roundRect">
            <a:avLst>
              <a:gd name="adj" fmla="val 8333"/>
            </a:avLst>
          </a:prstGeom>
          <a:solidFill>
            <a:srgbClr val="FFFFFF"/>
          </a:solidFill>
          <a:ln w="25400">
            <a:solidFill>
              <a:srgbClr val="1D4ED8"/>
            </a:solidFill>
            <a:prstDash val="solid"/>
          </a:ln>
        </p:spPr>
      </p:sp>
      <p:sp>
        <p:nvSpPr>
          <p:cNvPr id="33" name="Text 30"/>
          <p:cNvSpPr txBox="1"/>
          <p:nvPr/>
        </p:nvSpPr>
        <p:spPr>
          <a:xfrm>
            <a:off x="6903720" y="2468880"/>
            <a:ext cx="731520" cy="1097280"/>
          </a:xfrm>
          <a:prstGeom prst="rect">
            <a:avLst/>
          </a:prstGeom>
          <a:noFill/>
          <a:ln/>
        </p:spPr>
        <p:txBody>
          <a:bodyPr wrap="square" lIns="0" tIns="0" rIns="0" bIns="0" rtlCol="0" anchor="ctr"/>
          <a:lstStyle/>
          <a:p>
            <a:pPr marL="0" indent="0" algn="ctr">
              <a:buNone/>
            </a:pPr>
            <a:r>
              <a:rPr lang="en-US" sz="4400" b="1" dirty="0">
                <a:solidFill>
                  <a:srgbClr val="1D4ED8"/>
                </a:solidFill>
              </a:rPr>
              <a:t>C</a:t>
            </a:r>
            <a:endParaRPr lang="en-US" sz="4400" dirty="0"/>
          </a:p>
        </p:txBody>
      </p:sp>
      <p:sp>
        <p:nvSpPr>
          <p:cNvPr id="34" name="Text 31"/>
          <p:cNvSpPr txBox="1"/>
          <p:nvPr/>
        </p:nvSpPr>
        <p:spPr>
          <a:xfrm>
            <a:off x="7680960" y="2468880"/>
            <a:ext cx="3840480" cy="1097280"/>
          </a:xfrm>
          <a:prstGeom prst="rect">
            <a:avLst/>
          </a:prstGeom>
          <a:noFill/>
          <a:ln/>
        </p:spPr>
        <p:txBody>
          <a:bodyPr wrap="square" lIns="0" tIns="0" rIns="0" bIns="0" rtlCol="0" anchor="ctr"/>
          <a:lstStyle/>
          <a:p>
            <a:pPr marL="0" indent="0">
              <a:buNone/>
            </a:pPr>
            <a:r>
              <a:rPr lang="en-US" sz="2200" b="1" dirty="0">
                <a:solidFill>
                  <a:srgbClr val="1D4ED8"/>
                </a:solidFill>
              </a:rPr>
              <a:t>Consistency</a:t>
            </a:r>
            <a:endParaRPr lang="en-US" sz="2200" dirty="0"/>
          </a:p>
          <a:p>
            <a:pPr marL="0" indent="0">
              <a:buNone/>
            </a:pPr>
            <a:r>
              <a:rPr lang="en-US" sz="1800" dirty="0">
                <a:solidFill>
                  <a:srgbClr val="1F2937"/>
                </a:solidFill>
              </a:rPr>
              <a:t>Constraints &amp; FKs keep data valid</a:t>
            </a:r>
            <a:endParaRPr lang="en-US" sz="2200" dirty="0"/>
          </a:p>
        </p:txBody>
      </p:sp>
      <p:sp>
        <p:nvSpPr>
          <p:cNvPr id="35" name="Shape 32"/>
          <p:cNvSpPr/>
          <p:nvPr/>
        </p:nvSpPr>
        <p:spPr>
          <a:xfrm>
            <a:off x="6766560" y="3703320"/>
            <a:ext cx="4846320" cy="1097280"/>
          </a:xfrm>
          <a:prstGeom prst="roundRect">
            <a:avLst>
              <a:gd name="adj" fmla="val 8333"/>
            </a:avLst>
          </a:prstGeom>
          <a:solidFill>
            <a:srgbClr val="FFFFFF"/>
          </a:solidFill>
          <a:ln w="25400">
            <a:solidFill>
              <a:srgbClr val="1D4ED8"/>
            </a:solidFill>
            <a:prstDash val="solid"/>
          </a:ln>
        </p:spPr>
      </p:sp>
      <p:sp>
        <p:nvSpPr>
          <p:cNvPr id="36" name="Text 33"/>
          <p:cNvSpPr txBox="1"/>
          <p:nvPr/>
        </p:nvSpPr>
        <p:spPr>
          <a:xfrm>
            <a:off x="6903720" y="3703320"/>
            <a:ext cx="731520" cy="1097280"/>
          </a:xfrm>
          <a:prstGeom prst="rect">
            <a:avLst/>
          </a:prstGeom>
          <a:noFill/>
          <a:ln/>
        </p:spPr>
        <p:txBody>
          <a:bodyPr wrap="square" lIns="0" tIns="0" rIns="0" bIns="0" rtlCol="0" anchor="ctr"/>
          <a:lstStyle/>
          <a:p>
            <a:pPr marL="0" indent="0" algn="ctr">
              <a:buNone/>
            </a:pPr>
            <a:r>
              <a:rPr lang="en-US" sz="4400" b="1" dirty="0">
                <a:solidFill>
                  <a:srgbClr val="1D4ED8"/>
                </a:solidFill>
              </a:rPr>
              <a:t>I</a:t>
            </a:r>
            <a:endParaRPr lang="en-US" sz="4400" dirty="0"/>
          </a:p>
        </p:txBody>
      </p:sp>
      <p:sp>
        <p:nvSpPr>
          <p:cNvPr id="37" name="Text 34"/>
          <p:cNvSpPr txBox="1"/>
          <p:nvPr/>
        </p:nvSpPr>
        <p:spPr>
          <a:xfrm>
            <a:off x="7680960" y="3703320"/>
            <a:ext cx="3840480" cy="1097280"/>
          </a:xfrm>
          <a:prstGeom prst="rect">
            <a:avLst/>
          </a:prstGeom>
          <a:noFill/>
          <a:ln/>
        </p:spPr>
        <p:txBody>
          <a:bodyPr wrap="square" lIns="0" tIns="0" rIns="0" bIns="0" rtlCol="0" anchor="ctr"/>
          <a:lstStyle/>
          <a:p>
            <a:pPr marL="0" indent="0">
              <a:buNone/>
            </a:pPr>
            <a:r>
              <a:rPr lang="en-US" sz="2200" b="1" dirty="0">
                <a:solidFill>
                  <a:srgbClr val="1D4ED8"/>
                </a:solidFill>
              </a:rPr>
              <a:t>Isolation</a:t>
            </a:r>
            <a:endParaRPr lang="en-US" sz="2200" dirty="0"/>
          </a:p>
          <a:p>
            <a:pPr marL="0" indent="0">
              <a:buNone/>
            </a:pPr>
            <a:r>
              <a:rPr lang="en-US" sz="1800" dirty="0">
                <a:solidFill>
                  <a:srgbClr val="1F2937"/>
                </a:solidFill>
              </a:rPr>
              <a:t>Concurrent bookings don't interfere</a:t>
            </a:r>
            <a:endParaRPr lang="en-US" sz="2200" dirty="0"/>
          </a:p>
        </p:txBody>
      </p:sp>
      <p:sp>
        <p:nvSpPr>
          <p:cNvPr id="38" name="Shape 35"/>
          <p:cNvSpPr/>
          <p:nvPr/>
        </p:nvSpPr>
        <p:spPr>
          <a:xfrm>
            <a:off x="6766560" y="4937760"/>
            <a:ext cx="4846320" cy="1097280"/>
          </a:xfrm>
          <a:prstGeom prst="roundRect">
            <a:avLst>
              <a:gd name="adj" fmla="val 8333"/>
            </a:avLst>
          </a:prstGeom>
          <a:solidFill>
            <a:srgbClr val="FFFFFF"/>
          </a:solidFill>
          <a:ln w="25400">
            <a:solidFill>
              <a:srgbClr val="1D4ED8"/>
            </a:solidFill>
            <a:prstDash val="solid"/>
          </a:ln>
        </p:spPr>
      </p:sp>
      <p:sp>
        <p:nvSpPr>
          <p:cNvPr id="39" name="Text 36"/>
          <p:cNvSpPr txBox="1"/>
          <p:nvPr/>
        </p:nvSpPr>
        <p:spPr>
          <a:xfrm>
            <a:off x="6903720" y="4937760"/>
            <a:ext cx="731520" cy="1097280"/>
          </a:xfrm>
          <a:prstGeom prst="rect">
            <a:avLst/>
          </a:prstGeom>
          <a:noFill/>
          <a:ln/>
        </p:spPr>
        <p:txBody>
          <a:bodyPr wrap="square" lIns="0" tIns="0" rIns="0" bIns="0" rtlCol="0" anchor="ctr"/>
          <a:lstStyle/>
          <a:p>
            <a:pPr marL="0" indent="0" algn="ctr">
              <a:buNone/>
            </a:pPr>
            <a:r>
              <a:rPr lang="en-US" sz="4400" b="1" dirty="0">
                <a:solidFill>
                  <a:srgbClr val="1D4ED8"/>
                </a:solidFill>
              </a:rPr>
              <a:t>D</a:t>
            </a:r>
            <a:endParaRPr lang="en-US" sz="4400" dirty="0"/>
          </a:p>
        </p:txBody>
      </p:sp>
      <p:sp>
        <p:nvSpPr>
          <p:cNvPr id="40" name="Text 37"/>
          <p:cNvSpPr txBox="1"/>
          <p:nvPr/>
        </p:nvSpPr>
        <p:spPr>
          <a:xfrm>
            <a:off x="7680960" y="4937760"/>
            <a:ext cx="3840480" cy="1097280"/>
          </a:xfrm>
          <a:prstGeom prst="rect">
            <a:avLst/>
          </a:prstGeom>
          <a:noFill/>
          <a:ln/>
        </p:spPr>
        <p:txBody>
          <a:bodyPr wrap="square" lIns="0" tIns="0" rIns="0" bIns="0" rtlCol="0" anchor="ctr"/>
          <a:lstStyle/>
          <a:p>
            <a:pPr marL="0" indent="0">
              <a:buNone/>
            </a:pPr>
            <a:r>
              <a:rPr lang="en-US" sz="2200" b="1" dirty="0">
                <a:solidFill>
                  <a:srgbClr val="1D4ED8"/>
                </a:solidFill>
              </a:rPr>
              <a:t>Durability</a:t>
            </a:r>
            <a:endParaRPr lang="en-US" sz="2200" dirty="0"/>
          </a:p>
          <a:p>
            <a:pPr marL="0" indent="0">
              <a:buNone/>
            </a:pPr>
            <a:r>
              <a:rPr lang="en-US" sz="1800" dirty="0">
                <a:solidFill>
                  <a:srgbClr val="1F2937"/>
                </a:solidFill>
              </a:rPr>
              <a:t>Committed booking stays stored</a:t>
            </a:r>
            <a:endParaRPr lang="en-US"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0B1F3A"/>
          </a:solidFill>
          <a:ln w="12700">
            <a:solidFill>
              <a:srgbClr val="0B1F3A"/>
            </a:solidFill>
            <a:prstDash val="solid"/>
          </a:ln>
        </p:spPr>
      </p:sp>
      <p:sp>
        <p:nvSpPr>
          <p:cNvPr id="3" name="Shape 1"/>
          <p:cNvSpPr/>
          <p:nvPr/>
        </p:nvSpPr>
        <p:spPr>
          <a:xfrm>
            <a:off x="548640" y="1097280"/>
            <a:ext cx="2011680" cy="64008"/>
          </a:xfrm>
          <a:prstGeom prst="rect">
            <a:avLst/>
          </a:prstGeom>
          <a:solidFill>
            <a:srgbClr val="1D4ED8"/>
          </a:solidFill>
          <a:ln w="12700">
            <a:solidFill>
              <a:srgbClr val="1D4ED8"/>
            </a:solidFill>
            <a:prstDash val="solid"/>
          </a:ln>
        </p:spPr>
      </p:sp>
      <p:sp>
        <p:nvSpPr>
          <p:cNvPr id="4" name="Text 2"/>
          <p:cNvSpPr txBox="1"/>
          <p:nvPr/>
        </p:nvSpPr>
        <p:spPr>
          <a:xfrm>
            <a:off x="548640" y="274320"/>
            <a:ext cx="9509760" cy="822960"/>
          </a:xfrm>
          <a:prstGeom prst="rect">
            <a:avLst/>
          </a:prstGeom>
          <a:noFill/>
          <a:ln/>
        </p:spPr>
        <p:txBody>
          <a:bodyPr wrap="square" lIns="0" tIns="0" rIns="0" bIns="0" rtlCol="0" anchor="ctr"/>
          <a:lstStyle/>
          <a:p>
            <a:pPr marL="0" indent="0">
              <a:buNone/>
            </a:pPr>
            <a:r>
              <a:rPr lang="en-US" sz="3600" b="1" dirty="0">
                <a:solidFill>
                  <a:srgbClr val="0B1F3A"/>
                </a:solidFill>
              </a:rPr>
              <a:t>Double-Booking Prevention</a:t>
            </a:r>
            <a:endParaRPr lang="en-US" sz="3600" dirty="0"/>
          </a:p>
        </p:txBody>
      </p:sp>
      <p:sp>
        <p:nvSpPr>
          <p:cNvPr id="7" name="Text 4"/>
          <p:cNvSpPr txBox="1"/>
          <p:nvPr/>
        </p:nvSpPr>
        <p:spPr>
          <a:xfrm>
            <a:off x="548640" y="1280160"/>
            <a:ext cx="4846320" cy="2743200"/>
          </a:xfrm>
          <a:prstGeom prst="rect">
            <a:avLst/>
          </a:prstGeom>
          <a:noFill/>
          <a:ln/>
        </p:spPr>
        <p:txBody>
          <a:bodyPr wrap="square" lIns="0" tIns="0" rIns="0" bIns="0" rtlCol="0" anchor="t"/>
          <a:lstStyle/>
          <a:p>
            <a:pPr marL="342900" indent="-342900">
              <a:spcAft>
                <a:spcPts val="800"/>
              </a:spcAft>
              <a:buSzPct val="100000"/>
              <a:buChar char="•"/>
            </a:pPr>
            <a:r>
              <a:rPr lang="en-US" sz="2200" dirty="0">
                <a:solidFill>
                  <a:srgbClr val="1F2937"/>
                </a:solidFill>
              </a:rPr>
              <a:t>Temporary seat locks (~5 min)</a:t>
            </a:r>
            <a:endParaRPr lang="en-US" sz="2200" dirty="0"/>
          </a:p>
          <a:p>
            <a:pPr marL="342900" indent="-342900">
              <a:spcAft>
                <a:spcPts val="800"/>
              </a:spcAft>
              <a:buSzPct val="100000"/>
              <a:buChar char="•"/>
            </a:pPr>
            <a:r>
              <a:rPr lang="en-US" sz="2200" dirty="0">
                <a:solidFill>
                  <a:srgbClr val="1F2937"/>
                </a:solidFill>
              </a:rPr>
              <a:t>MySQL transactions</a:t>
            </a:r>
            <a:endParaRPr lang="en-US" sz="2200" dirty="0"/>
          </a:p>
          <a:p>
            <a:pPr marL="342900" indent="-342900">
              <a:spcAft>
                <a:spcPts val="800"/>
              </a:spcAft>
              <a:buSzPct val="100000"/>
              <a:buChar char="•"/>
            </a:pPr>
            <a:r>
              <a:rPr lang="en-US" sz="2200" dirty="0">
                <a:solidFill>
                  <a:srgbClr val="1F2937"/>
                </a:solidFill>
              </a:rPr>
              <a:t>SELECT ... FOR UPDATE</a:t>
            </a:r>
            <a:endParaRPr lang="en-US" sz="2200" dirty="0"/>
          </a:p>
          <a:p>
            <a:pPr marL="342900" indent="-342900">
              <a:spcAft>
                <a:spcPts val="800"/>
              </a:spcAft>
              <a:buSzPct val="100000"/>
              <a:buChar char="•"/>
            </a:pPr>
            <a:r>
              <a:rPr lang="en-US" sz="2200" dirty="0">
                <a:solidFill>
                  <a:srgbClr val="1F2937"/>
                </a:solidFill>
              </a:rPr>
              <a:t>UNIQUE (show_id, seat_id)</a:t>
            </a:r>
            <a:endParaRPr lang="en-US" sz="2200" dirty="0"/>
          </a:p>
        </p:txBody>
      </p:sp>
      <p:sp>
        <p:nvSpPr>
          <p:cNvPr id="8" name="Text 5"/>
          <p:cNvSpPr txBox="1"/>
          <p:nvPr/>
        </p:nvSpPr>
        <p:spPr>
          <a:xfrm>
            <a:off x="548640" y="3566160"/>
            <a:ext cx="4846320" cy="365760"/>
          </a:xfrm>
          <a:prstGeom prst="rect">
            <a:avLst/>
          </a:prstGeom>
          <a:noFill/>
          <a:ln/>
        </p:spPr>
        <p:txBody>
          <a:bodyPr wrap="square" lIns="0" tIns="0" rIns="0" bIns="0" rtlCol="0" anchor="ctr"/>
          <a:lstStyle/>
          <a:p>
            <a:pPr marL="0" indent="0">
              <a:buNone/>
            </a:pPr>
            <a:r>
              <a:rPr lang="en-US" sz="2000" b="1" dirty="0">
                <a:solidFill>
                  <a:srgbClr val="1D4ED8"/>
                </a:solidFill>
              </a:rPr>
              <a:t>Booking flow</a:t>
            </a:r>
            <a:endParaRPr lang="en-US" sz="2000" dirty="0"/>
          </a:p>
        </p:txBody>
      </p:sp>
      <p:sp>
        <p:nvSpPr>
          <p:cNvPr id="9" name="Shape 6"/>
          <p:cNvSpPr/>
          <p:nvPr/>
        </p:nvSpPr>
        <p:spPr>
          <a:xfrm>
            <a:off x="548640" y="3977640"/>
            <a:ext cx="4846320" cy="2606040"/>
          </a:xfrm>
          <a:prstGeom prst="roundRect">
            <a:avLst>
              <a:gd name="adj" fmla="val 2807"/>
            </a:avLst>
          </a:prstGeom>
          <a:solidFill>
            <a:srgbClr val="0B1F3A"/>
          </a:solidFill>
          <a:ln w="12700">
            <a:solidFill>
              <a:srgbClr val="0B1F3A"/>
            </a:solidFill>
            <a:prstDash val="solid"/>
          </a:ln>
        </p:spPr>
      </p:sp>
      <p:sp>
        <p:nvSpPr>
          <p:cNvPr id="10" name="Text 7"/>
          <p:cNvSpPr txBox="1"/>
          <p:nvPr/>
        </p:nvSpPr>
        <p:spPr>
          <a:xfrm>
            <a:off x="731520" y="3977640"/>
            <a:ext cx="4480560" cy="2606040"/>
          </a:xfrm>
          <a:prstGeom prst="rect">
            <a:avLst/>
          </a:prstGeom>
          <a:noFill/>
          <a:ln/>
        </p:spPr>
        <p:txBody>
          <a:bodyPr wrap="square" lIns="0" tIns="0" rIns="0" bIns="0" rtlCol="0" anchor="ctr"/>
          <a:lstStyle/>
          <a:p>
            <a:pPr marL="0" indent="0">
              <a:buNone/>
            </a:pPr>
            <a:r>
              <a:rPr lang="en-US" sz="1600" dirty="0">
                <a:solidFill>
                  <a:srgbClr val="E6EDF7"/>
                </a:solidFill>
                <a:latin typeface="Consolas" pitchFamily="34" charset="0"/>
                <a:ea typeface="Consolas" pitchFamily="34" charset="-122"/>
                <a:cs typeface="Consolas" pitchFamily="34" charset="-120"/>
              </a:rPr>
              <a:t>BEGIN</a:t>
            </a:r>
            <a:endParaRPr lang="en-US" sz="1600" dirty="0"/>
          </a:p>
          <a:p>
            <a:pPr marL="0" indent="0">
              <a:buNone/>
            </a:pPr>
            <a:r>
              <a:rPr lang="en-US" sz="1600" dirty="0">
                <a:solidFill>
                  <a:srgbClr val="E6EDF7"/>
                </a:solidFill>
                <a:latin typeface="Consolas" pitchFamily="34" charset="0"/>
                <a:ea typeface="Consolas" pitchFamily="34" charset="-122"/>
                <a:cs typeface="Consolas" pitchFamily="34" charset="-120"/>
              </a:rPr>
              <a:t> check expired locks</a:t>
            </a:r>
            <a:endParaRPr lang="en-US" sz="1600" dirty="0"/>
          </a:p>
          <a:p>
            <a:pPr marL="0" indent="0">
              <a:buNone/>
            </a:pPr>
            <a:r>
              <a:rPr lang="en-US" sz="1600" dirty="0">
                <a:solidFill>
                  <a:srgbClr val="E6EDF7"/>
                </a:solidFill>
                <a:latin typeface="Consolas" pitchFamily="34" charset="0"/>
                <a:ea typeface="Consolas" pitchFamily="34" charset="-122"/>
                <a:cs typeface="Consolas" pitchFamily="34" charset="-120"/>
              </a:rPr>
              <a:t> check availability</a:t>
            </a:r>
            <a:endParaRPr lang="en-US" sz="1600" dirty="0"/>
          </a:p>
          <a:p>
            <a:pPr marL="0" indent="0">
              <a:buNone/>
            </a:pPr>
            <a:r>
              <a:rPr lang="en-US" sz="1600" dirty="0">
                <a:solidFill>
                  <a:srgbClr val="E6EDF7"/>
                </a:solidFill>
                <a:latin typeface="Consolas" pitchFamily="34" charset="0"/>
                <a:ea typeface="Consolas" pitchFamily="34" charset="-122"/>
                <a:cs typeface="Consolas" pitchFamily="34" charset="-120"/>
              </a:rPr>
              <a:t> SELECT ... FOR UPDATE</a:t>
            </a:r>
            <a:endParaRPr lang="en-US" sz="1600" dirty="0"/>
          </a:p>
          <a:p>
            <a:pPr marL="0" indent="0">
              <a:buNone/>
            </a:pPr>
            <a:r>
              <a:rPr lang="en-US" sz="1600" dirty="0">
                <a:solidFill>
                  <a:srgbClr val="E6EDF7"/>
                </a:solidFill>
                <a:latin typeface="Consolas" pitchFamily="34" charset="0"/>
                <a:ea typeface="Consolas" pitchFamily="34" charset="-122"/>
                <a:cs typeface="Consolas" pitchFamily="34" charset="-120"/>
              </a:rPr>
              <a:t> create booking</a:t>
            </a:r>
            <a:endParaRPr lang="en-US" sz="1600" dirty="0"/>
          </a:p>
          <a:p>
            <a:pPr marL="0" indent="0">
              <a:buNone/>
            </a:pPr>
            <a:r>
              <a:rPr lang="en-US" sz="1600" dirty="0">
                <a:solidFill>
                  <a:srgbClr val="E6EDF7"/>
                </a:solidFill>
                <a:latin typeface="Consolas" pitchFamily="34" charset="0"/>
                <a:ea typeface="Consolas" pitchFamily="34" charset="-122"/>
                <a:cs typeface="Consolas" pitchFamily="34" charset="-120"/>
              </a:rPr>
              <a:t> insert booking_seats</a:t>
            </a:r>
            <a:endParaRPr lang="en-US" sz="1600" dirty="0"/>
          </a:p>
          <a:p>
            <a:pPr marL="0" indent="0">
              <a:buNone/>
            </a:pPr>
            <a:r>
              <a:rPr lang="en-US" sz="1600" dirty="0">
                <a:solidFill>
                  <a:srgbClr val="E6EDF7"/>
                </a:solidFill>
                <a:latin typeface="Consolas" pitchFamily="34" charset="0"/>
                <a:ea typeface="Consolas" pitchFamily="34" charset="-122"/>
                <a:cs typeface="Consolas" pitchFamily="34" charset="-120"/>
              </a:rPr>
              <a:t> create payment</a:t>
            </a:r>
            <a:endParaRPr lang="en-US" sz="1600" dirty="0"/>
          </a:p>
          <a:p>
            <a:pPr marL="0" indent="0">
              <a:buNone/>
            </a:pPr>
            <a:r>
              <a:rPr lang="en-US" sz="1600" dirty="0">
                <a:solidFill>
                  <a:srgbClr val="E6EDF7"/>
                </a:solidFill>
                <a:latin typeface="Consolas" pitchFamily="34" charset="0"/>
                <a:ea typeface="Consolas" pitchFamily="34" charset="-122"/>
                <a:cs typeface="Consolas" pitchFamily="34" charset="-120"/>
              </a:rPr>
              <a:t> remove seat locks</a:t>
            </a:r>
            <a:endParaRPr lang="en-US" sz="1600" dirty="0"/>
          </a:p>
          <a:p>
            <a:pPr marL="0" indent="0">
              <a:buNone/>
            </a:pPr>
            <a:r>
              <a:rPr lang="en-US" sz="1600" dirty="0">
                <a:solidFill>
                  <a:srgbClr val="E6EDF7"/>
                </a:solidFill>
                <a:latin typeface="Consolas" pitchFamily="34" charset="0"/>
                <a:ea typeface="Consolas" pitchFamily="34" charset="-122"/>
                <a:cs typeface="Consolas" pitchFamily="34" charset="-120"/>
              </a:rPr>
              <a:t>COMMIT  (or ROLLBACK)</a:t>
            </a:r>
            <a:endParaRPr lang="en-US" sz="1600" dirty="0"/>
          </a:p>
        </p:txBody>
      </p:sp>
      <p:sp>
        <p:nvSpPr>
          <p:cNvPr id="11" name="Text 8"/>
          <p:cNvSpPr txBox="1"/>
          <p:nvPr/>
        </p:nvSpPr>
        <p:spPr>
          <a:xfrm>
            <a:off x="5760720" y="1280160"/>
            <a:ext cx="5852160" cy="457200"/>
          </a:xfrm>
          <a:prstGeom prst="rect">
            <a:avLst/>
          </a:prstGeom>
          <a:noFill/>
          <a:ln/>
        </p:spPr>
        <p:txBody>
          <a:bodyPr wrap="square" lIns="0" tIns="0" rIns="0" bIns="0" rtlCol="0" anchor="ctr"/>
          <a:lstStyle/>
          <a:p>
            <a:pPr marL="0" indent="0">
              <a:buNone/>
            </a:pPr>
            <a:r>
              <a:rPr lang="en-US" sz="2200" b="1" dirty="0">
                <a:solidFill>
                  <a:srgbClr val="1F2937"/>
                </a:solidFill>
              </a:rPr>
              <a:t>User A and User B both pick seat A1</a:t>
            </a:r>
            <a:endParaRPr lang="en-US" sz="2200" dirty="0"/>
          </a:p>
        </p:txBody>
      </p:sp>
      <p:sp>
        <p:nvSpPr>
          <p:cNvPr id="12" name="Shape 9"/>
          <p:cNvSpPr/>
          <p:nvPr/>
        </p:nvSpPr>
        <p:spPr>
          <a:xfrm>
            <a:off x="5760720" y="1828800"/>
            <a:ext cx="5852160" cy="1371600"/>
          </a:xfrm>
          <a:prstGeom prst="roundRect">
            <a:avLst>
              <a:gd name="adj" fmla="val 6667"/>
            </a:avLst>
          </a:prstGeom>
          <a:solidFill>
            <a:srgbClr val="FFFFFF"/>
          </a:solidFill>
          <a:ln w="25400">
            <a:solidFill>
              <a:srgbClr val="15803D"/>
            </a:solidFill>
            <a:prstDash val="solid"/>
          </a:ln>
        </p:spPr>
      </p:sp>
      <p:sp>
        <p:nvSpPr>
          <p:cNvPr id="13" name="Text 10"/>
          <p:cNvSpPr txBox="1"/>
          <p:nvPr/>
        </p:nvSpPr>
        <p:spPr>
          <a:xfrm>
            <a:off x="5943600" y="1828800"/>
            <a:ext cx="5486400" cy="1371600"/>
          </a:xfrm>
          <a:prstGeom prst="rect">
            <a:avLst/>
          </a:prstGeom>
          <a:noFill/>
          <a:ln/>
        </p:spPr>
        <p:txBody>
          <a:bodyPr wrap="square" lIns="0" tIns="0" rIns="0" bIns="0" rtlCol="0" anchor="ctr"/>
          <a:lstStyle/>
          <a:p>
            <a:pPr marL="0" indent="0">
              <a:buNone/>
            </a:pPr>
            <a:r>
              <a:rPr lang="en-US" sz="2200" b="1" dirty="0">
                <a:solidFill>
                  <a:srgbClr val="15803D"/>
                </a:solidFill>
              </a:rPr>
              <a:t>User A</a:t>
            </a:r>
            <a:endParaRPr lang="en-US" sz="2200" dirty="0"/>
          </a:p>
          <a:p>
            <a:pPr marL="0" indent="0">
              <a:buNone/>
            </a:pPr>
            <a:r>
              <a:rPr lang="en-US" sz="2000" dirty="0">
                <a:solidFill>
                  <a:srgbClr val="1F2937"/>
                </a:solidFill>
              </a:rPr>
              <a:t>locks A1 → books → COMMIT</a:t>
            </a:r>
            <a:endParaRPr lang="en-US" sz="2200" dirty="0"/>
          </a:p>
        </p:txBody>
      </p:sp>
      <p:sp>
        <p:nvSpPr>
          <p:cNvPr id="14" name="Shape 11"/>
          <p:cNvSpPr/>
          <p:nvPr/>
        </p:nvSpPr>
        <p:spPr>
          <a:xfrm>
            <a:off x="5760720" y="3383280"/>
            <a:ext cx="5852160" cy="1371600"/>
          </a:xfrm>
          <a:prstGeom prst="roundRect">
            <a:avLst>
              <a:gd name="adj" fmla="val 6667"/>
            </a:avLst>
          </a:prstGeom>
          <a:solidFill>
            <a:srgbClr val="FFFFFF"/>
          </a:solidFill>
          <a:ln w="25400">
            <a:solidFill>
              <a:srgbClr val="B42318"/>
            </a:solidFill>
            <a:prstDash val="solid"/>
          </a:ln>
        </p:spPr>
      </p:sp>
      <p:sp>
        <p:nvSpPr>
          <p:cNvPr id="15" name="Text 12"/>
          <p:cNvSpPr txBox="1"/>
          <p:nvPr/>
        </p:nvSpPr>
        <p:spPr>
          <a:xfrm>
            <a:off x="5943600" y="3383280"/>
            <a:ext cx="5486400" cy="1371600"/>
          </a:xfrm>
          <a:prstGeom prst="rect">
            <a:avLst/>
          </a:prstGeom>
          <a:noFill/>
          <a:ln/>
        </p:spPr>
        <p:txBody>
          <a:bodyPr wrap="square" lIns="0" tIns="0" rIns="0" bIns="0" rtlCol="0" anchor="ctr"/>
          <a:lstStyle/>
          <a:p>
            <a:pPr marL="0" indent="0">
              <a:buNone/>
            </a:pPr>
            <a:r>
              <a:rPr lang="en-US" sz="2200" b="1" dirty="0">
                <a:solidFill>
                  <a:srgbClr val="B42318"/>
                </a:solidFill>
              </a:rPr>
              <a:t>User B</a:t>
            </a:r>
            <a:endParaRPr lang="en-US" sz="2200" dirty="0"/>
          </a:p>
          <a:p>
            <a:pPr marL="0" indent="0">
              <a:buNone/>
            </a:pPr>
            <a:r>
              <a:rPr lang="en-US" sz="2000" dirty="0">
                <a:solidFill>
                  <a:srgbClr val="1F2937"/>
                </a:solidFill>
              </a:rPr>
              <a:t>waits → sees A1 is taken</a:t>
            </a:r>
            <a:endParaRPr lang="en-US" sz="2200" dirty="0"/>
          </a:p>
        </p:txBody>
      </p:sp>
      <p:sp>
        <p:nvSpPr>
          <p:cNvPr id="16" name="Text 13"/>
          <p:cNvSpPr txBox="1"/>
          <p:nvPr/>
        </p:nvSpPr>
        <p:spPr>
          <a:xfrm>
            <a:off x="5760720" y="5029200"/>
            <a:ext cx="5852160" cy="1097280"/>
          </a:xfrm>
          <a:prstGeom prst="rect">
            <a:avLst/>
          </a:prstGeom>
          <a:noFill/>
          <a:ln/>
        </p:spPr>
        <p:txBody>
          <a:bodyPr wrap="square" lIns="0" tIns="0" rIns="0" bIns="0" rtlCol="0" anchor="ctr"/>
          <a:lstStyle/>
          <a:p>
            <a:pPr marL="0" indent="0">
              <a:buNone/>
            </a:pPr>
            <a:r>
              <a:rPr lang="en-US" sz="2200" b="1" dirty="0">
                <a:solidFill>
                  <a:srgbClr val="1D4ED8"/>
                </a:solidFill>
              </a:rPr>
              <a:t>Row locking serializes conflicts.</a:t>
            </a:r>
            <a:endParaRPr lang="en-US" sz="2200" dirty="0"/>
          </a:p>
          <a:p>
            <a:pPr marL="0" indent="0">
              <a:buNone/>
            </a:pPr>
            <a:r>
              <a:rPr lang="en-US" sz="2200" b="1" dirty="0">
                <a:solidFill>
                  <a:srgbClr val="1D4ED8"/>
                </a:solidFill>
              </a:rPr>
              <a:t>UNIQUE is the final protection.</a:t>
            </a:r>
            <a:endParaRPr lang="en-US" sz="2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0B1F3A"/>
          </a:solidFill>
          <a:ln w="12700">
            <a:solidFill>
              <a:srgbClr val="0B1F3A"/>
            </a:solidFill>
            <a:prstDash val="solid"/>
          </a:ln>
        </p:spPr>
      </p:sp>
      <p:sp>
        <p:nvSpPr>
          <p:cNvPr id="3" name="Shape 1"/>
          <p:cNvSpPr/>
          <p:nvPr/>
        </p:nvSpPr>
        <p:spPr>
          <a:xfrm>
            <a:off x="548640" y="1097280"/>
            <a:ext cx="2011680" cy="64008"/>
          </a:xfrm>
          <a:prstGeom prst="rect">
            <a:avLst/>
          </a:prstGeom>
          <a:solidFill>
            <a:srgbClr val="1D4ED8"/>
          </a:solidFill>
          <a:ln w="12700">
            <a:solidFill>
              <a:srgbClr val="1D4ED8"/>
            </a:solidFill>
            <a:prstDash val="solid"/>
          </a:ln>
        </p:spPr>
      </p:sp>
      <p:sp>
        <p:nvSpPr>
          <p:cNvPr id="4" name="Text 2"/>
          <p:cNvSpPr txBox="1"/>
          <p:nvPr/>
        </p:nvSpPr>
        <p:spPr>
          <a:xfrm>
            <a:off x="548640" y="274320"/>
            <a:ext cx="9509760" cy="822960"/>
          </a:xfrm>
          <a:prstGeom prst="rect">
            <a:avLst/>
          </a:prstGeom>
          <a:noFill/>
          <a:ln/>
        </p:spPr>
        <p:txBody>
          <a:bodyPr wrap="square" lIns="0" tIns="0" rIns="0" bIns="0" rtlCol="0" anchor="ctr"/>
          <a:lstStyle/>
          <a:p>
            <a:pPr marL="0" indent="0">
              <a:buNone/>
            </a:pPr>
            <a:r>
              <a:rPr lang="en-US" sz="3600" b="1" dirty="0">
                <a:solidFill>
                  <a:srgbClr val="0B1F3A"/>
                </a:solidFill>
              </a:rPr>
              <a:t>Live Demo &amp; Testing</a:t>
            </a:r>
            <a:endParaRPr lang="en-US" sz="3600" dirty="0"/>
          </a:p>
        </p:txBody>
      </p:sp>
      <p:sp>
        <p:nvSpPr>
          <p:cNvPr id="7" name="Shape 4"/>
          <p:cNvSpPr/>
          <p:nvPr/>
        </p:nvSpPr>
        <p:spPr>
          <a:xfrm>
            <a:off x="548640" y="1280160"/>
            <a:ext cx="6583680" cy="640080"/>
          </a:xfrm>
          <a:prstGeom prst="roundRect">
            <a:avLst>
              <a:gd name="adj" fmla="val 14286"/>
            </a:avLst>
          </a:prstGeom>
          <a:solidFill>
            <a:srgbClr val="FFFFFF"/>
          </a:solidFill>
          <a:ln w="12700">
            <a:solidFill>
              <a:srgbClr val="D5DBE6"/>
            </a:solidFill>
            <a:prstDash val="solid"/>
          </a:ln>
        </p:spPr>
      </p:sp>
      <p:sp>
        <p:nvSpPr>
          <p:cNvPr id="8" name="Text 5"/>
          <p:cNvSpPr txBox="1"/>
          <p:nvPr/>
        </p:nvSpPr>
        <p:spPr>
          <a:xfrm>
            <a:off x="731520" y="1280160"/>
            <a:ext cx="6309360" cy="640080"/>
          </a:xfrm>
          <a:prstGeom prst="rect">
            <a:avLst/>
          </a:prstGeom>
          <a:noFill/>
          <a:ln/>
        </p:spPr>
        <p:txBody>
          <a:bodyPr wrap="square" lIns="0" tIns="0" rIns="0" bIns="0" rtlCol="0" anchor="ctr"/>
          <a:lstStyle/>
          <a:p>
            <a:pPr marL="0" indent="0">
              <a:buNone/>
            </a:pPr>
            <a:r>
              <a:rPr lang="en-US" sz="2200" b="1" dirty="0">
                <a:solidFill>
                  <a:srgbClr val="1D4ED8"/>
                </a:solidFill>
              </a:rPr>
              <a:t>1  </a:t>
            </a:r>
            <a:r>
              <a:rPr lang="en-US" sz="2200" dirty="0">
                <a:solidFill>
                  <a:srgbClr val="1F2937"/>
                </a:solidFill>
              </a:rPr>
              <a:t>Start Flask → open 127.0.0.1:5000</a:t>
            </a:r>
            <a:endParaRPr lang="en-US" sz="2200" dirty="0"/>
          </a:p>
        </p:txBody>
      </p:sp>
      <p:sp>
        <p:nvSpPr>
          <p:cNvPr id="9" name="Shape 6"/>
          <p:cNvSpPr/>
          <p:nvPr/>
        </p:nvSpPr>
        <p:spPr>
          <a:xfrm>
            <a:off x="548640" y="2029968"/>
            <a:ext cx="6583680" cy="640080"/>
          </a:xfrm>
          <a:prstGeom prst="roundRect">
            <a:avLst>
              <a:gd name="adj" fmla="val 14286"/>
            </a:avLst>
          </a:prstGeom>
          <a:solidFill>
            <a:srgbClr val="FFFFFF"/>
          </a:solidFill>
          <a:ln w="12700">
            <a:solidFill>
              <a:srgbClr val="D5DBE6"/>
            </a:solidFill>
            <a:prstDash val="solid"/>
          </a:ln>
        </p:spPr>
      </p:sp>
      <p:sp>
        <p:nvSpPr>
          <p:cNvPr id="10" name="Text 7"/>
          <p:cNvSpPr txBox="1"/>
          <p:nvPr/>
        </p:nvSpPr>
        <p:spPr>
          <a:xfrm>
            <a:off x="731520" y="2029968"/>
            <a:ext cx="6309360" cy="640080"/>
          </a:xfrm>
          <a:prstGeom prst="rect">
            <a:avLst/>
          </a:prstGeom>
          <a:noFill/>
          <a:ln/>
        </p:spPr>
        <p:txBody>
          <a:bodyPr wrap="square" lIns="0" tIns="0" rIns="0" bIns="0" rtlCol="0" anchor="ctr"/>
          <a:lstStyle/>
          <a:p>
            <a:pPr marL="0" indent="0">
              <a:buNone/>
            </a:pPr>
            <a:r>
              <a:rPr lang="en-US" sz="2200" b="1" dirty="0">
                <a:solidFill>
                  <a:srgbClr val="1D4ED8"/>
                </a:solidFill>
              </a:rPr>
              <a:t>2  </a:t>
            </a:r>
            <a:r>
              <a:rPr lang="en-US" sz="2200" dirty="0">
                <a:solidFill>
                  <a:srgbClr val="1F2937"/>
                </a:solidFill>
              </a:rPr>
              <a:t>Homepage → 8 movies</a:t>
            </a:r>
            <a:endParaRPr lang="en-US" sz="2200" dirty="0"/>
          </a:p>
        </p:txBody>
      </p:sp>
      <p:sp>
        <p:nvSpPr>
          <p:cNvPr id="11" name="Shape 8"/>
          <p:cNvSpPr/>
          <p:nvPr/>
        </p:nvSpPr>
        <p:spPr>
          <a:xfrm>
            <a:off x="548640" y="2779776"/>
            <a:ext cx="6583680" cy="640080"/>
          </a:xfrm>
          <a:prstGeom prst="roundRect">
            <a:avLst>
              <a:gd name="adj" fmla="val 14286"/>
            </a:avLst>
          </a:prstGeom>
          <a:solidFill>
            <a:srgbClr val="FFFFFF"/>
          </a:solidFill>
          <a:ln w="12700">
            <a:solidFill>
              <a:srgbClr val="D5DBE6"/>
            </a:solidFill>
            <a:prstDash val="solid"/>
          </a:ln>
        </p:spPr>
      </p:sp>
      <p:sp>
        <p:nvSpPr>
          <p:cNvPr id="12" name="Text 9"/>
          <p:cNvSpPr txBox="1"/>
          <p:nvPr/>
        </p:nvSpPr>
        <p:spPr>
          <a:xfrm>
            <a:off x="731520" y="2779776"/>
            <a:ext cx="6309360" cy="640080"/>
          </a:xfrm>
          <a:prstGeom prst="rect">
            <a:avLst/>
          </a:prstGeom>
          <a:noFill/>
          <a:ln/>
        </p:spPr>
        <p:txBody>
          <a:bodyPr wrap="square" lIns="0" tIns="0" rIns="0" bIns="0" rtlCol="0" anchor="ctr"/>
          <a:lstStyle/>
          <a:p>
            <a:pPr marL="0" indent="0">
              <a:buNone/>
            </a:pPr>
            <a:r>
              <a:rPr lang="en-US" sz="2200" b="1" dirty="0">
                <a:solidFill>
                  <a:srgbClr val="1D4ED8"/>
                </a:solidFill>
              </a:rPr>
              <a:t>3  </a:t>
            </a:r>
            <a:r>
              <a:rPr lang="en-US" sz="2200" dirty="0">
                <a:solidFill>
                  <a:srgbClr val="1F2937"/>
                </a:solidFill>
              </a:rPr>
              <a:t>Login: gourav@example.com</a:t>
            </a:r>
            <a:endParaRPr lang="en-US" sz="2200" dirty="0"/>
          </a:p>
        </p:txBody>
      </p:sp>
      <p:sp>
        <p:nvSpPr>
          <p:cNvPr id="13" name="Shape 10"/>
          <p:cNvSpPr/>
          <p:nvPr/>
        </p:nvSpPr>
        <p:spPr>
          <a:xfrm>
            <a:off x="548640" y="3529584"/>
            <a:ext cx="6583680" cy="640080"/>
          </a:xfrm>
          <a:prstGeom prst="roundRect">
            <a:avLst>
              <a:gd name="adj" fmla="val 14286"/>
            </a:avLst>
          </a:prstGeom>
          <a:solidFill>
            <a:srgbClr val="FFFFFF"/>
          </a:solidFill>
          <a:ln w="12700">
            <a:solidFill>
              <a:srgbClr val="D5DBE6"/>
            </a:solidFill>
            <a:prstDash val="solid"/>
          </a:ln>
        </p:spPr>
      </p:sp>
      <p:sp>
        <p:nvSpPr>
          <p:cNvPr id="14" name="Text 11"/>
          <p:cNvSpPr txBox="1"/>
          <p:nvPr/>
        </p:nvSpPr>
        <p:spPr>
          <a:xfrm>
            <a:off x="731520" y="3529584"/>
            <a:ext cx="6309360" cy="640080"/>
          </a:xfrm>
          <a:prstGeom prst="rect">
            <a:avLst/>
          </a:prstGeom>
          <a:noFill/>
          <a:ln/>
        </p:spPr>
        <p:txBody>
          <a:bodyPr wrap="square" lIns="0" tIns="0" rIns="0" bIns="0" rtlCol="0" anchor="ctr"/>
          <a:lstStyle/>
          <a:p>
            <a:pPr marL="0" indent="0">
              <a:buNone/>
            </a:pPr>
            <a:r>
              <a:rPr lang="en-US" sz="2200" b="1" dirty="0">
                <a:solidFill>
                  <a:srgbClr val="1D4ED8"/>
                </a:solidFill>
              </a:rPr>
              <a:t>4  </a:t>
            </a:r>
            <a:r>
              <a:rPr lang="en-US" sz="2200" dirty="0">
                <a:solidFill>
                  <a:srgbClr val="1F2937"/>
                </a:solidFill>
              </a:rPr>
              <a:t>Movie → cinema / date / show</a:t>
            </a:r>
            <a:endParaRPr lang="en-US" sz="2200" dirty="0"/>
          </a:p>
        </p:txBody>
      </p:sp>
      <p:sp>
        <p:nvSpPr>
          <p:cNvPr id="15" name="Shape 12"/>
          <p:cNvSpPr/>
          <p:nvPr/>
        </p:nvSpPr>
        <p:spPr>
          <a:xfrm>
            <a:off x="548640" y="4279392"/>
            <a:ext cx="6583680" cy="640080"/>
          </a:xfrm>
          <a:prstGeom prst="roundRect">
            <a:avLst>
              <a:gd name="adj" fmla="val 14286"/>
            </a:avLst>
          </a:prstGeom>
          <a:solidFill>
            <a:srgbClr val="FFFFFF"/>
          </a:solidFill>
          <a:ln w="12700">
            <a:solidFill>
              <a:srgbClr val="D5DBE6"/>
            </a:solidFill>
            <a:prstDash val="solid"/>
          </a:ln>
        </p:spPr>
      </p:sp>
      <p:sp>
        <p:nvSpPr>
          <p:cNvPr id="16" name="Text 13"/>
          <p:cNvSpPr txBox="1"/>
          <p:nvPr/>
        </p:nvSpPr>
        <p:spPr>
          <a:xfrm>
            <a:off x="731520" y="4279392"/>
            <a:ext cx="6309360" cy="640080"/>
          </a:xfrm>
          <a:prstGeom prst="rect">
            <a:avLst/>
          </a:prstGeom>
          <a:noFill/>
          <a:ln/>
        </p:spPr>
        <p:txBody>
          <a:bodyPr wrap="square" lIns="0" tIns="0" rIns="0" bIns="0" rtlCol="0" anchor="ctr"/>
          <a:lstStyle/>
          <a:p>
            <a:pPr marL="0" indent="0">
              <a:buNone/>
            </a:pPr>
            <a:r>
              <a:rPr lang="en-US" sz="2200" b="1" dirty="0">
                <a:solidFill>
                  <a:srgbClr val="1D4ED8"/>
                </a:solidFill>
              </a:rPr>
              <a:t>5  </a:t>
            </a:r>
            <a:r>
              <a:rPr lang="en-US" sz="2200" dirty="0">
                <a:solidFill>
                  <a:srgbClr val="1F2937"/>
                </a:solidFill>
              </a:rPr>
              <a:t>Seat map → select seats (lock)</a:t>
            </a:r>
            <a:endParaRPr lang="en-US" sz="2200" dirty="0"/>
          </a:p>
        </p:txBody>
      </p:sp>
      <p:sp>
        <p:nvSpPr>
          <p:cNvPr id="17" name="Shape 14"/>
          <p:cNvSpPr/>
          <p:nvPr/>
        </p:nvSpPr>
        <p:spPr>
          <a:xfrm>
            <a:off x="548640" y="5029200"/>
            <a:ext cx="6583680" cy="640080"/>
          </a:xfrm>
          <a:prstGeom prst="roundRect">
            <a:avLst>
              <a:gd name="adj" fmla="val 14286"/>
            </a:avLst>
          </a:prstGeom>
          <a:solidFill>
            <a:srgbClr val="FFFFFF"/>
          </a:solidFill>
          <a:ln w="12700">
            <a:solidFill>
              <a:srgbClr val="D5DBE6"/>
            </a:solidFill>
            <a:prstDash val="solid"/>
          </a:ln>
        </p:spPr>
      </p:sp>
      <p:sp>
        <p:nvSpPr>
          <p:cNvPr id="18" name="Text 15"/>
          <p:cNvSpPr txBox="1"/>
          <p:nvPr/>
        </p:nvSpPr>
        <p:spPr>
          <a:xfrm>
            <a:off x="731520" y="5029200"/>
            <a:ext cx="6309360" cy="640080"/>
          </a:xfrm>
          <a:prstGeom prst="rect">
            <a:avLst/>
          </a:prstGeom>
          <a:noFill/>
          <a:ln/>
        </p:spPr>
        <p:txBody>
          <a:bodyPr wrap="square" lIns="0" tIns="0" rIns="0" bIns="0" rtlCol="0" anchor="ctr"/>
          <a:lstStyle/>
          <a:p>
            <a:pPr marL="0" indent="0">
              <a:buNone/>
            </a:pPr>
            <a:r>
              <a:rPr lang="en-US" sz="2200" b="1" dirty="0">
                <a:solidFill>
                  <a:srgbClr val="1D4ED8"/>
                </a:solidFill>
              </a:rPr>
              <a:t>6  </a:t>
            </a:r>
            <a:r>
              <a:rPr lang="en-US" sz="2200" dirty="0">
                <a:solidFill>
                  <a:srgbClr val="1F2937"/>
                </a:solidFill>
              </a:rPr>
              <a:t>Confirm → payment → My Bookings</a:t>
            </a:r>
            <a:endParaRPr lang="en-US" sz="2200" dirty="0"/>
          </a:p>
        </p:txBody>
      </p:sp>
      <p:sp>
        <p:nvSpPr>
          <p:cNvPr id="19" name="Shape 16"/>
          <p:cNvSpPr/>
          <p:nvPr/>
        </p:nvSpPr>
        <p:spPr>
          <a:xfrm>
            <a:off x="7406640" y="1280160"/>
            <a:ext cx="4206240" cy="1828800"/>
          </a:xfrm>
          <a:prstGeom prst="roundRect">
            <a:avLst>
              <a:gd name="adj" fmla="val 4000"/>
            </a:avLst>
          </a:prstGeom>
          <a:solidFill>
            <a:srgbClr val="0B1F3A"/>
          </a:solidFill>
          <a:ln w="12700">
            <a:solidFill>
              <a:srgbClr val="0B1F3A"/>
            </a:solidFill>
            <a:prstDash val="solid"/>
          </a:ln>
        </p:spPr>
      </p:sp>
      <p:sp>
        <p:nvSpPr>
          <p:cNvPr id="20" name="Text 17"/>
          <p:cNvSpPr txBox="1"/>
          <p:nvPr/>
        </p:nvSpPr>
        <p:spPr>
          <a:xfrm>
            <a:off x="7589520" y="1280160"/>
            <a:ext cx="3840480" cy="1828800"/>
          </a:xfrm>
          <a:prstGeom prst="rect">
            <a:avLst/>
          </a:prstGeom>
          <a:noFill/>
          <a:ln/>
        </p:spPr>
        <p:txBody>
          <a:bodyPr wrap="square" lIns="0" tIns="0" rIns="0" bIns="0" rtlCol="0" anchor="ctr"/>
          <a:lstStyle/>
          <a:p>
            <a:pPr marL="0" indent="0">
              <a:buNone/>
            </a:pPr>
            <a:r>
              <a:rPr lang="en-US" sz="1800" dirty="0">
                <a:solidFill>
                  <a:srgbClr val="E6EDF7"/>
                </a:solidFill>
                <a:latin typeface="Consolas" pitchFamily="34" charset="0"/>
                <a:ea typeface="Consolas" pitchFamily="34" charset="-122"/>
                <a:cs typeface="Consolas" pitchFamily="34" charset="-120"/>
              </a:rPr>
              <a:t>USE cinebook;</a:t>
            </a:r>
            <a:endParaRPr lang="en-US" sz="1800" dirty="0"/>
          </a:p>
          <a:p>
            <a:pPr marL="0" indent="0">
              <a:buNone/>
            </a:pPr>
            <a:r>
              <a:rPr lang="en-US" sz="1800" dirty="0">
                <a:solidFill>
                  <a:srgbClr val="E6EDF7"/>
                </a:solidFill>
                <a:latin typeface="Consolas" pitchFamily="34" charset="0"/>
                <a:ea typeface="Consolas" pitchFamily="34" charset="-122"/>
                <a:cs typeface="Consolas" pitchFamily="34" charset="-120"/>
              </a:rPr>
              <a:t>SELECT * FROM seat_locks;</a:t>
            </a:r>
            <a:endParaRPr lang="en-US" sz="1800" dirty="0"/>
          </a:p>
          <a:p>
            <a:pPr marL="0" indent="0">
              <a:buNone/>
            </a:pPr>
            <a:r>
              <a:rPr lang="en-US" sz="1800" dirty="0">
                <a:solidFill>
                  <a:srgbClr val="E6EDF7"/>
                </a:solidFill>
                <a:latin typeface="Consolas" pitchFamily="34" charset="0"/>
                <a:ea typeface="Consolas" pitchFamily="34" charset="-122"/>
                <a:cs typeface="Consolas" pitchFamily="34" charset="-120"/>
              </a:rPr>
              <a:t>SELECT * FROM booking_seats;</a:t>
            </a:r>
            <a:endParaRPr lang="en-US" sz="1800" dirty="0"/>
          </a:p>
        </p:txBody>
      </p:sp>
      <p:sp>
        <p:nvSpPr>
          <p:cNvPr id="21" name="Text 18"/>
          <p:cNvSpPr txBox="1"/>
          <p:nvPr/>
        </p:nvSpPr>
        <p:spPr>
          <a:xfrm>
            <a:off x="7406640" y="3200400"/>
            <a:ext cx="4206240" cy="365760"/>
          </a:xfrm>
          <a:prstGeom prst="rect">
            <a:avLst/>
          </a:prstGeom>
          <a:noFill/>
          <a:ln/>
        </p:spPr>
        <p:txBody>
          <a:bodyPr wrap="square" lIns="0" tIns="0" rIns="0" bIns="0" rtlCol="0" anchor="ctr"/>
          <a:lstStyle/>
          <a:p>
            <a:pPr marL="0" indent="0">
              <a:buNone/>
            </a:pPr>
            <a:r>
              <a:rPr lang="en-US" sz="1600" dirty="0">
                <a:solidFill>
                  <a:srgbClr val="5B6575"/>
                </a:solidFill>
              </a:rPr>
              <a:t>Optional DB check during demo</a:t>
            </a:r>
            <a:endParaRPr lang="en-US" sz="1600" dirty="0"/>
          </a:p>
        </p:txBody>
      </p:sp>
      <p:sp>
        <p:nvSpPr>
          <p:cNvPr id="25" name="Text 22"/>
          <p:cNvSpPr txBox="1"/>
          <p:nvPr/>
        </p:nvSpPr>
        <p:spPr>
          <a:xfrm>
            <a:off x="7406640" y="4050792"/>
            <a:ext cx="4206240" cy="457200"/>
          </a:xfrm>
          <a:prstGeom prst="rect">
            <a:avLst/>
          </a:prstGeom>
          <a:noFill/>
          <a:ln/>
        </p:spPr>
        <p:txBody>
          <a:bodyPr wrap="square" lIns="0" tIns="0" rIns="0" bIns="0" rtlCol="0" anchor="ctr"/>
          <a:lstStyle/>
          <a:p>
            <a:pPr marL="0" indent="0">
              <a:buNone/>
            </a:pPr>
            <a:r>
              <a:rPr lang="en-US" sz="2000" dirty="0">
                <a:solidFill>
                  <a:srgbClr val="1F2937"/>
                </a:solidFill>
              </a:rPr>
              <a:t>DB, booking flow, concurrency</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0B1F3A"/>
          </a:solidFill>
          <a:ln w="12700">
            <a:solidFill>
              <a:srgbClr val="0B1F3A"/>
            </a:solidFill>
            <a:prstDash val="solid"/>
          </a:ln>
        </p:spPr>
      </p:sp>
      <p:sp>
        <p:nvSpPr>
          <p:cNvPr id="3" name="Shape 1"/>
          <p:cNvSpPr/>
          <p:nvPr/>
        </p:nvSpPr>
        <p:spPr>
          <a:xfrm>
            <a:off x="548640" y="1097280"/>
            <a:ext cx="2011680" cy="64008"/>
          </a:xfrm>
          <a:prstGeom prst="rect">
            <a:avLst/>
          </a:prstGeom>
          <a:solidFill>
            <a:srgbClr val="1D4ED8"/>
          </a:solidFill>
          <a:ln w="12700">
            <a:solidFill>
              <a:srgbClr val="1D4ED8"/>
            </a:solidFill>
            <a:prstDash val="solid"/>
          </a:ln>
        </p:spPr>
      </p:sp>
      <p:sp>
        <p:nvSpPr>
          <p:cNvPr id="4" name="Text 2"/>
          <p:cNvSpPr txBox="1"/>
          <p:nvPr/>
        </p:nvSpPr>
        <p:spPr>
          <a:xfrm>
            <a:off x="548640" y="274320"/>
            <a:ext cx="9509760" cy="822960"/>
          </a:xfrm>
          <a:prstGeom prst="rect">
            <a:avLst/>
          </a:prstGeom>
          <a:noFill/>
          <a:ln/>
        </p:spPr>
        <p:txBody>
          <a:bodyPr wrap="square" lIns="0" tIns="0" rIns="0" bIns="0" rtlCol="0" anchor="ctr"/>
          <a:lstStyle/>
          <a:p>
            <a:pPr marL="0" indent="0">
              <a:buNone/>
            </a:pPr>
            <a:r>
              <a:rPr lang="en-US" sz="3600" b="1" dirty="0">
                <a:solidFill>
                  <a:srgbClr val="0B1F3A"/>
                </a:solidFill>
              </a:rPr>
              <a:t>Conclusion</a:t>
            </a:r>
            <a:endParaRPr lang="en-US" sz="3600" dirty="0"/>
          </a:p>
        </p:txBody>
      </p:sp>
      <p:sp>
        <p:nvSpPr>
          <p:cNvPr id="7" name="Shape 4"/>
          <p:cNvSpPr/>
          <p:nvPr/>
        </p:nvSpPr>
        <p:spPr>
          <a:xfrm>
            <a:off x="548640" y="1280160"/>
            <a:ext cx="2651760" cy="731520"/>
          </a:xfrm>
          <a:prstGeom prst="roundRect">
            <a:avLst>
              <a:gd name="adj" fmla="val 10000"/>
            </a:avLst>
          </a:prstGeom>
          <a:solidFill>
            <a:srgbClr val="FFFFFF"/>
          </a:solidFill>
          <a:ln w="19050">
            <a:solidFill>
              <a:srgbClr val="1D4ED8"/>
            </a:solidFill>
            <a:prstDash val="solid"/>
          </a:ln>
        </p:spPr>
      </p:sp>
      <p:sp>
        <p:nvSpPr>
          <p:cNvPr id="8" name="Text 5"/>
          <p:cNvSpPr txBox="1"/>
          <p:nvPr/>
        </p:nvSpPr>
        <p:spPr>
          <a:xfrm>
            <a:off x="548640" y="1280160"/>
            <a:ext cx="2651760" cy="731520"/>
          </a:xfrm>
          <a:prstGeom prst="rect">
            <a:avLst/>
          </a:prstGeom>
          <a:noFill/>
          <a:ln/>
        </p:spPr>
        <p:txBody>
          <a:bodyPr wrap="square" lIns="635" tIns="635" rIns="635" bIns="635" rtlCol="0" anchor="ctr"/>
          <a:lstStyle/>
          <a:p>
            <a:pPr marL="0" indent="0" algn="ctr">
              <a:buNone/>
            </a:pPr>
            <a:r>
              <a:rPr lang="en-US" sz="2000" b="1" dirty="0">
                <a:solidFill>
                  <a:srgbClr val="1F2937"/>
                </a:solidFill>
              </a:rPr>
              <a:t>Normalized design</a:t>
            </a:r>
            <a:endParaRPr lang="en-US" sz="2000" dirty="0"/>
          </a:p>
        </p:txBody>
      </p:sp>
      <p:sp>
        <p:nvSpPr>
          <p:cNvPr id="9" name="Shape 6"/>
          <p:cNvSpPr/>
          <p:nvPr/>
        </p:nvSpPr>
        <p:spPr>
          <a:xfrm>
            <a:off x="3383280" y="1280160"/>
            <a:ext cx="2651760" cy="731520"/>
          </a:xfrm>
          <a:prstGeom prst="roundRect">
            <a:avLst>
              <a:gd name="adj" fmla="val 10000"/>
            </a:avLst>
          </a:prstGeom>
          <a:solidFill>
            <a:srgbClr val="FFFFFF"/>
          </a:solidFill>
          <a:ln w="19050">
            <a:solidFill>
              <a:srgbClr val="1D4ED8"/>
            </a:solidFill>
            <a:prstDash val="solid"/>
          </a:ln>
        </p:spPr>
      </p:sp>
      <p:sp>
        <p:nvSpPr>
          <p:cNvPr id="10" name="Text 7"/>
          <p:cNvSpPr txBox="1"/>
          <p:nvPr/>
        </p:nvSpPr>
        <p:spPr>
          <a:xfrm>
            <a:off x="3383280" y="1280160"/>
            <a:ext cx="2651760" cy="731520"/>
          </a:xfrm>
          <a:prstGeom prst="rect">
            <a:avLst/>
          </a:prstGeom>
          <a:noFill/>
          <a:ln/>
        </p:spPr>
        <p:txBody>
          <a:bodyPr wrap="square" lIns="635" tIns="635" rIns="635" bIns="635" rtlCol="0" anchor="ctr"/>
          <a:lstStyle/>
          <a:p>
            <a:pPr marL="0" indent="0" algn="ctr">
              <a:buNone/>
            </a:pPr>
            <a:r>
              <a:rPr lang="en-US" sz="2000" b="1" dirty="0">
                <a:solidFill>
                  <a:srgbClr val="1F2937"/>
                </a:solidFill>
              </a:rPr>
              <a:t>Keys &amp; constraints</a:t>
            </a:r>
            <a:endParaRPr lang="en-US" sz="2000" dirty="0"/>
          </a:p>
        </p:txBody>
      </p:sp>
      <p:sp>
        <p:nvSpPr>
          <p:cNvPr id="11" name="Shape 8"/>
          <p:cNvSpPr/>
          <p:nvPr/>
        </p:nvSpPr>
        <p:spPr>
          <a:xfrm>
            <a:off x="6217920" y="1280160"/>
            <a:ext cx="2651760" cy="731520"/>
          </a:xfrm>
          <a:prstGeom prst="roundRect">
            <a:avLst>
              <a:gd name="adj" fmla="val 10000"/>
            </a:avLst>
          </a:prstGeom>
          <a:solidFill>
            <a:srgbClr val="FFFFFF"/>
          </a:solidFill>
          <a:ln w="19050">
            <a:solidFill>
              <a:srgbClr val="1D4ED8"/>
            </a:solidFill>
            <a:prstDash val="solid"/>
          </a:ln>
        </p:spPr>
      </p:sp>
      <p:sp>
        <p:nvSpPr>
          <p:cNvPr id="12" name="Text 9"/>
          <p:cNvSpPr txBox="1"/>
          <p:nvPr/>
        </p:nvSpPr>
        <p:spPr>
          <a:xfrm>
            <a:off x="6217920" y="1280160"/>
            <a:ext cx="2651760" cy="731520"/>
          </a:xfrm>
          <a:prstGeom prst="rect">
            <a:avLst/>
          </a:prstGeom>
          <a:noFill/>
          <a:ln/>
        </p:spPr>
        <p:txBody>
          <a:bodyPr wrap="square" lIns="635" tIns="635" rIns="635" bIns="635" rtlCol="0" anchor="ctr"/>
          <a:lstStyle/>
          <a:p>
            <a:pPr marL="0" indent="0" algn="ctr">
              <a:buNone/>
            </a:pPr>
            <a:r>
              <a:rPr lang="en-US" sz="2000" b="1" dirty="0">
                <a:solidFill>
                  <a:srgbClr val="1F2937"/>
                </a:solidFill>
              </a:rPr>
              <a:t>Joins</a:t>
            </a:r>
            <a:endParaRPr lang="en-US" sz="2000" dirty="0"/>
          </a:p>
        </p:txBody>
      </p:sp>
      <p:sp>
        <p:nvSpPr>
          <p:cNvPr id="13" name="Shape 10"/>
          <p:cNvSpPr/>
          <p:nvPr/>
        </p:nvSpPr>
        <p:spPr>
          <a:xfrm>
            <a:off x="9052560" y="1280160"/>
            <a:ext cx="2651760" cy="731520"/>
          </a:xfrm>
          <a:prstGeom prst="roundRect">
            <a:avLst>
              <a:gd name="adj" fmla="val 10000"/>
            </a:avLst>
          </a:prstGeom>
          <a:solidFill>
            <a:srgbClr val="FFFFFF"/>
          </a:solidFill>
          <a:ln w="19050">
            <a:solidFill>
              <a:srgbClr val="1D4ED8"/>
            </a:solidFill>
            <a:prstDash val="solid"/>
          </a:ln>
        </p:spPr>
      </p:sp>
      <p:sp>
        <p:nvSpPr>
          <p:cNvPr id="14" name="Text 11"/>
          <p:cNvSpPr txBox="1"/>
          <p:nvPr/>
        </p:nvSpPr>
        <p:spPr>
          <a:xfrm>
            <a:off x="9052560" y="1280160"/>
            <a:ext cx="2651760" cy="731520"/>
          </a:xfrm>
          <a:prstGeom prst="rect">
            <a:avLst/>
          </a:prstGeom>
          <a:noFill/>
          <a:ln/>
        </p:spPr>
        <p:txBody>
          <a:bodyPr wrap="square" lIns="635" tIns="635" rIns="635" bIns="635" rtlCol="0" anchor="ctr"/>
          <a:lstStyle/>
          <a:p>
            <a:pPr marL="0" indent="0" algn="ctr">
              <a:buNone/>
            </a:pPr>
            <a:r>
              <a:rPr lang="en-US" sz="2000" b="1" dirty="0">
                <a:solidFill>
                  <a:srgbClr val="1F2937"/>
                </a:solidFill>
              </a:rPr>
              <a:t>Indexing</a:t>
            </a:r>
            <a:endParaRPr lang="en-US" sz="2000" dirty="0"/>
          </a:p>
        </p:txBody>
      </p:sp>
      <p:sp>
        <p:nvSpPr>
          <p:cNvPr id="15" name="Shape 12"/>
          <p:cNvSpPr/>
          <p:nvPr/>
        </p:nvSpPr>
        <p:spPr>
          <a:xfrm>
            <a:off x="548640" y="2148840"/>
            <a:ext cx="2651760" cy="731520"/>
          </a:xfrm>
          <a:prstGeom prst="roundRect">
            <a:avLst>
              <a:gd name="adj" fmla="val 10000"/>
            </a:avLst>
          </a:prstGeom>
          <a:solidFill>
            <a:srgbClr val="FFFFFF"/>
          </a:solidFill>
          <a:ln w="19050">
            <a:solidFill>
              <a:srgbClr val="1D4ED8"/>
            </a:solidFill>
            <a:prstDash val="solid"/>
          </a:ln>
        </p:spPr>
      </p:sp>
      <p:sp>
        <p:nvSpPr>
          <p:cNvPr id="16" name="Text 13"/>
          <p:cNvSpPr txBox="1"/>
          <p:nvPr/>
        </p:nvSpPr>
        <p:spPr>
          <a:xfrm>
            <a:off x="548640" y="2148840"/>
            <a:ext cx="2651760" cy="731520"/>
          </a:xfrm>
          <a:prstGeom prst="rect">
            <a:avLst/>
          </a:prstGeom>
          <a:noFill/>
          <a:ln/>
        </p:spPr>
        <p:txBody>
          <a:bodyPr wrap="square" lIns="635" tIns="635" rIns="635" bIns="635" rtlCol="0" anchor="ctr"/>
          <a:lstStyle/>
          <a:p>
            <a:pPr marL="0" indent="0" algn="ctr">
              <a:buNone/>
            </a:pPr>
            <a:r>
              <a:rPr lang="en-US" sz="2000" b="1" dirty="0">
                <a:solidFill>
                  <a:srgbClr val="1F2937"/>
                </a:solidFill>
              </a:rPr>
              <a:t>Transactions</a:t>
            </a:r>
            <a:endParaRPr lang="en-US" sz="2000" dirty="0"/>
          </a:p>
        </p:txBody>
      </p:sp>
      <p:sp>
        <p:nvSpPr>
          <p:cNvPr id="17" name="Shape 14"/>
          <p:cNvSpPr/>
          <p:nvPr/>
        </p:nvSpPr>
        <p:spPr>
          <a:xfrm>
            <a:off x="3383280" y="2148840"/>
            <a:ext cx="2651760" cy="731520"/>
          </a:xfrm>
          <a:prstGeom prst="roundRect">
            <a:avLst>
              <a:gd name="adj" fmla="val 10000"/>
            </a:avLst>
          </a:prstGeom>
          <a:solidFill>
            <a:srgbClr val="FFFFFF"/>
          </a:solidFill>
          <a:ln w="19050">
            <a:solidFill>
              <a:srgbClr val="1D4ED8"/>
            </a:solidFill>
            <a:prstDash val="solid"/>
          </a:ln>
        </p:spPr>
      </p:sp>
      <p:sp>
        <p:nvSpPr>
          <p:cNvPr id="18" name="Text 15"/>
          <p:cNvSpPr txBox="1"/>
          <p:nvPr/>
        </p:nvSpPr>
        <p:spPr>
          <a:xfrm>
            <a:off x="3383280" y="2148840"/>
            <a:ext cx="2651760" cy="731520"/>
          </a:xfrm>
          <a:prstGeom prst="rect">
            <a:avLst/>
          </a:prstGeom>
          <a:noFill/>
          <a:ln/>
        </p:spPr>
        <p:txBody>
          <a:bodyPr wrap="square" lIns="635" tIns="635" rIns="635" bIns="635" rtlCol="0" anchor="ctr"/>
          <a:lstStyle/>
          <a:p>
            <a:pPr marL="0" indent="0" algn="ctr">
              <a:buNone/>
            </a:pPr>
            <a:r>
              <a:rPr lang="en-US" sz="2000" b="1" dirty="0">
                <a:solidFill>
                  <a:srgbClr val="1F2937"/>
                </a:solidFill>
              </a:rPr>
              <a:t>Concurrency control</a:t>
            </a:r>
            <a:endParaRPr lang="en-US" sz="2000" dirty="0"/>
          </a:p>
        </p:txBody>
      </p:sp>
      <p:sp>
        <p:nvSpPr>
          <p:cNvPr id="19" name="Shape 16"/>
          <p:cNvSpPr/>
          <p:nvPr/>
        </p:nvSpPr>
        <p:spPr>
          <a:xfrm>
            <a:off x="6217920" y="2148840"/>
            <a:ext cx="2651760" cy="731520"/>
          </a:xfrm>
          <a:prstGeom prst="roundRect">
            <a:avLst>
              <a:gd name="adj" fmla="val 10000"/>
            </a:avLst>
          </a:prstGeom>
          <a:solidFill>
            <a:srgbClr val="FFFFFF"/>
          </a:solidFill>
          <a:ln w="19050">
            <a:solidFill>
              <a:srgbClr val="1D4ED8"/>
            </a:solidFill>
            <a:prstDash val="solid"/>
          </a:ln>
        </p:spPr>
      </p:sp>
      <p:sp>
        <p:nvSpPr>
          <p:cNvPr id="20" name="Text 17"/>
          <p:cNvSpPr txBox="1"/>
          <p:nvPr/>
        </p:nvSpPr>
        <p:spPr>
          <a:xfrm>
            <a:off x="6217920" y="2148840"/>
            <a:ext cx="2651760" cy="731520"/>
          </a:xfrm>
          <a:prstGeom prst="rect">
            <a:avLst/>
          </a:prstGeom>
          <a:noFill/>
          <a:ln/>
        </p:spPr>
        <p:txBody>
          <a:bodyPr wrap="square" lIns="635" tIns="635" rIns="635" bIns="635" rtlCol="0" anchor="ctr"/>
          <a:lstStyle/>
          <a:p>
            <a:pPr marL="0" indent="0" algn="ctr">
              <a:buNone/>
            </a:pPr>
            <a:r>
              <a:rPr lang="en-US" sz="2000" b="1" dirty="0">
                <a:solidFill>
                  <a:srgbClr val="1F2937"/>
                </a:solidFill>
              </a:rPr>
              <a:t>ACID</a:t>
            </a:r>
            <a:endParaRPr lang="en-US" sz="2000" dirty="0"/>
          </a:p>
        </p:txBody>
      </p:sp>
      <p:sp>
        <p:nvSpPr>
          <p:cNvPr id="21" name="Shape 18"/>
          <p:cNvSpPr/>
          <p:nvPr/>
        </p:nvSpPr>
        <p:spPr>
          <a:xfrm>
            <a:off x="9052560" y="2148840"/>
            <a:ext cx="2651760" cy="731520"/>
          </a:xfrm>
          <a:prstGeom prst="roundRect">
            <a:avLst>
              <a:gd name="adj" fmla="val 10000"/>
            </a:avLst>
          </a:prstGeom>
          <a:solidFill>
            <a:srgbClr val="FFFFFF"/>
          </a:solidFill>
          <a:ln w="19050">
            <a:solidFill>
              <a:srgbClr val="1D4ED8"/>
            </a:solidFill>
            <a:prstDash val="solid"/>
          </a:ln>
        </p:spPr>
      </p:sp>
      <p:sp>
        <p:nvSpPr>
          <p:cNvPr id="22" name="Text 19"/>
          <p:cNvSpPr txBox="1"/>
          <p:nvPr/>
        </p:nvSpPr>
        <p:spPr>
          <a:xfrm>
            <a:off x="9052560" y="2148840"/>
            <a:ext cx="2651760" cy="731520"/>
          </a:xfrm>
          <a:prstGeom prst="rect">
            <a:avLst/>
          </a:prstGeom>
          <a:noFill/>
          <a:ln/>
        </p:spPr>
        <p:txBody>
          <a:bodyPr wrap="square" lIns="635" tIns="635" rIns="635" bIns="635" rtlCol="0" anchor="ctr"/>
          <a:lstStyle/>
          <a:p>
            <a:pPr marL="0" indent="0" algn="ctr">
              <a:buNone/>
            </a:pPr>
            <a:r>
              <a:rPr lang="en-US" sz="2000" b="1" dirty="0">
                <a:solidFill>
                  <a:srgbClr val="1F2937"/>
                </a:solidFill>
              </a:rPr>
              <a:t>Query optimization</a:t>
            </a:r>
            <a:endParaRPr lang="en-US" sz="2000" dirty="0"/>
          </a:p>
        </p:txBody>
      </p:sp>
      <p:sp>
        <p:nvSpPr>
          <p:cNvPr id="23" name="Text 20"/>
          <p:cNvSpPr txBox="1"/>
          <p:nvPr/>
        </p:nvSpPr>
        <p:spPr>
          <a:xfrm>
            <a:off x="548640" y="3200400"/>
            <a:ext cx="11064240" cy="457200"/>
          </a:xfrm>
          <a:prstGeom prst="rect">
            <a:avLst/>
          </a:prstGeom>
          <a:noFill/>
          <a:ln/>
        </p:spPr>
        <p:txBody>
          <a:bodyPr wrap="square" lIns="0" tIns="0" rIns="0" bIns="0" rtlCol="0" anchor="ctr"/>
          <a:lstStyle/>
          <a:p>
            <a:pPr marL="0" indent="0">
              <a:buNone/>
            </a:pPr>
            <a:r>
              <a:rPr lang="en-US" sz="2200" b="1" dirty="0">
                <a:solidFill>
                  <a:srgbClr val="1D4ED8"/>
                </a:solidFill>
              </a:rPr>
              <a:t>Academic project, not production-ready</a:t>
            </a:r>
            <a:endParaRPr lang="en-US" sz="2200" dirty="0"/>
          </a:p>
        </p:txBody>
      </p:sp>
      <p:sp>
        <p:nvSpPr>
          <p:cNvPr id="24" name="Text 21"/>
          <p:cNvSpPr txBox="1"/>
          <p:nvPr/>
        </p:nvSpPr>
        <p:spPr>
          <a:xfrm>
            <a:off x="548640" y="3840480"/>
            <a:ext cx="11064240" cy="457200"/>
          </a:xfrm>
          <a:prstGeom prst="rect">
            <a:avLst/>
          </a:prstGeom>
          <a:noFill/>
          <a:ln/>
        </p:spPr>
        <p:txBody>
          <a:bodyPr wrap="square" lIns="0" tIns="0" rIns="0" bIns="0" rtlCol="0" anchor="ctr"/>
          <a:lstStyle/>
          <a:p>
            <a:pPr marL="0" indent="0">
              <a:buNone/>
            </a:pPr>
            <a:r>
              <a:rPr lang="en-US" sz="2400" b="1" dirty="0">
                <a:solidFill>
                  <a:srgbClr val="1F2937"/>
                </a:solidFill>
              </a:rPr>
              <a:t>Future scope</a:t>
            </a:r>
            <a:endParaRPr lang="en-US" sz="2400" dirty="0"/>
          </a:p>
        </p:txBody>
      </p:sp>
      <p:sp>
        <p:nvSpPr>
          <p:cNvPr id="25" name="Text 22"/>
          <p:cNvSpPr txBox="1"/>
          <p:nvPr/>
        </p:nvSpPr>
        <p:spPr>
          <a:xfrm>
            <a:off x="548640" y="4389120"/>
            <a:ext cx="11064240" cy="1280160"/>
          </a:xfrm>
          <a:prstGeom prst="rect">
            <a:avLst/>
          </a:prstGeom>
          <a:noFill/>
          <a:ln/>
        </p:spPr>
        <p:txBody>
          <a:bodyPr wrap="square" lIns="0" tIns="0" rIns="0" bIns="0" rtlCol="0" anchor="ctr"/>
          <a:lstStyle/>
          <a:p>
            <a:pPr marL="0" indent="0">
              <a:buNone/>
            </a:pPr>
            <a:r>
              <a:rPr lang="en-US" sz="2200" dirty="0">
                <a:solidFill>
                  <a:srgbClr val="5B6575"/>
                </a:solidFill>
              </a:rPr>
              <a:t>Real payment gateway · Stronger authentication/session security · Background cleanup service · Cloud deployment · Notifications · Recommendation system · Scalable deployment</a:t>
            </a:r>
            <a:endParaRPr lang="en-US" sz="2200" dirty="0"/>
          </a:p>
        </p:txBody>
      </p:sp>
      <p:sp>
        <p:nvSpPr>
          <p:cNvPr id="26" name="Text 23"/>
          <p:cNvSpPr txBox="1"/>
          <p:nvPr/>
        </p:nvSpPr>
        <p:spPr>
          <a:xfrm>
            <a:off x="548640" y="5852160"/>
            <a:ext cx="11064240" cy="640080"/>
          </a:xfrm>
          <a:prstGeom prst="rect">
            <a:avLst/>
          </a:prstGeom>
          <a:noFill/>
          <a:ln/>
        </p:spPr>
        <p:txBody>
          <a:bodyPr wrap="square" lIns="0" tIns="0" rIns="0" bIns="0" rtlCol="0" anchor="ctr"/>
          <a:lstStyle/>
          <a:p>
            <a:pPr marL="0" indent="0" algn="ctr">
              <a:buNone/>
            </a:pPr>
            <a:r>
              <a:rPr lang="en-US" sz="3000" b="1" dirty="0">
                <a:solidFill>
                  <a:srgbClr val="1D4ED8"/>
                </a:solidFill>
              </a:rPr>
              <a:t>Thank you </a:t>
            </a:r>
            <a:endParaRPr lang="en-US" sz="3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33</TotalTime>
  <Words>3105</Words>
  <Application>Microsoft Office PowerPoint</Application>
  <PresentationFormat>Widescreen</PresentationFormat>
  <Paragraphs>264</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vt:lpstr>
      <vt:lpstr>Aptos Display</vt:lpstr>
      <vt:lpstr>Arial</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Gourav Saha</cp:lastModifiedBy>
  <cp:revision>4</cp:revision>
  <dcterms:created xsi:type="dcterms:W3CDTF">2026-10-06T19:40:48Z</dcterms:created>
  <dcterms:modified xsi:type="dcterms:W3CDTF">2026-10-07T08:50:43Z</dcterms:modified>
</cp:coreProperties>
</file>